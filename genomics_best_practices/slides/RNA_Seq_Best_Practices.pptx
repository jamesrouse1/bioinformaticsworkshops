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5"/>
  </p:notesMasterIdLst>
  <p:sldIdLst>
    <p:sldId id="256" r:id="rId2"/>
    <p:sldId id="275" r:id="rId3"/>
    <p:sldId id="257" r:id="rId4"/>
    <p:sldId id="259" r:id="rId5"/>
    <p:sldId id="258" r:id="rId6"/>
    <p:sldId id="261" r:id="rId7"/>
    <p:sldId id="262" r:id="rId8"/>
    <p:sldId id="273" r:id="rId9"/>
    <p:sldId id="263" r:id="rId10"/>
    <p:sldId id="264" r:id="rId11"/>
    <p:sldId id="265" r:id="rId12"/>
    <p:sldId id="271" r:id="rId13"/>
    <p:sldId id="266" r:id="rId14"/>
    <p:sldId id="267" r:id="rId15"/>
    <p:sldId id="277" r:id="rId16"/>
    <p:sldId id="278" r:id="rId17"/>
    <p:sldId id="270" r:id="rId18"/>
    <p:sldId id="268" r:id="rId19"/>
    <p:sldId id="279" r:id="rId20"/>
    <p:sldId id="280" r:id="rId21"/>
    <p:sldId id="281" r:id="rId22"/>
    <p:sldId id="282" r:id="rId23"/>
    <p:sldId id="276"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728"/>
  </p:normalViewPr>
  <p:slideViewPr>
    <p:cSldViewPr snapToGrid="0">
      <p:cViewPr varScale="1">
        <p:scale>
          <a:sx n="102" d="100"/>
          <a:sy n="102" d="100"/>
        </p:scale>
        <p:origin x="95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17E833-61BC-3B46-B989-8394A067CCFE}" type="datetimeFigureOut">
              <a:rPr lang="en-US" smtClean="0"/>
              <a:t>10/2/24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5C9124-66EE-994E-A3AD-BC973B279F9D}" type="slidenum">
              <a:rPr lang="en-US" smtClean="0"/>
              <a:t>‹#›</a:t>
            </a:fld>
            <a:endParaRPr lang="en-US"/>
          </a:p>
        </p:txBody>
      </p:sp>
    </p:spTree>
    <p:extLst>
      <p:ext uri="{BB962C8B-B14F-4D97-AF65-F5344CB8AC3E}">
        <p14:creationId xmlns:p14="http://schemas.microsoft.com/office/powerpoint/2010/main" val="1094967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Minimap2 for alignment</a:t>
            </a:r>
          </a:p>
          <a:p>
            <a:endParaRPr lang="en-US" dirty="0"/>
          </a:p>
          <a:p>
            <a:r>
              <a:rPr lang="en-US" dirty="0"/>
              <a:t>Transcript assembly – cufflinks, </a:t>
            </a:r>
            <a:r>
              <a:rPr lang="en-US" dirty="0" err="1"/>
              <a:t>stringtie</a:t>
            </a:r>
            <a:r>
              <a:rPr lang="en-US" dirty="0"/>
              <a:t>. Something from nanopore specifically. </a:t>
            </a:r>
          </a:p>
          <a:p>
            <a:endParaRPr lang="en-US" dirty="0"/>
          </a:p>
          <a:p>
            <a:r>
              <a:rPr lang="en-US" dirty="0"/>
              <a:t>Build genome assembly using </a:t>
            </a:r>
            <a:r>
              <a:rPr lang="en-US" dirty="0" err="1"/>
              <a:t>flye</a:t>
            </a:r>
            <a:r>
              <a:rPr lang="en-US" dirty="0"/>
              <a:t>, then use tool from ONT for transcriptome assembly using </a:t>
            </a:r>
            <a:r>
              <a:rPr lang="en-US" dirty="0" err="1"/>
              <a:t>stringtie</a:t>
            </a:r>
            <a:endParaRPr lang="en-US" dirty="0"/>
          </a:p>
        </p:txBody>
      </p:sp>
      <p:sp>
        <p:nvSpPr>
          <p:cNvPr id="4" name="Slide Number Placeholder 3"/>
          <p:cNvSpPr>
            <a:spLocks noGrp="1"/>
          </p:cNvSpPr>
          <p:nvPr>
            <p:ph type="sldNum" sz="quarter" idx="5"/>
          </p:nvPr>
        </p:nvSpPr>
        <p:spPr/>
        <p:txBody>
          <a:bodyPr/>
          <a:lstStyle/>
          <a:p>
            <a:fld id="{EF5C9124-66EE-994E-A3AD-BC973B279F9D}" type="slidenum">
              <a:rPr lang="en-US" smtClean="0"/>
              <a:t>8</a:t>
            </a:fld>
            <a:endParaRPr lang="en-US"/>
          </a:p>
        </p:txBody>
      </p:sp>
    </p:spTree>
    <p:extLst>
      <p:ext uri="{BB962C8B-B14F-4D97-AF65-F5344CB8AC3E}">
        <p14:creationId xmlns:p14="http://schemas.microsoft.com/office/powerpoint/2010/main" val="25099530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RNAs for STAR, longer RNAs for </a:t>
            </a:r>
            <a:r>
              <a:rPr lang="en-US" dirty="0" err="1"/>
              <a:t>kalisto</a:t>
            </a:r>
            <a:endParaRPr lang="en-US" dirty="0"/>
          </a:p>
        </p:txBody>
      </p:sp>
      <p:sp>
        <p:nvSpPr>
          <p:cNvPr id="4" name="Slide Number Placeholder 3"/>
          <p:cNvSpPr>
            <a:spLocks noGrp="1"/>
          </p:cNvSpPr>
          <p:nvPr>
            <p:ph type="sldNum" sz="quarter" idx="5"/>
          </p:nvPr>
        </p:nvSpPr>
        <p:spPr/>
        <p:txBody>
          <a:bodyPr/>
          <a:lstStyle/>
          <a:p>
            <a:fld id="{EF5C9124-66EE-994E-A3AD-BC973B279F9D}" type="slidenum">
              <a:rPr lang="en-US" smtClean="0"/>
              <a:t>10</a:t>
            </a:fld>
            <a:endParaRPr lang="en-US"/>
          </a:p>
        </p:txBody>
      </p:sp>
    </p:spTree>
    <p:extLst>
      <p:ext uri="{BB962C8B-B14F-4D97-AF65-F5344CB8AC3E}">
        <p14:creationId xmlns:p14="http://schemas.microsoft.com/office/powerpoint/2010/main" val="3172477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10/2/24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10/2/24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10/2/24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10/2/24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10/2/24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10/2/24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10/2/24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10/2/24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10/2/24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10/2/24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10/2/24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10/2/24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10/2/24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10/2/24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10/2/24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10/2/24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10/2/24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10/2/24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ncbi.nlm.nih.gov/pmc/articles/PMC4766705/"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ncbi.nlm.nih.gov/pmc/articles/PMC7084517/"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frontiersin.org/journals/plant-science/articles/10.3389/fpls.2021.657240/ful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ncbi.nlm.nih.gov/pmc/articles/PMC9902641/"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bmcgenomics.biomedcentral.com/articles/10.1186/s12864-018-4869-5"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academic.oup.com/gigascience/article/8/12/giz145/5663671?login=false#186912474"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bmcbioinformatics.biomedcentral.com/articles/10.1186/s12859-017-1526-y" TargetMode="External"/><Relationship Id="rId2" Type="http://schemas.openxmlformats.org/officeDocument/2006/relationships/hyperlink" Target="https://www.nature.com/articles/s41598-020-76881-x"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frontiersin.org/journals/genetics/articles/10.3389/fgene.2016.00164/full"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genomebiology.biomedcentral.com/articles/10.1186/s13059-022-02648-4"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D5DFB-4A13-AF81-EABB-B52179E8AA62}"/>
              </a:ext>
            </a:extLst>
          </p:cNvPr>
          <p:cNvSpPr>
            <a:spLocks noGrp="1"/>
          </p:cNvSpPr>
          <p:nvPr>
            <p:ph type="ctrTitle"/>
          </p:nvPr>
        </p:nvSpPr>
        <p:spPr/>
        <p:txBody>
          <a:bodyPr/>
          <a:lstStyle/>
          <a:p>
            <a:r>
              <a:rPr lang="en-US" dirty="0"/>
              <a:t>RNA-Seq best practices</a:t>
            </a:r>
          </a:p>
        </p:txBody>
      </p:sp>
      <p:sp>
        <p:nvSpPr>
          <p:cNvPr id="3" name="Subtitle 2">
            <a:extLst>
              <a:ext uri="{FF2B5EF4-FFF2-40B4-BE49-F238E27FC236}">
                <a16:creationId xmlns:a16="http://schemas.microsoft.com/office/drawing/2014/main" id="{005AF2F1-1081-28EE-6771-B8D9AB0130E3}"/>
              </a:ext>
            </a:extLst>
          </p:cNvPr>
          <p:cNvSpPr>
            <a:spLocks noGrp="1"/>
          </p:cNvSpPr>
          <p:nvPr>
            <p:ph type="subTitle" idx="1"/>
          </p:nvPr>
        </p:nvSpPr>
        <p:spPr/>
        <p:txBody>
          <a:bodyPr/>
          <a:lstStyle/>
          <a:p>
            <a:r>
              <a:rPr lang="en-US" dirty="0"/>
              <a:t>James Rouse</a:t>
            </a:r>
          </a:p>
        </p:txBody>
      </p:sp>
    </p:spTree>
    <p:extLst>
      <p:ext uri="{BB962C8B-B14F-4D97-AF65-F5344CB8AC3E}">
        <p14:creationId xmlns:p14="http://schemas.microsoft.com/office/powerpoint/2010/main" val="4186773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AB875-AE81-9F12-7E71-4C0EACABEA85}"/>
              </a:ext>
            </a:extLst>
          </p:cNvPr>
          <p:cNvSpPr>
            <a:spLocks noGrp="1"/>
          </p:cNvSpPr>
          <p:nvPr>
            <p:ph type="title"/>
          </p:nvPr>
        </p:nvSpPr>
        <p:spPr/>
        <p:txBody>
          <a:bodyPr/>
          <a:lstStyle/>
          <a:p>
            <a:r>
              <a:rPr lang="en-US" dirty="0"/>
              <a:t>Introduction to RNA-Seq best practices</a:t>
            </a:r>
          </a:p>
        </p:txBody>
      </p:sp>
      <p:sp>
        <p:nvSpPr>
          <p:cNvPr id="3" name="Content Placeholder 2">
            <a:extLst>
              <a:ext uri="{FF2B5EF4-FFF2-40B4-BE49-F238E27FC236}">
                <a16:creationId xmlns:a16="http://schemas.microsoft.com/office/drawing/2014/main" id="{0C5B2939-A8CA-4B25-2DBD-8C2AE6C281D0}"/>
              </a:ext>
            </a:extLst>
          </p:cNvPr>
          <p:cNvSpPr>
            <a:spLocks noGrp="1"/>
          </p:cNvSpPr>
          <p:nvPr>
            <p:ph idx="1"/>
          </p:nvPr>
        </p:nvSpPr>
        <p:spPr>
          <a:xfrm>
            <a:off x="579437" y="1853248"/>
            <a:ext cx="11612563" cy="4195481"/>
          </a:xfrm>
        </p:spPr>
        <p:txBody>
          <a:bodyPr/>
          <a:lstStyle/>
          <a:p>
            <a:r>
              <a:rPr lang="en-US" b="1" dirty="0"/>
              <a:t>Quality Control: </a:t>
            </a:r>
            <a:r>
              <a:rPr lang="en-US" dirty="0"/>
              <a:t>Use </a:t>
            </a:r>
            <a:r>
              <a:rPr lang="en-US" dirty="0" err="1"/>
              <a:t>FastQC</a:t>
            </a:r>
            <a:r>
              <a:rPr lang="en-US" dirty="0"/>
              <a:t> for quality checks and </a:t>
            </a:r>
            <a:r>
              <a:rPr lang="en-US" dirty="0" err="1"/>
              <a:t>Trimmomatic</a:t>
            </a:r>
            <a:r>
              <a:rPr lang="en-US" dirty="0"/>
              <a:t> or </a:t>
            </a:r>
            <a:r>
              <a:rPr lang="en-US" dirty="0" err="1"/>
              <a:t>Cutadapt</a:t>
            </a:r>
            <a:r>
              <a:rPr lang="en-US" dirty="0"/>
              <a:t> for trimming low-quality bases and adapters.</a:t>
            </a:r>
          </a:p>
          <a:p>
            <a:r>
              <a:rPr lang="en-US" b="1" dirty="0"/>
              <a:t>Alignment/Quantification</a:t>
            </a:r>
            <a:r>
              <a:rPr lang="en-US" dirty="0"/>
              <a:t>: Use STAR or HISAT2 for alignment, or Salmon/</a:t>
            </a:r>
            <a:r>
              <a:rPr lang="en-US" dirty="0" err="1"/>
              <a:t>Kallisto</a:t>
            </a:r>
            <a:r>
              <a:rPr lang="en-US" dirty="0"/>
              <a:t> for faster quantification without alignment. </a:t>
            </a:r>
            <a:r>
              <a:rPr lang="en-US" dirty="0" err="1"/>
              <a:t>Htseq</a:t>
            </a:r>
            <a:r>
              <a:rPr lang="en-US" dirty="0"/>
              <a:t>-count or </a:t>
            </a:r>
            <a:r>
              <a:rPr lang="en-US" dirty="0" err="1"/>
              <a:t>featureCounts</a:t>
            </a:r>
            <a:r>
              <a:rPr lang="en-US" dirty="0"/>
              <a:t> used for quantification with alignment.</a:t>
            </a:r>
          </a:p>
          <a:p>
            <a:r>
              <a:rPr lang="en-US" b="1" dirty="0"/>
              <a:t>Differential Expression</a:t>
            </a:r>
            <a:r>
              <a:rPr lang="en-US" dirty="0"/>
              <a:t>: Use DESeq2, </a:t>
            </a:r>
            <a:r>
              <a:rPr lang="en-US" dirty="0" err="1"/>
              <a:t>edgeR</a:t>
            </a:r>
            <a:r>
              <a:rPr lang="en-US" dirty="0"/>
              <a:t>, or </a:t>
            </a:r>
            <a:r>
              <a:rPr lang="en-US" dirty="0" err="1"/>
              <a:t>limma</a:t>
            </a:r>
            <a:r>
              <a:rPr lang="en-US" dirty="0"/>
              <a:t> for normalization and differential expression, accounting for technical biases.</a:t>
            </a:r>
          </a:p>
          <a:p>
            <a:r>
              <a:rPr lang="en-US" dirty="0"/>
              <a:t>Some tools perform better than others, especially when dealing with certain types of data</a:t>
            </a:r>
          </a:p>
        </p:txBody>
      </p:sp>
      <p:pic>
        <p:nvPicPr>
          <p:cNvPr id="6" name="Picture 5" descr="A diagram of a diagram&#10;&#10;Description automatically generated">
            <a:extLst>
              <a:ext uri="{FF2B5EF4-FFF2-40B4-BE49-F238E27FC236}">
                <a16:creationId xmlns:a16="http://schemas.microsoft.com/office/drawing/2014/main" id="{925F7D8E-AE5A-5692-FAD8-A4B8604291F6}"/>
              </a:ext>
            </a:extLst>
          </p:cNvPr>
          <p:cNvPicPr>
            <a:picLocks noChangeAspect="1"/>
          </p:cNvPicPr>
          <p:nvPr/>
        </p:nvPicPr>
        <p:blipFill>
          <a:blip r:embed="rId2"/>
          <a:stretch>
            <a:fillRect/>
          </a:stretch>
        </p:blipFill>
        <p:spPr>
          <a:xfrm>
            <a:off x="1195980" y="4981619"/>
            <a:ext cx="9524467" cy="1625860"/>
          </a:xfrm>
          <a:prstGeom prst="rect">
            <a:avLst/>
          </a:prstGeom>
        </p:spPr>
      </p:pic>
    </p:spTree>
    <p:extLst>
      <p:ext uri="{BB962C8B-B14F-4D97-AF65-F5344CB8AC3E}">
        <p14:creationId xmlns:p14="http://schemas.microsoft.com/office/powerpoint/2010/main" val="1301341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BFFD6-9A5C-0ADC-C6C0-2C6FE2EAF7D5}"/>
              </a:ext>
            </a:extLst>
          </p:cNvPr>
          <p:cNvSpPr>
            <a:spLocks noGrp="1"/>
          </p:cNvSpPr>
          <p:nvPr>
            <p:ph type="title"/>
          </p:nvPr>
        </p:nvSpPr>
        <p:spPr/>
        <p:txBody>
          <a:bodyPr/>
          <a:lstStyle/>
          <a:p>
            <a:r>
              <a:rPr lang="en-US" dirty="0"/>
              <a:t>Best practices during quality control </a:t>
            </a:r>
          </a:p>
        </p:txBody>
      </p:sp>
      <p:sp>
        <p:nvSpPr>
          <p:cNvPr id="3" name="Content Placeholder 2">
            <a:extLst>
              <a:ext uri="{FF2B5EF4-FFF2-40B4-BE49-F238E27FC236}">
                <a16:creationId xmlns:a16="http://schemas.microsoft.com/office/drawing/2014/main" id="{0527510A-A7FB-24E4-E72C-11C85713D223}"/>
              </a:ext>
            </a:extLst>
          </p:cNvPr>
          <p:cNvSpPr>
            <a:spLocks noGrp="1"/>
          </p:cNvSpPr>
          <p:nvPr>
            <p:ph idx="1"/>
          </p:nvPr>
        </p:nvSpPr>
        <p:spPr>
          <a:xfrm>
            <a:off x="331788" y="2091299"/>
            <a:ext cx="5978525" cy="4195481"/>
          </a:xfrm>
        </p:spPr>
        <p:txBody>
          <a:bodyPr/>
          <a:lstStyle/>
          <a:p>
            <a:r>
              <a:rPr lang="en-US" b="1" dirty="0"/>
              <a:t>Purpose: </a:t>
            </a:r>
            <a:r>
              <a:rPr lang="en-US" dirty="0"/>
              <a:t>Assess the quality of the reads and ensure that the sequencing data is of high quality and reliable for downstream analysis.</a:t>
            </a:r>
          </a:p>
          <a:p>
            <a:r>
              <a:rPr lang="en-US" b="1" dirty="0" err="1"/>
              <a:t>FastQC</a:t>
            </a:r>
            <a:r>
              <a:rPr lang="en-US" dirty="0"/>
              <a:t>: Identifies potential issues such as poor read quality, adapter contamination, and sequence biases.</a:t>
            </a:r>
          </a:p>
          <a:p>
            <a:r>
              <a:rPr lang="en-US" b="1" dirty="0" err="1"/>
              <a:t>Fastq_screen</a:t>
            </a:r>
            <a:r>
              <a:rPr lang="en-US" dirty="0"/>
              <a:t>: Aligns reads to multiple reference genomes/databases. Good way to detect contamination.</a:t>
            </a:r>
          </a:p>
          <a:p>
            <a:r>
              <a:rPr lang="en-US" dirty="0"/>
              <a:t>Resequencing often recommended if the results of the </a:t>
            </a:r>
            <a:r>
              <a:rPr lang="en-US" dirty="0" err="1"/>
              <a:t>FastQC</a:t>
            </a:r>
            <a:r>
              <a:rPr lang="en-US" dirty="0"/>
              <a:t> report are poor.</a:t>
            </a:r>
          </a:p>
        </p:txBody>
      </p:sp>
      <p:pic>
        <p:nvPicPr>
          <p:cNvPr id="4" name="Picture 3">
            <a:extLst>
              <a:ext uri="{FF2B5EF4-FFF2-40B4-BE49-F238E27FC236}">
                <a16:creationId xmlns:a16="http://schemas.microsoft.com/office/drawing/2014/main" id="{A7A5EEE8-B9E9-1395-72D9-A144417A2739}"/>
              </a:ext>
            </a:extLst>
          </p:cNvPr>
          <p:cNvPicPr>
            <a:picLocks noChangeAspect="1"/>
          </p:cNvPicPr>
          <p:nvPr/>
        </p:nvPicPr>
        <p:blipFill>
          <a:blip r:embed="rId2"/>
          <a:stretch>
            <a:fillRect/>
          </a:stretch>
        </p:blipFill>
        <p:spPr>
          <a:xfrm>
            <a:off x="6513385" y="2095781"/>
            <a:ext cx="5561140" cy="3442184"/>
          </a:xfrm>
          <a:prstGeom prst="rect">
            <a:avLst/>
          </a:prstGeom>
        </p:spPr>
      </p:pic>
    </p:spTree>
    <p:extLst>
      <p:ext uri="{BB962C8B-B14F-4D97-AF65-F5344CB8AC3E}">
        <p14:creationId xmlns:p14="http://schemas.microsoft.com/office/powerpoint/2010/main" val="1359176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3061D-221C-2C38-E296-5A2728C76813}"/>
              </a:ext>
            </a:extLst>
          </p:cNvPr>
          <p:cNvSpPr>
            <a:spLocks noGrp="1"/>
          </p:cNvSpPr>
          <p:nvPr>
            <p:ph type="title"/>
          </p:nvPr>
        </p:nvSpPr>
        <p:spPr/>
        <p:txBody>
          <a:bodyPr/>
          <a:lstStyle/>
          <a:p>
            <a:r>
              <a:rPr lang="en-US" dirty="0"/>
              <a:t>Best practices during trimming</a:t>
            </a:r>
          </a:p>
        </p:txBody>
      </p:sp>
      <p:sp>
        <p:nvSpPr>
          <p:cNvPr id="3" name="Content Placeholder 2">
            <a:extLst>
              <a:ext uri="{FF2B5EF4-FFF2-40B4-BE49-F238E27FC236}">
                <a16:creationId xmlns:a16="http://schemas.microsoft.com/office/drawing/2014/main" id="{D41A26CC-5502-E5CA-2164-4389E9B13A61}"/>
              </a:ext>
            </a:extLst>
          </p:cNvPr>
          <p:cNvSpPr>
            <a:spLocks noGrp="1"/>
          </p:cNvSpPr>
          <p:nvPr>
            <p:ph idx="1"/>
          </p:nvPr>
        </p:nvSpPr>
        <p:spPr/>
        <p:txBody>
          <a:bodyPr/>
          <a:lstStyle/>
          <a:p>
            <a:r>
              <a:rPr lang="en-US" b="1" dirty="0"/>
              <a:t>Adapter trimming</a:t>
            </a:r>
            <a:r>
              <a:rPr lang="en-US" dirty="0"/>
              <a:t>: Adapter trimming is optional, but often recommended. Some alignment tools can handle adapters. </a:t>
            </a:r>
            <a:r>
              <a:rPr lang="en-US" dirty="0" err="1"/>
              <a:t>Trimmomatic</a:t>
            </a:r>
            <a:r>
              <a:rPr lang="en-US" dirty="0"/>
              <a:t> and </a:t>
            </a:r>
            <a:r>
              <a:rPr lang="en-US" dirty="0" err="1"/>
              <a:t>CutAdapt</a:t>
            </a:r>
            <a:r>
              <a:rPr lang="en-US" dirty="0"/>
              <a:t> are two common tools used for trimming. </a:t>
            </a:r>
          </a:p>
          <a:p>
            <a:r>
              <a:rPr lang="en-US" dirty="0">
                <a:hlinkClick r:id="rId2"/>
              </a:rPr>
              <a:t>Williams et al.</a:t>
            </a:r>
            <a:r>
              <a:rPr lang="en-US" dirty="0"/>
              <a:t> argues that quality-based trimming may negatively impact the downstream analysis. They note that differences come from the short reads that result from trimming and suggest filtering reads by length after trimming. </a:t>
            </a:r>
          </a:p>
          <a:p>
            <a:endParaRPr lang="en-US" dirty="0"/>
          </a:p>
        </p:txBody>
      </p:sp>
    </p:spTree>
    <p:extLst>
      <p:ext uri="{BB962C8B-B14F-4D97-AF65-F5344CB8AC3E}">
        <p14:creationId xmlns:p14="http://schemas.microsoft.com/office/powerpoint/2010/main" val="3298267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41FF6-28F5-7F33-9781-EEC493FEDF36}"/>
              </a:ext>
            </a:extLst>
          </p:cNvPr>
          <p:cNvSpPr>
            <a:spLocks noGrp="1"/>
          </p:cNvSpPr>
          <p:nvPr>
            <p:ph type="title"/>
          </p:nvPr>
        </p:nvSpPr>
        <p:spPr/>
        <p:txBody>
          <a:bodyPr/>
          <a:lstStyle/>
          <a:p>
            <a:r>
              <a:rPr lang="en-US" dirty="0"/>
              <a:t>Best practices during alignment</a:t>
            </a:r>
          </a:p>
        </p:txBody>
      </p:sp>
      <p:sp>
        <p:nvSpPr>
          <p:cNvPr id="3" name="Content Placeholder 2">
            <a:extLst>
              <a:ext uri="{FF2B5EF4-FFF2-40B4-BE49-F238E27FC236}">
                <a16:creationId xmlns:a16="http://schemas.microsoft.com/office/drawing/2014/main" id="{6F27BB13-9990-BD35-EC9A-6FE4B7D701DE}"/>
              </a:ext>
            </a:extLst>
          </p:cNvPr>
          <p:cNvSpPr>
            <a:spLocks noGrp="1"/>
          </p:cNvSpPr>
          <p:nvPr>
            <p:ph idx="1"/>
          </p:nvPr>
        </p:nvSpPr>
        <p:spPr/>
        <p:txBody>
          <a:bodyPr/>
          <a:lstStyle/>
          <a:p>
            <a:r>
              <a:rPr lang="en-US" b="1" dirty="0"/>
              <a:t>STAR:</a:t>
            </a:r>
            <a:r>
              <a:rPr lang="en-US" dirty="0"/>
              <a:t> STAR is an alignment tool know for its accuracy. STAR is also more robust to variant detections. Allows for discovery of novel splice junctions</a:t>
            </a:r>
          </a:p>
          <a:p>
            <a:r>
              <a:rPr lang="en-US" b="1" dirty="0"/>
              <a:t>HISAT2</a:t>
            </a:r>
            <a:r>
              <a:rPr lang="en-US" dirty="0"/>
              <a:t>: Memory efficient compared to STAR, but sometimes slightly less accurate. </a:t>
            </a:r>
          </a:p>
          <a:p>
            <a:r>
              <a:rPr lang="en-US" b="1" dirty="0" err="1"/>
              <a:t>Kallisto</a:t>
            </a:r>
            <a:r>
              <a:rPr lang="en-US" dirty="0"/>
              <a:t>: Pseudoalignment, maps reads to a set of transcripts rather than to a reference genome. Faster and more memory efficient than traditional alignment, but sometimes less accurate.</a:t>
            </a:r>
          </a:p>
          <a:p>
            <a:r>
              <a:rPr lang="en-US" dirty="0"/>
              <a:t>Mapping percentage: 90% - ideal, 80% - good, 70% - acceptable, 60% - borderline, &lt;50%- </a:t>
            </a:r>
            <a:r>
              <a:rPr lang="en-US" dirty="0" err="1"/>
              <a:t>resequence</a:t>
            </a:r>
            <a:endParaRPr lang="en-US" dirty="0"/>
          </a:p>
        </p:txBody>
      </p:sp>
    </p:spTree>
    <p:extLst>
      <p:ext uri="{BB962C8B-B14F-4D97-AF65-F5344CB8AC3E}">
        <p14:creationId xmlns:p14="http://schemas.microsoft.com/office/powerpoint/2010/main" val="1571419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E8C28-A187-09AF-DB18-5C169128EE42}"/>
              </a:ext>
            </a:extLst>
          </p:cNvPr>
          <p:cNvSpPr>
            <a:spLocks noGrp="1"/>
          </p:cNvSpPr>
          <p:nvPr>
            <p:ph type="title"/>
          </p:nvPr>
        </p:nvSpPr>
        <p:spPr/>
        <p:txBody>
          <a:bodyPr/>
          <a:lstStyle/>
          <a:p>
            <a:r>
              <a:rPr lang="en-US" dirty="0"/>
              <a:t>Evaluation of 7 different alignment tools</a:t>
            </a:r>
          </a:p>
        </p:txBody>
      </p:sp>
      <p:sp>
        <p:nvSpPr>
          <p:cNvPr id="3" name="Content Placeholder 2">
            <a:extLst>
              <a:ext uri="{FF2B5EF4-FFF2-40B4-BE49-F238E27FC236}">
                <a16:creationId xmlns:a16="http://schemas.microsoft.com/office/drawing/2014/main" id="{5180673B-A160-0D7E-8FF6-03BD15E8E7A0}"/>
              </a:ext>
            </a:extLst>
          </p:cNvPr>
          <p:cNvSpPr>
            <a:spLocks noGrp="1"/>
          </p:cNvSpPr>
          <p:nvPr>
            <p:ph idx="1"/>
          </p:nvPr>
        </p:nvSpPr>
        <p:spPr/>
        <p:txBody>
          <a:bodyPr/>
          <a:lstStyle/>
          <a:p>
            <a:r>
              <a:rPr lang="en-US" dirty="0" err="1">
                <a:hlinkClick r:id="rId2"/>
              </a:rPr>
              <a:t>Schaarschmidt</a:t>
            </a:r>
            <a:r>
              <a:rPr lang="en-US" dirty="0">
                <a:hlinkClick r:id="rId2"/>
              </a:rPr>
              <a:t> et al. - </a:t>
            </a:r>
            <a:r>
              <a:rPr lang="en-US" dirty="0"/>
              <a:t>bwa, CLC Genomics Workbench, HISAT2, </a:t>
            </a:r>
            <a:r>
              <a:rPr lang="en-US" dirty="0" err="1"/>
              <a:t>kallisto</a:t>
            </a:r>
            <a:r>
              <a:rPr lang="en-US" dirty="0"/>
              <a:t>, RSEM, salmon and STAR were all used for alignment in model plant </a:t>
            </a:r>
            <a:r>
              <a:rPr lang="en-US" i="1" dirty="0"/>
              <a:t>Arabidopsis thaliana</a:t>
            </a:r>
          </a:p>
          <a:p>
            <a:r>
              <a:rPr lang="en-US" dirty="0"/>
              <a:t>All tools had similar mapping rates and there was high overlap of mappers. </a:t>
            </a:r>
          </a:p>
          <a:p>
            <a:r>
              <a:rPr lang="en-US" dirty="0"/>
              <a:t>STAR had the highest fraction of mapped reads, likely due to higher tolerance for soft-clipped and mismatched bases. </a:t>
            </a:r>
          </a:p>
          <a:p>
            <a:r>
              <a:rPr lang="en-US" dirty="0"/>
              <a:t>Generally, all tools were comparable to each other. </a:t>
            </a:r>
          </a:p>
        </p:txBody>
      </p:sp>
    </p:spTree>
    <p:extLst>
      <p:ext uri="{BB962C8B-B14F-4D97-AF65-F5344CB8AC3E}">
        <p14:creationId xmlns:p14="http://schemas.microsoft.com/office/powerpoint/2010/main" val="3850639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99D9A-2AE5-60F6-E947-1433EA51F6F3}"/>
              </a:ext>
            </a:extLst>
          </p:cNvPr>
          <p:cNvSpPr>
            <a:spLocks noGrp="1"/>
          </p:cNvSpPr>
          <p:nvPr>
            <p:ph type="title"/>
          </p:nvPr>
        </p:nvSpPr>
        <p:spPr/>
        <p:txBody>
          <a:bodyPr/>
          <a:lstStyle/>
          <a:p>
            <a:r>
              <a:rPr lang="en-US" dirty="0"/>
              <a:t>Comparison of 7 different alignment tools</a:t>
            </a:r>
          </a:p>
        </p:txBody>
      </p:sp>
      <p:sp>
        <p:nvSpPr>
          <p:cNvPr id="3" name="Content Placeholder 2">
            <a:extLst>
              <a:ext uri="{FF2B5EF4-FFF2-40B4-BE49-F238E27FC236}">
                <a16:creationId xmlns:a16="http://schemas.microsoft.com/office/drawing/2014/main" id="{A448B1C3-4A51-3D9C-E403-7891AC9E2D1C}"/>
              </a:ext>
            </a:extLst>
          </p:cNvPr>
          <p:cNvSpPr>
            <a:spLocks noGrp="1"/>
          </p:cNvSpPr>
          <p:nvPr>
            <p:ph idx="1"/>
          </p:nvPr>
        </p:nvSpPr>
        <p:spPr/>
        <p:txBody>
          <a:bodyPr/>
          <a:lstStyle/>
          <a:p>
            <a:r>
              <a:rPr lang="en-US" b="1" dirty="0" err="1">
                <a:hlinkClick r:id="rId2"/>
              </a:rPr>
              <a:t>Musich</a:t>
            </a:r>
            <a:r>
              <a:rPr lang="en-US" b="1" dirty="0">
                <a:hlinkClick r:id="rId2"/>
              </a:rPr>
              <a:t> et al</a:t>
            </a:r>
            <a:r>
              <a:rPr lang="en-US" b="1" dirty="0"/>
              <a:t>. </a:t>
            </a:r>
            <a:r>
              <a:rPr lang="en-US" dirty="0"/>
              <a:t>– Comparative analysis of different alignment tools on </a:t>
            </a:r>
            <a:r>
              <a:rPr lang="en-US" i="1" u="none" strike="noStrike" dirty="0">
                <a:effectLst/>
              </a:rPr>
              <a:t>Erysiphe </a:t>
            </a:r>
            <a:r>
              <a:rPr lang="en-US" i="1" u="none" strike="noStrike" dirty="0" err="1">
                <a:effectLst/>
              </a:rPr>
              <a:t>necator</a:t>
            </a:r>
            <a:r>
              <a:rPr lang="en-US" i="1" u="none" strike="noStrike" dirty="0">
                <a:effectLst/>
              </a:rPr>
              <a:t>. </a:t>
            </a:r>
            <a:r>
              <a:rPr lang="en-US" u="none" strike="noStrike" dirty="0">
                <a:effectLst/>
              </a:rPr>
              <a:t>Runtime, alignmen</a:t>
            </a:r>
            <a:r>
              <a:rPr lang="en-US" dirty="0"/>
              <a:t>t percentage, and transcriptome coverage measured.</a:t>
            </a:r>
          </a:p>
          <a:p>
            <a:r>
              <a:rPr lang="en-US" b="1" dirty="0"/>
              <a:t>TopHat2</a:t>
            </a:r>
            <a:r>
              <a:rPr lang="en-US" dirty="0"/>
              <a:t> showed the lowest alignment rates and the slowest runtime.</a:t>
            </a:r>
          </a:p>
          <a:p>
            <a:r>
              <a:rPr lang="en-US" b="1" dirty="0"/>
              <a:t>Bowtie2 (Local mode)</a:t>
            </a:r>
            <a:r>
              <a:rPr lang="en-US" dirty="0"/>
              <a:t> and </a:t>
            </a:r>
            <a:r>
              <a:rPr lang="en-US" b="1" dirty="0"/>
              <a:t>BWA</a:t>
            </a:r>
            <a:r>
              <a:rPr lang="en-US" dirty="0"/>
              <a:t> achieved the highest alignment rates (~87%).</a:t>
            </a:r>
          </a:p>
          <a:p>
            <a:r>
              <a:rPr lang="en-US" b="1" dirty="0"/>
              <a:t>HISAT2</a:t>
            </a:r>
            <a:r>
              <a:rPr lang="en-US" dirty="0"/>
              <a:t> was the fastest aligner, with a runtime of 8.28 </a:t>
            </a:r>
            <a:r>
              <a:rPr lang="en-US" dirty="0" err="1"/>
              <a:t>ms</a:t>
            </a:r>
            <a:r>
              <a:rPr lang="en-US" dirty="0"/>
              <a:t> per read.</a:t>
            </a:r>
          </a:p>
          <a:p>
            <a:r>
              <a:rPr lang="en-US" b="1" dirty="0"/>
              <a:t>STAR</a:t>
            </a:r>
            <a:r>
              <a:rPr lang="en-US" dirty="0"/>
              <a:t> and </a:t>
            </a:r>
            <a:r>
              <a:rPr lang="en-US" b="1" dirty="0"/>
              <a:t>HISAT2</a:t>
            </a:r>
            <a:r>
              <a:rPr lang="en-US" dirty="0"/>
              <a:t> performed better for mapping larger transcripts.</a:t>
            </a:r>
          </a:p>
          <a:p>
            <a:r>
              <a:rPr lang="en-US" b="1" dirty="0"/>
              <a:t>TopHat2</a:t>
            </a:r>
            <a:r>
              <a:rPr lang="en-US" dirty="0"/>
              <a:t> had the highest number of unmapped genes (1,570), while </a:t>
            </a:r>
            <a:r>
              <a:rPr lang="en-US" b="1" dirty="0"/>
              <a:t>BWA</a:t>
            </a:r>
            <a:r>
              <a:rPr lang="en-US" dirty="0"/>
              <a:t> had the lowest (106).</a:t>
            </a:r>
          </a:p>
        </p:txBody>
      </p:sp>
    </p:spTree>
    <p:extLst>
      <p:ext uri="{BB962C8B-B14F-4D97-AF65-F5344CB8AC3E}">
        <p14:creationId xmlns:p14="http://schemas.microsoft.com/office/powerpoint/2010/main" val="1468876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95A99-C30F-0ED9-89AE-135C264EC886}"/>
              </a:ext>
            </a:extLst>
          </p:cNvPr>
          <p:cNvSpPr>
            <a:spLocks noGrp="1"/>
          </p:cNvSpPr>
          <p:nvPr>
            <p:ph type="title"/>
          </p:nvPr>
        </p:nvSpPr>
        <p:spPr/>
        <p:txBody>
          <a:bodyPr/>
          <a:lstStyle/>
          <a:p>
            <a:r>
              <a:rPr lang="en-US" dirty="0"/>
              <a:t>De novo alignment</a:t>
            </a:r>
          </a:p>
        </p:txBody>
      </p:sp>
      <p:sp>
        <p:nvSpPr>
          <p:cNvPr id="3" name="Content Placeholder 2">
            <a:extLst>
              <a:ext uri="{FF2B5EF4-FFF2-40B4-BE49-F238E27FC236}">
                <a16:creationId xmlns:a16="http://schemas.microsoft.com/office/drawing/2014/main" id="{BE63A938-C747-BD81-8460-FF9A2F5AF053}"/>
              </a:ext>
            </a:extLst>
          </p:cNvPr>
          <p:cNvSpPr>
            <a:spLocks noGrp="1"/>
          </p:cNvSpPr>
          <p:nvPr>
            <p:ph idx="1"/>
          </p:nvPr>
        </p:nvSpPr>
        <p:spPr/>
        <p:txBody>
          <a:bodyPr/>
          <a:lstStyle/>
          <a:p>
            <a:r>
              <a:rPr lang="en-US" dirty="0"/>
              <a:t>De novo genome assembly reconstructs a genome from sequencing reads without a reference genome by aligning overlapping sequences. </a:t>
            </a:r>
          </a:p>
          <a:p>
            <a:r>
              <a:rPr lang="en-US" dirty="0">
                <a:hlinkClick r:id="rId3"/>
              </a:rPr>
              <a:t>Jeon et al. </a:t>
            </a:r>
            <a:r>
              <a:rPr lang="en-US" dirty="0"/>
              <a:t>- For long reads (e.g., PacBio, ONT), tools like </a:t>
            </a:r>
            <a:r>
              <a:rPr lang="en-US" dirty="0" err="1"/>
              <a:t>Canu</a:t>
            </a:r>
            <a:r>
              <a:rPr lang="en-US" dirty="0"/>
              <a:t> and </a:t>
            </a:r>
            <a:r>
              <a:rPr lang="en-US" dirty="0" err="1"/>
              <a:t>Flye</a:t>
            </a:r>
            <a:r>
              <a:rPr lang="en-US" dirty="0"/>
              <a:t> are optimal for high contiguity and accuracy. </a:t>
            </a:r>
          </a:p>
          <a:p>
            <a:r>
              <a:rPr lang="en-US" dirty="0"/>
              <a:t>For short reads (e.g., Illumina), </a:t>
            </a:r>
            <a:r>
              <a:rPr lang="en-US" dirty="0" err="1"/>
              <a:t>SPAdes</a:t>
            </a:r>
            <a:r>
              <a:rPr lang="en-US" dirty="0"/>
              <a:t> ,Trinity, and </a:t>
            </a:r>
            <a:r>
              <a:rPr lang="en-US" dirty="0" err="1"/>
              <a:t>ABySS</a:t>
            </a:r>
            <a:r>
              <a:rPr lang="en-US" dirty="0"/>
              <a:t> are highly effective for assembling small to medium-sized genomes​</a:t>
            </a:r>
          </a:p>
        </p:txBody>
      </p:sp>
    </p:spTree>
    <p:extLst>
      <p:ext uri="{BB962C8B-B14F-4D97-AF65-F5344CB8AC3E}">
        <p14:creationId xmlns:p14="http://schemas.microsoft.com/office/powerpoint/2010/main" val="73206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5607-B73A-0046-509D-331B31904B90}"/>
              </a:ext>
            </a:extLst>
          </p:cNvPr>
          <p:cNvSpPr>
            <a:spLocks noGrp="1"/>
          </p:cNvSpPr>
          <p:nvPr>
            <p:ph type="title"/>
          </p:nvPr>
        </p:nvSpPr>
        <p:spPr/>
        <p:txBody>
          <a:bodyPr/>
          <a:lstStyle/>
          <a:p>
            <a:r>
              <a:rPr lang="en-US" dirty="0"/>
              <a:t>Alignment-free tools/</a:t>
            </a:r>
            <a:r>
              <a:rPr lang="en-US" dirty="0" err="1"/>
              <a:t>pseudoaligners</a:t>
            </a:r>
            <a:endParaRPr lang="en-US" dirty="0"/>
          </a:p>
        </p:txBody>
      </p:sp>
      <p:sp>
        <p:nvSpPr>
          <p:cNvPr id="3" name="Content Placeholder 2">
            <a:extLst>
              <a:ext uri="{FF2B5EF4-FFF2-40B4-BE49-F238E27FC236}">
                <a16:creationId xmlns:a16="http://schemas.microsoft.com/office/drawing/2014/main" id="{18815D23-6FDC-4458-4EF4-B6F0EA1D1C36}"/>
              </a:ext>
            </a:extLst>
          </p:cNvPr>
          <p:cNvSpPr>
            <a:spLocks noGrp="1"/>
          </p:cNvSpPr>
          <p:nvPr>
            <p:ph idx="1"/>
          </p:nvPr>
        </p:nvSpPr>
        <p:spPr/>
        <p:txBody>
          <a:bodyPr/>
          <a:lstStyle/>
          <a:p>
            <a:r>
              <a:rPr lang="en-US" dirty="0"/>
              <a:t>Pseudo-aligners like </a:t>
            </a:r>
            <a:r>
              <a:rPr lang="en-US" dirty="0" err="1"/>
              <a:t>Kallisto</a:t>
            </a:r>
            <a:r>
              <a:rPr lang="en-US" dirty="0"/>
              <a:t> don’t align the reads to a reference base by base. Rather, they determine which transcripts a read is compatible with. </a:t>
            </a:r>
          </a:p>
          <a:p>
            <a:r>
              <a:rPr lang="en-US" dirty="0"/>
              <a:t>This technique is fast and effective for transcript quantification</a:t>
            </a:r>
          </a:p>
          <a:p>
            <a:r>
              <a:rPr lang="en-US" dirty="0">
                <a:hlinkClick r:id="rId2"/>
              </a:rPr>
              <a:t>Wu et al. </a:t>
            </a:r>
            <a:r>
              <a:rPr lang="en-US" dirty="0"/>
              <a:t>- Alignment-free RNA-seq pipelines struggle with accurate quantification of small and lowly-expressed RNAs, particularly tRNAs</a:t>
            </a:r>
          </a:p>
        </p:txBody>
      </p:sp>
    </p:spTree>
    <p:extLst>
      <p:ext uri="{BB962C8B-B14F-4D97-AF65-F5344CB8AC3E}">
        <p14:creationId xmlns:p14="http://schemas.microsoft.com/office/powerpoint/2010/main" val="1282099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EA82D-A12F-ECCA-16D2-E1FFA4F81298}"/>
              </a:ext>
            </a:extLst>
          </p:cNvPr>
          <p:cNvSpPr>
            <a:spLocks noGrp="1"/>
          </p:cNvSpPr>
          <p:nvPr>
            <p:ph type="title"/>
          </p:nvPr>
        </p:nvSpPr>
        <p:spPr/>
        <p:txBody>
          <a:bodyPr/>
          <a:lstStyle/>
          <a:p>
            <a:r>
              <a:rPr lang="en-US" dirty="0"/>
              <a:t>Potential strength of alignment-free tools</a:t>
            </a:r>
          </a:p>
        </p:txBody>
      </p:sp>
      <p:sp>
        <p:nvSpPr>
          <p:cNvPr id="3" name="Content Placeholder 2">
            <a:extLst>
              <a:ext uri="{FF2B5EF4-FFF2-40B4-BE49-F238E27FC236}">
                <a16:creationId xmlns:a16="http://schemas.microsoft.com/office/drawing/2014/main" id="{E593C325-45E6-5B9E-8CE3-7113A61E34C4}"/>
              </a:ext>
            </a:extLst>
          </p:cNvPr>
          <p:cNvSpPr>
            <a:spLocks noGrp="1"/>
          </p:cNvSpPr>
          <p:nvPr>
            <p:ph idx="1"/>
          </p:nvPr>
        </p:nvSpPr>
        <p:spPr/>
        <p:txBody>
          <a:bodyPr/>
          <a:lstStyle/>
          <a:p>
            <a:r>
              <a:rPr lang="en-US" dirty="0">
                <a:hlinkClick r:id="rId3"/>
              </a:rPr>
              <a:t>Zheng et al. </a:t>
            </a:r>
            <a:r>
              <a:rPr lang="en-US" dirty="0"/>
              <a:t>- Dependent on type of data and goal of analysis. During analysis to quantify lncRNA in TCGA, salmon and </a:t>
            </a:r>
            <a:r>
              <a:rPr lang="en-US" dirty="0" err="1"/>
              <a:t>kalisto</a:t>
            </a:r>
            <a:r>
              <a:rPr lang="en-US" dirty="0"/>
              <a:t> outperformed STAR. </a:t>
            </a:r>
          </a:p>
          <a:p>
            <a:r>
              <a:rPr lang="en-US" dirty="0"/>
              <a:t>Salmon and </a:t>
            </a:r>
            <a:r>
              <a:rPr lang="en-US" dirty="0" err="1"/>
              <a:t>kalisto</a:t>
            </a:r>
            <a:r>
              <a:rPr lang="en-US" dirty="0"/>
              <a:t> detected more </a:t>
            </a:r>
            <a:r>
              <a:rPr lang="en-US" dirty="0" err="1"/>
              <a:t>lncRNAs</a:t>
            </a:r>
            <a:r>
              <a:rPr lang="en-US" dirty="0"/>
              <a:t> and stronger concordance with the ground truth.</a:t>
            </a:r>
          </a:p>
          <a:p>
            <a:endParaRPr lang="en-US" dirty="0"/>
          </a:p>
        </p:txBody>
      </p:sp>
    </p:spTree>
    <p:extLst>
      <p:ext uri="{BB962C8B-B14F-4D97-AF65-F5344CB8AC3E}">
        <p14:creationId xmlns:p14="http://schemas.microsoft.com/office/powerpoint/2010/main" val="2097817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064C8-E4C5-5F20-556C-DF334EF160F9}"/>
              </a:ext>
            </a:extLst>
          </p:cNvPr>
          <p:cNvSpPr>
            <a:spLocks noGrp="1"/>
          </p:cNvSpPr>
          <p:nvPr>
            <p:ph type="title"/>
          </p:nvPr>
        </p:nvSpPr>
        <p:spPr/>
        <p:txBody>
          <a:bodyPr/>
          <a:lstStyle/>
          <a:p>
            <a:r>
              <a:rPr lang="en-US" dirty="0"/>
              <a:t>Best practices during quantification</a:t>
            </a:r>
          </a:p>
        </p:txBody>
      </p:sp>
      <p:sp>
        <p:nvSpPr>
          <p:cNvPr id="3" name="Content Placeholder 2">
            <a:extLst>
              <a:ext uri="{FF2B5EF4-FFF2-40B4-BE49-F238E27FC236}">
                <a16:creationId xmlns:a16="http://schemas.microsoft.com/office/drawing/2014/main" id="{ABBFBD6A-9611-5B46-FA23-689246925DFC}"/>
              </a:ext>
            </a:extLst>
          </p:cNvPr>
          <p:cNvSpPr>
            <a:spLocks noGrp="1"/>
          </p:cNvSpPr>
          <p:nvPr>
            <p:ph idx="1"/>
          </p:nvPr>
        </p:nvSpPr>
        <p:spPr/>
        <p:txBody>
          <a:bodyPr>
            <a:normAutofit fontScale="92500" lnSpcReduction="20000"/>
          </a:bodyPr>
          <a:lstStyle/>
          <a:p>
            <a:r>
              <a:rPr lang="en-US" dirty="0" err="1"/>
              <a:t>HTSeq</a:t>
            </a:r>
            <a:r>
              <a:rPr lang="en-US" dirty="0"/>
              <a:t>-count is slower and more memory-intensive and discards multi-mapping reads by default. </a:t>
            </a:r>
          </a:p>
          <a:p>
            <a:r>
              <a:rPr lang="en-US" b="0" i="0" u="none" strike="noStrike" dirty="0" err="1">
                <a:effectLst/>
              </a:rPr>
              <a:t>featureCounts</a:t>
            </a:r>
            <a:r>
              <a:rPr lang="en-US" dirty="0"/>
              <a:t> </a:t>
            </a:r>
            <a:r>
              <a:rPr lang="en-US" b="0" i="0" u="none" strike="noStrike" dirty="0">
                <a:effectLst/>
              </a:rPr>
              <a:t>is faster, more memory-efficient, and handles multi-mapping reads. It is better suited for large-scale, high-throughput workflows.</a:t>
            </a:r>
          </a:p>
          <a:p>
            <a:r>
              <a:rPr lang="en-US" dirty="0" err="1">
                <a:hlinkClick r:id="rId2"/>
              </a:rPr>
              <a:t>Corchete</a:t>
            </a:r>
            <a:r>
              <a:rPr lang="en-US" dirty="0">
                <a:hlinkClick r:id="rId2"/>
              </a:rPr>
              <a:t> et al. </a:t>
            </a:r>
            <a:r>
              <a:rPr lang="en-US" dirty="0"/>
              <a:t>- Generally, pipelines that use </a:t>
            </a:r>
            <a:r>
              <a:rPr lang="en-US" dirty="0" err="1"/>
              <a:t>HTSeq</a:t>
            </a:r>
            <a:r>
              <a:rPr lang="en-US" dirty="0"/>
              <a:t>-count showed better accuracy when compared to </a:t>
            </a:r>
            <a:r>
              <a:rPr lang="en-US" dirty="0" err="1"/>
              <a:t>featureCounts</a:t>
            </a:r>
            <a:r>
              <a:rPr lang="en-US" dirty="0"/>
              <a:t> in identifying gene counts. </a:t>
            </a:r>
          </a:p>
          <a:p>
            <a:r>
              <a:rPr lang="en-US" dirty="0">
                <a:hlinkClick r:id="rId3"/>
              </a:rPr>
              <a:t>Jin et al. </a:t>
            </a:r>
            <a:r>
              <a:rPr lang="en-US" dirty="0"/>
              <a:t>TPM is better than raw counts because it accounts for both gene length and sequencing depth.</a:t>
            </a:r>
          </a:p>
          <a:p>
            <a:r>
              <a:rPr lang="en-US" dirty="0"/>
              <a:t>TPM demonstrated better linearity compared to raw counts, as its expression values more closely matched the true mixture proportions and showed stronger linear correlations with the actual gene abundance</a:t>
            </a:r>
          </a:p>
        </p:txBody>
      </p:sp>
    </p:spTree>
    <p:extLst>
      <p:ext uri="{BB962C8B-B14F-4D97-AF65-F5344CB8AC3E}">
        <p14:creationId xmlns:p14="http://schemas.microsoft.com/office/powerpoint/2010/main" val="431090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72F7B-37E5-CE89-CA58-795E4C7FF0B5}"/>
              </a:ext>
            </a:extLst>
          </p:cNvPr>
          <p:cNvSpPr>
            <a:spLocks noGrp="1"/>
          </p:cNvSpPr>
          <p:nvPr>
            <p:ph type="title"/>
          </p:nvPr>
        </p:nvSpPr>
        <p:spPr/>
        <p:txBody>
          <a:bodyPr/>
          <a:lstStyle/>
          <a:p>
            <a:r>
              <a:rPr lang="en-US" dirty="0"/>
              <a:t>Quantification of transcripts</a:t>
            </a:r>
          </a:p>
        </p:txBody>
      </p:sp>
      <p:sp>
        <p:nvSpPr>
          <p:cNvPr id="3" name="Content Placeholder 2">
            <a:extLst>
              <a:ext uri="{FF2B5EF4-FFF2-40B4-BE49-F238E27FC236}">
                <a16:creationId xmlns:a16="http://schemas.microsoft.com/office/drawing/2014/main" id="{32FC978F-6542-0027-BC15-6186CF47F8B1}"/>
              </a:ext>
            </a:extLst>
          </p:cNvPr>
          <p:cNvSpPr>
            <a:spLocks noGrp="1"/>
          </p:cNvSpPr>
          <p:nvPr>
            <p:ph idx="1"/>
          </p:nvPr>
        </p:nvSpPr>
        <p:spPr/>
        <p:txBody>
          <a:bodyPr/>
          <a:lstStyle/>
          <a:p>
            <a:r>
              <a:rPr lang="en-US" dirty="0"/>
              <a:t>Transcript-level analysis allows for the detection of specific isoforms that may be differentially expressed</a:t>
            </a:r>
          </a:p>
          <a:p>
            <a:r>
              <a:rPr lang="en-US" b="1" dirty="0"/>
              <a:t>RSEM</a:t>
            </a:r>
            <a:r>
              <a:rPr lang="en-US" dirty="0"/>
              <a:t> is particularly useful for identifying isoforms, as it quantifies transcript-level expression, enabling investigation of alternative splicing and isoform-specific expression changes.</a:t>
            </a:r>
          </a:p>
        </p:txBody>
      </p:sp>
    </p:spTree>
    <p:extLst>
      <p:ext uri="{BB962C8B-B14F-4D97-AF65-F5344CB8AC3E}">
        <p14:creationId xmlns:p14="http://schemas.microsoft.com/office/powerpoint/2010/main" val="2500900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F6FB4-4523-8A32-AB6B-5CB9F84D914C}"/>
              </a:ext>
            </a:extLst>
          </p:cNvPr>
          <p:cNvSpPr>
            <a:spLocks noGrp="1"/>
          </p:cNvSpPr>
          <p:nvPr>
            <p:ph type="title"/>
          </p:nvPr>
        </p:nvSpPr>
        <p:spPr/>
        <p:txBody>
          <a:bodyPr/>
          <a:lstStyle/>
          <a:p>
            <a:r>
              <a:rPr lang="en-US" dirty="0"/>
              <a:t>TPM is better than raw counts, but should it always be used? </a:t>
            </a:r>
          </a:p>
        </p:txBody>
      </p:sp>
      <p:sp>
        <p:nvSpPr>
          <p:cNvPr id="3" name="Content Placeholder 2">
            <a:extLst>
              <a:ext uri="{FF2B5EF4-FFF2-40B4-BE49-F238E27FC236}">
                <a16:creationId xmlns:a16="http://schemas.microsoft.com/office/drawing/2014/main" id="{525E3595-2D7F-7106-FCE7-322D31521D52}"/>
              </a:ext>
            </a:extLst>
          </p:cNvPr>
          <p:cNvSpPr>
            <a:spLocks noGrp="1"/>
          </p:cNvSpPr>
          <p:nvPr>
            <p:ph idx="1"/>
          </p:nvPr>
        </p:nvSpPr>
        <p:spPr/>
        <p:txBody>
          <a:bodyPr/>
          <a:lstStyle/>
          <a:p>
            <a:r>
              <a:rPr lang="en-US" b="1" dirty="0"/>
              <a:t>TPM normalizes for sequencing depth and gene length</a:t>
            </a:r>
            <a:r>
              <a:rPr lang="en-US" dirty="0"/>
              <a:t> but does not account for </a:t>
            </a:r>
            <a:r>
              <a:rPr lang="en-US" b="1" dirty="0"/>
              <a:t>RNA composition bias</a:t>
            </a:r>
            <a:r>
              <a:rPr lang="en-US" dirty="0"/>
              <a:t>, meaning it can be skewed when a few genes are highly expressed in one sample.</a:t>
            </a:r>
          </a:p>
          <a:p>
            <a:r>
              <a:rPr lang="en-US" b="1" dirty="0"/>
              <a:t>DESeq2 accounts for RNA composition bias</a:t>
            </a:r>
            <a:r>
              <a:rPr lang="en-US" dirty="0"/>
              <a:t>, making it more reliable for comparing gene expression between samples with different RNA compositions.</a:t>
            </a:r>
          </a:p>
        </p:txBody>
      </p:sp>
    </p:spTree>
    <p:extLst>
      <p:ext uri="{BB962C8B-B14F-4D97-AF65-F5344CB8AC3E}">
        <p14:creationId xmlns:p14="http://schemas.microsoft.com/office/powerpoint/2010/main" val="3200552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F4C60-09F1-3858-9859-96141E8EBBCB}"/>
              </a:ext>
            </a:extLst>
          </p:cNvPr>
          <p:cNvSpPr>
            <a:spLocks noGrp="1"/>
          </p:cNvSpPr>
          <p:nvPr>
            <p:ph type="title"/>
          </p:nvPr>
        </p:nvSpPr>
        <p:spPr/>
        <p:txBody>
          <a:bodyPr/>
          <a:lstStyle/>
          <a:p>
            <a:r>
              <a:rPr lang="en-US" dirty="0"/>
              <a:t>Best practices during differential gene expression</a:t>
            </a:r>
          </a:p>
        </p:txBody>
      </p:sp>
      <p:sp>
        <p:nvSpPr>
          <p:cNvPr id="3" name="Content Placeholder 2">
            <a:extLst>
              <a:ext uri="{FF2B5EF4-FFF2-40B4-BE49-F238E27FC236}">
                <a16:creationId xmlns:a16="http://schemas.microsoft.com/office/drawing/2014/main" id="{3DB62041-EFBC-E38E-B732-ECFAD5E85389}"/>
              </a:ext>
            </a:extLst>
          </p:cNvPr>
          <p:cNvSpPr>
            <a:spLocks noGrp="1"/>
          </p:cNvSpPr>
          <p:nvPr>
            <p:ph idx="1"/>
          </p:nvPr>
        </p:nvSpPr>
        <p:spPr/>
        <p:txBody>
          <a:bodyPr/>
          <a:lstStyle/>
          <a:p>
            <a:r>
              <a:rPr lang="en-US" b="1" dirty="0" err="1"/>
              <a:t>edgeR</a:t>
            </a:r>
            <a:r>
              <a:rPr lang="en-US" dirty="0"/>
              <a:t> tends to find more DEGs and works efficiently with smaller sample sizes or when you need more statistical power, but at the cost of potentially more false positives.</a:t>
            </a:r>
          </a:p>
          <a:p>
            <a:r>
              <a:rPr lang="en-US" b="1" dirty="0"/>
              <a:t>DESeq2</a:t>
            </a:r>
            <a:r>
              <a:rPr lang="en-US" dirty="0"/>
              <a:t> produces fewer but more reliable DEGs, making it a good choice for experiments where confidence in results is critical, especially in larger datasets with more biological replicates.</a:t>
            </a:r>
          </a:p>
        </p:txBody>
      </p:sp>
    </p:spTree>
    <p:extLst>
      <p:ext uri="{BB962C8B-B14F-4D97-AF65-F5344CB8AC3E}">
        <p14:creationId xmlns:p14="http://schemas.microsoft.com/office/powerpoint/2010/main" val="3907411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DD027-861A-6386-638F-6D34318EDF89}"/>
              </a:ext>
            </a:extLst>
          </p:cNvPr>
          <p:cNvSpPr>
            <a:spLocks noGrp="1"/>
          </p:cNvSpPr>
          <p:nvPr>
            <p:ph type="title"/>
          </p:nvPr>
        </p:nvSpPr>
        <p:spPr/>
        <p:txBody>
          <a:bodyPr/>
          <a:lstStyle/>
          <a:p>
            <a:r>
              <a:rPr lang="en-US" dirty="0"/>
              <a:t>Normalization methods in quantification tools </a:t>
            </a:r>
          </a:p>
        </p:txBody>
      </p:sp>
      <p:sp>
        <p:nvSpPr>
          <p:cNvPr id="3" name="Content Placeholder 2">
            <a:extLst>
              <a:ext uri="{FF2B5EF4-FFF2-40B4-BE49-F238E27FC236}">
                <a16:creationId xmlns:a16="http://schemas.microsoft.com/office/drawing/2014/main" id="{7D43CBD5-F2E5-424C-57D7-B9D241055BCB}"/>
              </a:ext>
            </a:extLst>
          </p:cNvPr>
          <p:cNvSpPr>
            <a:spLocks noGrp="1"/>
          </p:cNvSpPr>
          <p:nvPr>
            <p:ph idx="1"/>
          </p:nvPr>
        </p:nvSpPr>
        <p:spPr/>
        <p:txBody>
          <a:bodyPr/>
          <a:lstStyle/>
          <a:p>
            <a:r>
              <a:rPr lang="en-US" dirty="0"/>
              <a:t>TMM: </a:t>
            </a:r>
            <a:r>
              <a:rPr lang="en-US" b="0" i="0" u="none" strike="noStrike" dirty="0">
                <a:effectLst/>
              </a:rPr>
              <a:t>Calculates a scaling factor by trimming extreme log-fold changes between samples; adjusts for compositional differences and is robust to outlier genes</a:t>
            </a:r>
          </a:p>
          <a:p>
            <a:r>
              <a:rPr lang="en-US" dirty="0"/>
              <a:t>RLE: </a:t>
            </a:r>
            <a:r>
              <a:rPr lang="en-US" b="0" i="0" u="none" strike="noStrike" dirty="0">
                <a:effectLst/>
              </a:rPr>
              <a:t>Compares each gene's expression to the median across all samples; calculates scaling factors from median log ratios; assumes most genes are similarly expressed</a:t>
            </a:r>
          </a:p>
          <a:p>
            <a:r>
              <a:rPr lang="en-US" dirty="0"/>
              <a:t>MRN: Uses the median of all replicates in a condition as the reference; provides a condition-specific normalization factor; aims for consistency and stability across replicates.</a:t>
            </a:r>
          </a:p>
        </p:txBody>
      </p:sp>
    </p:spTree>
    <p:extLst>
      <p:ext uri="{BB962C8B-B14F-4D97-AF65-F5344CB8AC3E}">
        <p14:creationId xmlns:p14="http://schemas.microsoft.com/office/powerpoint/2010/main" val="144069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B618B-9A80-961F-F3DF-3D9739D8F8BE}"/>
              </a:ext>
            </a:extLst>
          </p:cNvPr>
          <p:cNvSpPr>
            <a:spLocks noGrp="1"/>
          </p:cNvSpPr>
          <p:nvPr>
            <p:ph type="title"/>
          </p:nvPr>
        </p:nvSpPr>
        <p:spPr/>
        <p:txBody>
          <a:bodyPr/>
          <a:lstStyle/>
          <a:p>
            <a:r>
              <a:rPr lang="en-US" dirty="0"/>
              <a:t>Which normalization method should be used and when?</a:t>
            </a:r>
          </a:p>
        </p:txBody>
      </p:sp>
      <p:sp>
        <p:nvSpPr>
          <p:cNvPr id="3" name="Content Placeholder 2">
            <a:extLst>
              <a:ext uri="{FF2B5EF4-FFF2-40B4-BE49-F238E27FC236}">
                <a16:creationId xmlns:a16="http://schemas.microsoft.com/office/drawing/2014/main" id="{7406BCB9-9887-CA00-FE70-5A337E033F59}"/>
              </a:ext>
            </a:extLst>
          </p:cNvPr>
          <p:cNvSpPr>
            <a:spLocks noGrp="1"/>
          </p:cNvSpPr>
          <p:nvPr>
            <p:ph idx="1"/>
          </p:nvPr>
        </p:nvSpPr>
        <p:spPr/>
        <p:txBody>
          <a:bodyPr/>
          <a:lstStyle/>
          <a:p>
            <a:r>
              <a:rPr lang="en-US" dirty="0"/>
              <a:t>TMM: Use for large compositional differences between samples; suitable for both within-sample and between-sample comparisons; ideal for complex designs needing robustness to outliers.</a:t>
            </a:r>
          </a:p>
          <a:p>
            <a:r>
              <a:rPr lang="en-US" dirty="0"/>
              <a:t>RLE: Use when most genes are similarly expressed; suitable for between-sample comparisons; effective for simple experimental designs.</a:t>
            </a:r>
          </a:p>
          <a:p>
            <a:r>
              <a:rPr lang="en-US" dirty="0"/>
              <a:t>MRN: Prefer for complex designs with multiple conditions and replicates; ensures condition-specific normalization and stability across replicates.</a:t>
            </a:r>
          </a:p>
          <a:p>
            <a:r>
              <a:rPr lang="en-US" dirty="0">
                <a:hlinkClick r:id="rId2"/>
              </a:rPr>
              <a:t>Maza et al.</a:t>
            </a:r>
            <a:r>
              <a:rPr lang="en-US" dirty="0"/>
              <a:t> – MRN performs better on simulated datasets in experimental designs with two conditions and multiple replicates.</a:t>
            </a:r>
          </a:p>
        </p:txBody>
      </p:sp>
    </p:spTree>
    <p:extLst>
      <p:ext uri="{BB962C8B-B14F-4D97-AF65-F5344CB8AC3E}">
        <p14:creationId xmlns:p14="http://schemas.microsoft.com/office/powerpoint/2010/main" val="786659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74AC7-F9CF-39AF-E88E-A184279DF553}"/>
              </a:ext>
            </a:extLst>
          </p:cNvPr>
          <p:cNvSpPr>
            <a:spLocks noGrp="1"/>
          </p:cNvSpPr>
          <p:nvPr>
            <p:ph type="title"/>
          </p:nvPr>
        </p:nvSpPr>
        <p:spPr/>
        <p:txBody>
          <a:bodyPr/>
          <a:lstStyle/>
          <a:p>
            <a:r>
              <a:rPr lang="en-US" dirty="0"/>
              <a:t>DeSeq2 and </a:t>
            </a:r>
            <a:r>
              <a:rPr lang="en-US" dirty="0" err="1"/>
              <a:t>edgeR</a:t>
            </a:r>
            <a:r>
              <a:rPr lang="en-US" dirty="0"/>
              <a:t> may exaggerate false positives</a:t>
            </a:r>
          </a:p>
        </p:txBody>
      </p:sp>
      <p:sp>
        <p:nvSpPr>
          <p:cNvPr id="3" name="Content Placeholder 2">
            <a:extLst>
              <a:ext uri="{FF2B5EF4-FFF2-40B4-BE49-F238E27FC236}">
                <a16:creationId xmlns:a16="http://schemas.microsoft.com/office/drawing/2014/main" id="{4B6B7F92-92F1-B429-DB99-71E4A8C7415D}"/>
              </a:ext>
            </a:extLst>
          </p:cNvPr>
          <p:cNvSpPr>
            <a:spLocks noGrp="1"/>
          </p:cNvSpPr>
          <p:nvPr>
            <p:ph idx="1"/>
          </p:nvPr>
        </p:nvSpPr>
        <p:spPr/>
        <p:txBody>
          <a:bodyPr/>
          <a:lstStyle/>
          <a:p>
            <a:r>
              <a:rPr lang="en-US" dirty="0">
                <a:hlinkClick r:id="rId2"/>
              </a:rPr>
              <a:t>Li et al. </a:t>
            </a:r>
            <a:r>
              <a:rPr lang="en-US" dirty="0"/>
              <a:t>- DESeq2 and </a:t>
            </a:r>
            <a:r>
              <a:rPr lang="en-US" dirty="0" err="1"/>
              <a:t>edgeR</a:t>
            </a:r>
            <a:r>
              <a:rPr lang="en-US" dirty="0"/>
              <a:t> showed large discrepancies in the DEGs they identified across 13 population-level RNA-seq datasets, with false positives often inflated due to poor FDR control, especially in large-sample-size datasets.</a:t>
            </a:r>
          </a:p>
          <a:p>
            <a:r>
              <a:rPr lang="en-US" dirty="0"/>
              <a:t>The Wilcoxon rank-sum test and </a:t>
            </a:r>
            <a:r>
              <a:rPr lang="en-US" dirty="0" err="1"/>
              <a:t>limma</a:t>
            </a:r>
            <a:r>
              <a:rPr lang="en-US" dirty="0"/>
              <a:t> consistently outperformed DESeq2, </a:t>
            </a:r>
            <a:r>
              <a:rPr lang="en-US" dirty="0" err="1"/>
              <a:t>edgeR</a:t>
            </a:r>
            <a:r>
              <a:rPr lang="en-US" dirty="0"/>
              <a:t>, by better controlling FDR and maintaining statistical power.</a:t>
            </a:r>
          </a:p>
          <a:p>
            <a:r>
              <a:rPr lang="en-US" dirty="0"/>
              <a:t>Permutation analysis showed inflated FDRs. The methods' performance issues were linked to model violations and outliers.</a:t>
            </a:r>
          </a:p>
        </p:txBody>
      </p:sp>
    </p:spTree>
    <p:extLst>
      <p:ext uri="{BB962C8B-B14F-4D97-AF65-F5344CB8AC3E}">
        <p14:creationId xmlns:p14="http://schemas.microsoft.com/office/powerpoint/2010/main" val="4267544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AB467-E1BE-2AEB-15E6-EC59CC5C2863}"/>
              </a:ext>
            </a:extLst>
          </p:cNvPr>
          <p:cNvSpPr>
            <a:spLocks noGrp="1"/>
          </p:cNvSpPr>
          <p:nvPr>
            <p:ph type="title"/>
          </p:nvPr>
        </p:nvSpPr>
        <p:spPr/>
        <p:txBody>
          <a:bodyPr/>
          <a:lstStyle/>
          <a:p>
            <a:r>
              <a:rPr lang="en-US" dirty="0"/>
              <a:t>Best practices for pathway analysis</a:t>
            </a:r>
          </a:p>
        </p:txBody>
      </p:sp>
      <p:sp>
        <p:nvSpPr>
          <p:cNvPr id="3" name="Content Placeholder 2">
            <a:extLst>
              <a:ext uri="{FF2B5EF4-FFF2-40B4-BE49-F238E27FC236}">
                <a16:creationId xmlns:a16="http://schemas.microsoft.com/office/drawing/2014/main" id="{87C71D9B-B4A4-EA2E-912F-940F21E060B4}"/>
              </a:ext>
            </a:extLst>
          </p:cNvPr>
          <p:cNvSpPr>
            <a:spLocks noGrp="1"/>
          </p:cNvSpPr>
          <p:nvPr>
            <p:ph idx="1"/>
          </p:nvPr>
        </p:nvSpPr>
        <p:spPr/>
        <p:txBody>
          <a:bodyPr/>
          <a:lstStyle/>
          <a:p>
            <a:r>
              <a:rPr lang="en-US" dirty="0"/>
              <a:t>GSEA (Gene Set Enrichment Analysis): Uses a ranked gene list to identify whether predefined gene sets are enriched at the top or bottom of the ranked list. It provides detailed outputs like normalized enrichment scores (NES) and enrichment plots. </a:t>
            </a:r>
          </a:p>
          <a:p>
            <a:r>
              <a:rPr lang="en-US" dirty="0" err="1"/>
              <a:t>Enrichr</a:t>
            </a:r>
            <a:r>
              <a:rPr lang="en-US" dirty="0"/>
              <a:t>: A fast and user-friendly tool for analyzing a predefined list of significant genes, comparing it to a wide range of gene set databases (e.g., GO, KEGG, </a:t>
            </a:r>
            <a:r>
              <a:rPr lang="en-US" dirty="0" err="1"/>
              <a:t>Reactome</a:t>
            </a:r>
            <a:r>
              <a:rPr lang="en-US" dirty="0"/>
              <a:t>).</a:t>
            </a:r>
          </a:p>
        </p:txBody>
      </p:sp>
    </p:spTree>
    <p:extLst>
      <p:ext uri="{BB962C8B-B14F-4D97-AF65-F5344CB8AC3E}">
        <p14:creationId xmlns:p14="http://schemas.microsoft.com/office/powerpoint/2010/main" val="1334966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A3BA-3698-B2E2-6594-7855EAFF1213}"/>
              </a:ext>
            </a:extLst>
          </p:cNvPr>
          <p:cNvSpPr>
            <a:spLocks noGrp="1"/>
          </p:cNvSpPr>
          <p:nvPr>
            <p:ph type="title"/>
          </p:nvPr>
        </p:nvSpPr>
        <p:spPr/>
        <p:txBody>
          <a:bodyPr/>
          <a:lstStyle/>
          <a:p>
            <a:r>
              <a:rPr lang="en-US" dirty="0"/>
              <a:t>Best practices for visualization</a:t>
            </a:r>
          </a:p>
        </p:txBody>
      </p:sp>
      <p:sp>
        <p:nvSpPr>
          <p:cNvPr id="3" name="Content Placeholder 2">
            <a:extLst>
              <a:ext uri="{FF2B5EF4-FFF2-40B4-BE49-F238E27FC236}">
                <a16:creationId xmlns:a16="http://schemas.microsoft.com/office/drawing/2014/main" id="{580DAFC6-8B01-73C7-C09A-7E2D7911D608}"/>
              </a:ext>
            </a:extLst>
          </p:cNvPr>
          <p:cNvSpPr>
            <a:spLocks noGrp="1"/>
          </p:cNvSpPr>
          <p:nvPr>
            <p:ph idx="1"/>
          </p:nvPr>
        </p:nvSpPr>
        <p:spPr/>
        <p:txBody>
          <a:bodyPr/>
          <a:lstStyle/>
          <a:p>
            <a:r>
              <a:rPr lang="en-US" b="1" dirty="0" err="1"/>
              <a:t>Sletuh</a:t>
            </a:r>
            <a:r>
              <a:rPr lang="en-US" dirty="0"/>
              <a:t>: Used in combination with </a:t>
            </a:r>
            <a:r>
              <a:rPr lang="en-US" dirty="0" err="1"/>
              <a:t>Kallisto</a:t>
            </a:r>
            <a:r>
              <a:rPr lang="en-US" dirty="0"/>
              <a:t>. Not well maintained, but provides easy visualization if you have </a:t>
            </a:r>
            <a:r>
              <a:rPr lang="en-US" dirty="0" err="1"/>
              <a:t>pseudoaligned</a:t>
            </a:r>
            <a:r>
              <a:rPr lang="en-US" dirty="0"/>
              <a:t> with </a:t>
            </a:r>
            <a:r>
              <a:rPr lang="en-US" dirty="0" err="1"/>
              <a:t>Kallisto</a:t>
            </a:r>
            <a:r>
              <a:rPr lang="en-US" dirty="0"/>
              <a:t>. Produces PCA plots and can give you the PCA loadings.</a:t>
            </a:r>
          </a:p>
          <a:p>
            <a:r>
              <a:rPr lang="en-US" b="1" dirty="0"/>
              <a:t>DeSeq2 and </a:t>
            </a:r>
            <a:r>
              <a:rPr lang="en-US" b="1" dirty="0" err="1"/>
              <a:t>edgeR</a:t>
            </a:r>
            <a:r>
              <a:rPr lang="en-US" dirty="0"/>
              <a:t>: Tools have built in visualization methods for RNA-Seq. Often accessible in R.</a:t>
            </a:r>
          </a:p>
          <a:p>
            <a:r>
              <a:rPr lang="en-US" b="1" dirty="0"/>
              <a:t>R</a:t>
            </a:r>
            <a:r>
              <a:rPr lang="en-US" dirty="0"/>
              <a:t>:</a:t>
            </a:r>
            <a:r>
              <a:rPr lang="en-US" b="1" dirty="0"/>
              <a:t>ggplot2 &amp; Bioconductor packages</a:t>
            </a:r>
            <a:r>
              <a:rPr lang="en-US" dirty="0"/>
              <a:t>: Essential for high-quality plots and specialized bioinformatics visualizations (e.g., DESeq2, </a:t>
            </a:r>
            <a:r>
              <a:rPr lang="en-US" dirty="0" err="1"/>
              <a:t>edgeR</a:t>
            </a:r>
            <a:r>
              <a:rPr lang="en-US" dirty="0"/>
              <a:t>).</a:t>
            </a:r>
          </a:p>
          <a:p>
            <a:pPr marL="0" indent="0">
              <a:buNone/>
            </a:pPr>
            <a:endParaRPr lang="en-US" dirty="0"/>
          </a:p>
        </p:txBody>
      </p:sp>
    </p:spTree>
    <p:extLst>
      <p:ext uri="{BB962C8B-B14F-4D97-AF65-F5344CB8AC3E}">
        <p14:creationId xmlns:p14="http://schemas.microsoft.com/office/powerpoint/2010/main" val="2066842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367CE-A7B4-B4B6-5712-E32EA1763E73}"/>
              </a:ext>
            </a:extLst>
          </p:cNvPr>
          <p:cNvSpPr>
            <a:spLocks noGrp="1"/>
          </p:cNvSpPr>
          <p:nvPr>
            <p:ph type="title"/>
          </p:nvPr>
        </p:nvSpPr>
        <p:spPr/>
        <p:txBody>
          <a:bodyPr/>
          <a:lstStyle/>
          <a:p>
            <a:r>
              <a:rPr lang="en-US" dirty="0"/>
              <a:t>Troubleshooting using visualization</a:t>
            </a:r>
          </a:p>
        </p:txBody>
      </p:sp>
      <p:sp>
        <p:nvSpPr>
          <p:cNvPr id="3" name="Content Placeholder 2">
            <a:extLst>
              <a:ext uri="{FF2B5EF4-FFF2-40B4-BE49-F238E27FC236}">
                <a16:creationId xmlns:a16="http://schemas.microsoft.com/office/drawing/2014/main" id="{B130B99D-40FE-C99E-1797-8082C8245C50}"/>
              </a:ext>
            </a:extLst>
          </p:cNvPr>
          <p:cNvSpPr>
            <a:spLocks noGrp="1"/>
          </p:cNvSpPr>
          <p:nvPr>
            <p:ph idx="1"/>
          </p:nvPr>
        </p:nvSpPr>
        <p:spPr/>
        <p:txBody>
          <a:bodyPr>
            <a:normAutofit fontScale="92500"/>
          </a:bodyPr>
          <a:lstStyle/>
          <a:p>
            <a:r>
              <a:rPr lang="en-US" dirty="0"/>
              <a:t>PCA Loadings Analysis: </a:t>
            </a:r>
          </a:p>
          <a:p>
            <a:pPr lvl="1"/>
            <a:r>
              <a:rPr lang="en-US" dirty="0"/>
              <a:t>Examine PCA loadings to identify the most important genes contributing to principal components. If housekeeping genes or </a:t>
            </a:r>
            <a:r>
              <a:rPr lang="en-US" dirty="0" err="1"/>
              <a:t>lncRNAs</a:t>
            </a:r>
            <a:r>
              <a:rPr lang="en-US" dirty="0"/>
              <a:t> dominate the loadings, differences may be superficial rather than biologically meaningful. </a:t>
            </a:r>
          </a:p>
          <a:p>
            <a:pPr lvl="1"/>
            <a:r>
              <a:rPr lang="en-US" dirty="0"/>
              <a:t>Identifying such patterns can help in deciding if certain samples or genes are causing misleading variation. </a:t>
            </a:r>
          </a:p>
          <a:p>
            <a:r>
              <a:rPr lang="en-US" dirty="0"/>
              <a:t>Troubleshooting with RNA-Seq Visualizations: </a:t>
            </a:r>
          </a:p>
          <a:p>
            <a:pPr lvl="1"/>
            <a:r>
              <a:rPr lang="en-US" dirty="0"/>
              <a:t>Use PCA plots to assess clustering; poorly clustered replicates could indicate technical issues. </a:t>
            </a:r>
          </a:p>
          <a:p>
            <a:pPr lvl="1"/>
            <a:r>
              <a:rPr lang="en-US" dirty="0"/>
              <a:t>MA and volcano plots help identify problematic genes with unexpected behavior across conditions. For example, a gene well known to be upregulated in breast cancer is downregulated in breast cancer samples.</a:t>
            </a:r>
          </a:p>
        </p:txBody>
      </p:sp>
    </p:spTree>
    <p:extLst>
      <p:ext uri="{BB962C8B-B14F-4D97-AF65-F5344CB8AC3E}">
        <p14:creationId xmlns:p14="http://schemas.microsoft.com/office/powerpoint/2010/main" val="285409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A3800-38EB-C77F-DBD6-82C728A72C3F}"/>
              </a:ext>
            </a:extLst>
          </p:cNvPr>
          <p:cNvSpPr>
            <a:spLocks noGrp="1"/>
          </p:cNvSpPr>
          <p:nvPr>
            <p:ph type="title"/>
          </p:nvPr>
        </p:nvSpPr>
        <p:spPr/>
        <p:txBody>
          <a:bodyPr/>
          <a:lstStyle/>
          <a:p>
            <a:r>
              <a:rPr lang="en-US" dirty="0"/>
              <a:t>Gene Fusion</a:t>
            </a:r>
          </a:p>
        </p:txBody>
      </p:sp>
      <p:sp>
        <p:nvSpPr>
          <p:cNvPr id="3" name="Content Placeholder 2">
            <a:extLst>
              <a:ext uri="{FF2B5EF4-FFF2-40B4-BE49-F238E27FC236}">
                <a16:creationId xmlns:a16="http://schemas.microsoft.com/office/drawing/2014/main" id="{B3F93F2E-1D62-3EE7-B23F-DEA63CE2FF98}"/>
              </a:ext>
            </a:extLst>
          </p:cNvPr>
          <p:cNvSpPr>
            <a:spLocks noGrp="1"/>
          </p:cNvSpPr>
          <p:nvPr>
            <p:ph idx="1"/>
          </p:nvPr>
        </p:nvSpPr>
        <p:spPr/>
        <p:txBody>
          <a:bodyPr/>
          <a:lstStyle/>
          <a:p>
            <a:r>
              <a:rPr lang="en-US" b="1" dirty="0"/>
              <a:t>Gene Fusion</a:t>
            </a:r>
            <a:r>
              <a:rPr lang="en-US" dirty="0"/>
              <a:t>: Gene fusions occur when parts of two different genes are joined together. These fused genes are often implicated in cancer. </a:t>
            </a:r>
          </a:p>
          <a:p>
            <a:r>
              <a:rPr lang="en-US" dirty="0"/>
              <a:t>Tools to Detect Gene Fusion: </a:t>
            </a:r>
          </a:p>
          <a:p>
            <a:pPr lvl="1"/>
            <a:r>
              <a:rPr lang="en-US" b="1" dirty="0"/>
              <a:t>STAR-Fusion</a:t>
            </a:r>
            <a:r>
              <a:rPr lang="en-US" dirty="0"/>
              <a:t>: A popular tool for detecting gene fusions from RNA-seq data using the STAR aligner. </a:t>
            </a:r>
          </a:p>
          <a:p>
            <a:pPr lvl="1"/>
            <a:r>
              <a:rPr lang="en-US" b="1" dirty="0" err="1"/>
              <a:t>Kallisto</a:t>
            </a:r>
            <a:r>
              <a:rPr lang="en-US" dirty="0"/>
              <a:t>: Has an option for gene fusion detection in addition to its main function of quantifying transcript abundances.</a:t>
            </a:r>
          </a:p>
        </p:txBody>
      </p:sp>
    </p:spTree>
    <p:extLst>
      <p:ext uri="{BB962C8B-B14F-4D97-AF65-F5344CB8AC3E}">
        <p14:creationId xmlns:p14="http://schemas.microsoft.com/office/powerpoint/2010/main" val="440805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9B2D1-7508-97C5-F18F-41C67F87AA1A}"/>
              </a:ext>
            </a:extLst>
          </p:cNvPr>
          <p:cNvSpPr>
            <a:spLocks noGrp="1"/>
          </p:cNvSpPr>
          <p:nvPr>
            <p:ph type="title"/>
          </p:nvPr>
        </p:nvSpPr>
        <p:spPr/>
        <p:txBody>
          <a:bodyPr/>
          <a:lstStyle/>
          <a:p>
            <a:r>
              <a:rPr lang="en-US" dirty="0"/>
              <a:t>Other quality control tools</a:t>
            </a:r>
          </a:p>
        </p:txBody>
      </p:sp>
      <p:sp>
        <p:nvSpPr>
          <p:cNvPr id="3" name="Content Placeholder 2">
            <a:extLst>
              <a:ext uri="{FF2B5EF4-FFF2-40B4-BE49-F238E27FC236}">
                <a16:creationId xmlns:a16="http://schemas.microsoft.com/office/drawing/2014/main" id="{EEA0ACFE-22E5-9D8D-CF18-A6CFFA947797}"/>
              </a:ext>
            </a:extLst>
          </p:cNvPr>
          <p:cNvSpPr>
            <a:spLocks noGrp="1"/>
          </p:cNvSpPr>
          <p:nvPr>
            <p:ph idx="1"/>
          </p:nvPr>
        </p:nvSpPr>
        <p:spPr/>
        <p:txBody>
          <a:bodyPr/>
          <a:lstStyle/>
          <a:p>
            <a:r>
              <a:rPr lang="en-US" dirty="0" err="1"/>
              <a:t>RSeQC</a:t>
            </a:r>
            <a:r>
              <a:rPr lang="en-US" dirty="0"/>
              <a:t>: Performed after read alignment, before downstream analysis. Purpose: Provides metrics like read distribution, gene body coverage, GC content, helping detect RNA degradation and technical biases. </a:t>
            </a:r>
          </a:p>
          <a:p>
            <a:r>
              <a:rPr lang="en-US" b="1" dirty="0" err="1"/>
              <a:t>MultiQC</a:t>
            </a:r>
            <a:r>
              <a:rPr lang="en-US" dirty="0"/>
              <a:t>: Aggregates QC reports to identify trends, batch effects, and outliers, providing a summary across all samples</a:t>
            </a:r>
          </a:p>
        </p:txBody>
      </p:sp>
    </p:spTree>
    <p:extLst>
      <p:ext uri="{BB962C8B-B14F-4D97-AF65-F5344CB8AC3E}">
        <p14:creationId xmlns:p14="http://schemas.microsoft.com/office/powerpoint/2010/main" val="15573923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704AF-6A6C-5A9A-E161-36BF40BB36CE}"/>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216A5264-AB5F-A35F-4001-5A7E14700770}"/>
              </a:ext>
            </a:extLst>
          </p:cNvPr>
          <p:cNvSpPr>
            <a:spLocks noGrp="1"/>
          </p:cNvSpPr>
          <p:nvPr>
            <p:ph idx="1"/>
          </p:nvPr>
        </p:nvSpPr>
        <p:spPr>
          <a:xfrm>
            <a:off x="491113" y="1401565"/>
            <a:ext cx="11209773" cy="4805082"/>
          </a:xfrm>
        </p:spPr>
        <p:txBody>
          <a:bodyPr>
            <a:normAutofit/>
          </a:bodyPr>
          <a:lstStyle/>
          <a:p>
            <a:r>
              <a:rPr lang="en-US" sz="1600" b="1" dirty="0"/>
              <a:t>Quality Control: </a:t>
            </a:r>
            <a:r>
              <a:rPr lang="en-US" sz="1600" b="1" dirty="0" err="1"/>
              <a:t>FastQC</a:t>
            </a:r>
            <a:r>
              <a:rPr lang="en-US" sz="1600" dirty="0"/>
              <a:t> and </a:t>
            </a:r>
            <a:r>
              <a:rPr lang="en-US" sz="1600" b="1" dirty="0" err="1"/>
              <a:t>Fastq_screen</a:t>
            </a:r>
            <a:r>
              <a:rPr lang="en-US" sz="1600" b="1" dirty="0"/>
              <a:t> </a:t>
            </a:r>
            <a:r>
              <a:rPr lang="en-US" sz="1600" dirty="0"/>
              <a:t>are used for assessing read quality and contamination. Trimming low-quality reads may help but can negatively affect analysis.</a:t>
            </a:r>
          </a:p>
          <a:p>
            <a:r>
              <a:rPr lang="en-US" sz="1600" b="1" dirty="0"/>
              <a:t>Alignment</a:t>
            </a:r>
            <a:r>
              <a:rPr lang="en-US" sz="1600" dirty="0"/>
              <a:t>: </a:t>
            </a:r>
            <a:r>
              <a:rPr lang="en-US" sz="1600" b="1" dirty="0"/>
              <a:t>STAR</a:t>
            </a:r>
            <a:r>
              <a:rPr lang="en-US" sz="1600" dirty="0"/>
              <a:t> is used for high precision and novel splice detection, while </a:t>
            </a:r>
            <a:r>
              <a:rPr lang="en-US" sz="1600" b="1" dirty="0" err="1"/>
              <a:t>Kallisto</a:t>
            </a:r>
            <a:r>
              <a:rPr lang="en-US" sz="1600" dirty="0"/>
              <a:t> is faster and efficient for transcript-level quantification. Alignment-based tools offer accuracy but are computationally intensive, whereas alignment-free tools are faster but have limitations in feature detection.</a:t>
            </a:r>
          </a:p>
          <a:p>
            <a:r>
              <a:rPr lang="en-US" sz="1600" b="1" dirty="0"/>
              <a:t>Quantification</a:t>
            </a:r>
            <a:r>
              <a:rPr lang="en-US" sz="1600" dirty="0"/>
              <a:t>: </a:t>
            </a:r>
            <a:r>
              <a:rPr lang="en-US" sz="1600" b="1" dirty="0" err="1"/>
              <a:t>featureCounts</a:t>
            </a:r>
            <a:r>
              <a:rPr lang="en-US" sz="1600" b="1" dirty="0"/>
              <a:t> </a:t>
            </a:r>
            <a:r>
              <a:rPr lang="en-US" sz="1600" dirty="0"/>
              <a:t>is faster, while </a:t>
            </a:r>
            <a:r>
              <a:rPr lang="en-US" sz="1600" b="1" dirty="0" err="1"/>
              <a:t>HTSeq</a:t>
            </a:r>
            <a:r>
              <a:rPr lang="en-US" sz="1600" b="1" dirty="0"/>
              <a:t>-count</a:t>
            </a:r>
            <a:r>
              <a:rPr lang="en-US" sz="1600" dirty="0"/>
              <a:t> is more accurate. TPM is preferred for comparing expression across samples because it accounts for gene length and sequencing depth.</a:t>
            </a:r>
          </a:p>
          <a:p>
            <a:r>
              <a:rPr lang="en-US" sz="1600" b="1" dirty="0"/>
              <a:t>Differential Gene Expression</a:t>
            </a:r>
            <a:r>
              <a:rPr lang="en-US" sz="1600" dirty="0"/>
              <a:t>:  </a:t>
            </a:r>
            <a:r>
              <a:rPr lang="en-US" sz="1600" b="1" dirty="0"/>
              <a:t>DESeq2</a:t>
            </a:r>
            <a:r>
              <a:rPr lang="en-US" sz="1600" dirty="0"/>
              <a:t> provides robust, accurate analysis of differential expression, whereas </a:t>
            </a:r>
            <a:r>
              <a:rPr lang="en-US" sz="1600" b="1" dirty="0" err="1"/>
              <a:t>edgeR</a:t>
            </a:r>
            <a:r>
              <a:rPr lang="en-US" sz="1600" b="1" dirty="0"/>
              <a:t> </a:t>
            </a:r>
            <a:r>
              <a:rPr lang="en-US" sz="1600" dirty="0"/>
              <a:t>identifies more DEGs but has a higher risk of false positives.</a:t>
            </a:r>
          </a:p>
          <a:p>
            <a:r>
              <a:rPr lang="en-US" sz="1600" dirty="0"/>
              <a:t> </a:t>
            </a:r>
            <a:r>
              <a:rPr lang="en-US" sz="1600" b="1" dirty="0"/>
              <a:t>Pathway Analysis</a:t>
            </a:r>
            <a:r>
              <a:rPr lang="en-US" sz="1600" dirty="0"/>
              <a:t>: </a:t>
            </a:r>
            <a:r>
              <a:rPr lang="en-US" sz="1600" b="1" dirty="0"/>
              <a:t>GSEA</a:t>
            </a:r>
            <a:r>
              <a:rPr lang="en-US" sz="1600" dirty="0"/>
              <a:t> is used for ranked gene set enrichment, while </a:t>
            </a:r>
            <a:r>
              <a:rPr lang="en-US" sz="1600" b="1" dirty="0" err="1"/>
              <a:t>Enrichr</a:t>
            </a:r>
            <a:r>
              <a:rPr lang="en-US" sz="1600" dirty="0"/>
              <a:t> provides a fast, user-friendly tool for analyzing predefined gene lists.</a:t>
            </a:r>
          </a:p>
        </p:txBody>
      </p:sp>
    </p:spTree>
    <p:extLst>
      <p:ext uri="{BB962C8B-B14F-4D97-AF65-F5344CB8AC3E}">
        <p14:creationId xmlns:p14="http://schemas.microsoft.com/office/powerpoint/2010/main" val="5553748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2280</TotalTime>
  <Words>1880</Words>
  <Application>Microsoft Macintosh PowerPoint</Application>
  <PresentationFormat>Widescreen</PresentationFormat>
  <Paragraphs>107</Paragraphs>
  <Slides>23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Century Gothic</vt:lpstr>
      <vt:lpstr>Wingdings 3</vt:lpstr>
      <vt:lpstr>Ion</vt:lpstr>
      <vt:lpstr>RNA-Seq best practices</vt:lpstr>
      <vt:lpstr>Introduction to RNA-Seq best practices</vt:lpstr>
      <vt:lpstr>Best practices during quality control </vt:lpstr>
      <vt:lpstr>Best practices during trimming</vt:lpstr>
      <vt:lpstr>Best practices during alignment</vt:lpstr>
      <vt:lpstr>Evaluation of 7 different alignment tools</vt:lpstr>
      <vt:lpstr>Comparison of 7 different alignment tools</vt:lpstr>
      <vt:lpstr>De novo alignment</vt:lpstr>
      <vt:lpstr>Alignment-free tools/pseudoaligners</vt:lpstr>
      <vt:lpstr>Potential strength of alignment-free tools</vt:lpstr>
      <vt:lpstr>Best practices during quantification</vt:lpstr>
      <vt:lpstr>Quantification of transcripts</vt:lpstr>
      <vt:lpstr>TPM is better than raw counts, but should it always be used? </vt:lpstr>
      <vt:lpstr>Best practices during differential gene expression</vt:lpstr>
      <vt:lpstr>Normalization methods in quantification tools </vt:lpstr>
      <vt:lpstr>Which normalization method should be used and when?</vt:lpstr>
      <vt:lpstr>DeSeq2 and edgeR may exaggerate false positives</vt:lpstr>
      <vt:lpstr>Best practices for pathway analysis</vt:lpstr>
      <vt:lpstr>Best practices for visualization</vt:lpstr>
      <vt:lpstr>Troubleshooting using visualization</vt:lpstr>
      <vt:lpstr>Gene Fusion</vt:lpstr>
      <vt:lpstr>Other quality control tools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Rouse</dc:creator>
  <cp:lastModifiedBy>James Rouse</cp:lastModifiedBy>
  <cp:revision>8</cp:revision>
  <dcterms:created xsi:type="dcterms:W3CDTF">2024-09-25T13:22:32Z</dcterms:created>
  <dcterms:modified xsi:type="dcterms:W3CDTF">2024-10-02T21:01:14Z</dcterms:modified>
</cp:coreProperties>
</file>