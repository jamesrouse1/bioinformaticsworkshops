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56" r:id="rId2"/>
    <p:sldId id="257" r:id="rId3"/>
    <p:sldId id="281" r:id="rId4"/>
    <p:sldId id="263" r:id="rId5"/>
    <p:sldId id="264" r:id="rId6"/>
    <p:sldId id="273" r:id="rId7"/>
    <p:sldId id="276" r:id="rId8"/>
    <p:sldId id="278" r:id="rId9"/>
    <p:sldId id="279" r:id="rId10"/>
    <p:sldId id="280" r:id="rId11"/>
    <p:sldId id="274" r:id="rId12"/>
    <p:sldId id="270" r:id="rId13"/>
    <p:sldId id="283" r:id="rId14"/>
    <p:sldId id="282" r:id="rId15"/>
    <p:sldId id="275" r:id="rId16"/>
    <p:sldId id="284" r:id="rId17"/>
    <p:sldId id="260" r:id="rId18"/>
    <p:sldId id="285" r:id="rId19"/>
    <p:sldId id="27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00"/>
    <p:restoredTop sz="69620"/>
  </p:normalViewPr>
  <p:slideViewPr>
    <p:cSldViewPr snapToGrid="0">
      <p:cViewPr varScale="1">
        <p:scale>
          <a:sx n="73" d="100"/>
          <a:sy n="73" d="100"/>
        </p:scale>
        <p:origin x="2072" y="200"/>
      </p:cViewPr>
      <p:guideLst/>
    </p:cSldViewPr>
  </p:slideViewPr>
  <p:notesTextViewPr>
    <p:cViewPr>
      <p:scale>
        <a:sx n="1" d="1"/>
        <a:sy n="1" d="1"/>
      </p:scale>
      <p:origin x="0" y="-67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16E33-AE81-1D4F-8092-2CB446FF2BA4}" type="datetimeFigureOut">
              <a:rPr lang="en-US" smtClean="0"/>
              <a:t>11/5/24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6711DA-4866-7946-B47E-DA09553C85C8}" type="slidenum">
              <a:rPr lang="en-US" smtClean="0"/>
              <a:t>‹#›</a:t>
            </a:fld>
            <a:endParaRPr lang="en-US"/>
          </a:p>
        </p:txBody>
      </p:sp>
    </p:spTree>
    <p:extLst>
      <p:ext uri="{BB962C8B-B14F-4D97-AF65-F5344CB8AC3E}">
        <p14:creationId xmlns:p14="http://schemas.microsoft.com/office/powerpoint/2010/main" val="2964766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Adapter trimming. Multi bigwig summary and then do PCA. </a:t>
            </a:r>
          </a:p>
          <a:p>
            <a:endParaRPr lang="en-US" dirty="0"/>
          </a:p>
          <a:p>
            <a:r>
              <a:rPr lang="en-US" dirty="0" err="1"/>
              <a:t>DeepTools</a:t>
            </a:r>
            <a:r>
              <a:rPr lang="en-US" dirty="0"/>
              <a:t>, summarize multiple bigwigs and plot the PCA for </a:t>
            </a:r>
            <a:r>
              <a:rPr lang="en-US" dirty="0" err="1"/>
              <a:t>ChIP</a:t>
            </a:r>
            <a:r>
              <a:rPr lang="en-US" dirty="0"/>
              <a:t>-Seq and ATAC-seq</a:t>
            </a:r>
          </a:p>
          <a:p>
            <a:endParaRPr lang="en-US" dirty="0"/>
          </a:p>
          <a:p>
            <a:r>
              <a:rPr lang="en-US" dirty="0" err="1"/>
              <a:t>DiffBind</a:t>
            </a:r>
            <a:r>
              <a:rPr lang="en-US" dirty="0"/>
              <a:t> shows </a:t>
            </a:r>
            <a:r>
              <a:rPr lang="en-US" dirty="0" err="1"/>
              <a:t>venn</a:t>
            </a:r>
            <a:r>
              <a:rPr lang="en-US" dirty="0"/>
              <a:t> diagram of which sites are common to both</a:t>
            </a:r>
          </a:p>
          <a:p>
            <a:endParaRPr lang="en-US" dirty="0"/>
          </a:p>
          <a:p>
            <a:r>
              <a:rPr lang="en-US" dirty="0"/>
              <a:t>Quantify how many peaks are in certain regions. </a:t>
            </a:r>
            <a:r>
              <a:rPr lang="en-US" dirty="0" err="1"/>
              <a:t>DiffBind</a:t>
            </a:r>
            <a:r>
              <a:rPr lang="en-US" dirty="0"/>
              <a:t> include occupancy and affinity.</a:t>
            </a:r>
          </a:p>
          <a:p>
            <a:endParaRPr lang="en-US" dirty="0"/>
          </a:p>
          <a:p>
            <a:r>
              <a:rPr lang="en-US" dirty="0"/>
              <a:t>Normalize to the background in ATAC-seq. Run on DeSeq2 and </a:t>
            </a:r>
            <a:r>
              <a:rPr lang="en-US" dirty="0" err="1"/>
              <a:t>edgeR</a:t>
            </a:r>
            <a:r>
              <a:rPr lang="en-US" dirty="0"/>
              <a:t> for normalization. </a:t>
            </a:r>
          </a:p>
          <a:p>
            <a:endParaRPr lang="en-US" dirty="0"/>
          </a:p>
          <a:p>
            <a:r>
              <a:rPr lang="en-US" dirty="0"/>
              <a:t>Results are similar and you overlap the results. </a:t>
            </a:r>
          </a:p>
          <a:p>
            <a:endParaRPr lang="en-US" dirty="0"/>
          </a:p>
          <a:p>
            <a:r>
              <a:rPr lang="en-US" dirty="0"/>
              <a:t>Gain or loss in open regions. Global openness. </a:t>
            </a:r>
          </a:p>
          <a:p>
            <a:endParaRPr lang="en-US" dirty="0"/>
          </a:p>
          <a:p>
            <a:r>
              <a:rPr lang="en-US" dirty="0"/>
              <a:t>Examine specific regions or investigate the global openness.</a:t>
            </a:r>
          </a:p>
          <a:p>
            <a:endParaRPr lang="en-US" dirty="0"/>
          </a:p>
          <a:p>
            <a:r>
              <a:rPr lang="en-US" dirty="0"/>
              <a:t>Can have 1 sample if just trying to answer yes or no question not </a:t>
            </a:r>
            <a:r>
              <a:rPr lang="en-US"/>
              <a:t>differentially comparing. </a:t>
            </a:r>
            <a:endParaRPr lang="en-US" dirty="0"/>
          </a:p>
        </p:txBody>
      </p:sp>
      <p:sp>
        <p:nvSpPr>
          <p:cNvPr id="4" name="Slide Number Placeholder 3"/>
          <p:cNvSpPr>
            <a:spLocks noGrp="1"/>
          </p:cNvSpPr>
          <p:nvPr>
            <p:ph type="sldNum" sz="quarter" idx="5"/>
          </p:nvPr>
        </p:nvSpPr>
        <p:spPr/>
        <p:txBody>
          <a:bodyPr/>
          <a:lstStyle/>
          <a:p>
            <a:fld id="{416711DA-4866-7946-B47E-DA09553C85C8}" type="slidenum">
              <a:rPr lang="en-US" smtClean="0"/>
              <a:t>19</a:t>
            </a:fld>
            <a:endParaRPr lang="en-US"/>
          </a:p>
        </p:txBody>
      </p:sp>
    </p:spTree>
    <p:extLst>
      <p:ext uri="{BB962C8B-B14F-4D97-AF65-F5344CB8AC3E}">
        <p14:creationId xmlns:p14="http://schemas.microsoft.com/office/powerpoint/2010/main" val="77605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11/5/24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11/5/24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11/5/24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11/5/24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11/5/24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11/5/24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11/5/24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11/5/24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11/5/24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11/5/24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11/5/24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11/5/24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11/5/24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file:///Users/jimmyrouse/Downloads/Rigor%20and%20Reproducibility%20in%20Genetics%20and%20Genomics_2023_Ch%2013%20Best%20practices%20for%20the%20ATAC-seq%20assay%20and%20its%20data%20analysis.pdf"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ncbi.nlm.nih.gov/pmc/articles/PMC4765064/"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bmcgenomics.biomedcentral.com/articles/10.1186/s12864-018-4559-3#Tab1"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bigmonty12.github.io/peak-calling-benchmark"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file:///Users/jimmyrouse/Downloads/Rigor%20and%20Reproducibility%20in%20Genetics%20and%20Genomics_2023_Ch%2013%20Best%20practices%20for%20the%20ATAC-seq%20assay%20and%20its%20data%20analysis.pdf"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file:///Users/jimmyrouse/Downloads/Rigor%20and%20Reproducibility%20in%20Genetics%20and%20Genomics_2023_Ch%2013%20Best%20practices%20for%20the%20ATAC-seq%20assay%20and%20its%20data%20analysis.pdf"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file:///Users/jimmyrouse/Downloads/Rigor%20and%20Reproducibility%20in%20Genetics%20and%20Genomics_2023_Ch%2013%20Best%20practices%20for%20the%20ATAC-seq%20assay%20and%20its%20data%20analysis.pdf"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C9F00-10B0-D599-70A0-F6B9D7DC3F29}"/>
              </a:ext>
            </a:extLst>
          </p:cNvPr>
          <p:cNvSpPr>
            <a:spLocks noGrp="1"/>
          </p:cNvSpPr>
          <p:nvPr>
            <p:ph type="ctrTitle"/>
          </p:nvPr>
        </p:nvSpPr>
        <p:spPr/>
        <p:txBody>
          <a:bodyPr/>
          <a:lstStyle/>
          <a:p>
            <a:r>
              <a:rPr lang="en-US" dirty="0"/>
              <a:t>ATAC-Seq Best Practices</a:t>
            </a:r>
          </a:p>
        </p:txBody>
      </p:sp>
      <p:sp>
        <p:nvSpPr>
          <p:cNvPr id="3" name="Subtitle 2">
            <a:extLst>
              <a:ext uri="{FF2B5EF4-FFF2-40B4-BE49-F238E27FC236}">
                <a16:creationId xmlns:a16="http://schemas.microsoft.com/office/drawing/2014/main" id="{F046A312-FECF-5F2A-054A-9975AE41162C}"/>
              </a:ext>
            </a:extLst>
          </p:cNvPr>
          <p:cNvSpPr>
            <a:spLocks noGrp="1"/>
          </p:cNvSpPr>
          <p:nvPr>
            <p:ph type="subTitle" idx="1"/>
          </p:nvPr>
        </p:nvSpPr>
        <p:spPr/>
        <p:txBody>
          <a:bodyPr/>
          <a:lstStyle/>
          <a:p>
            <a:r>
              <a:rPr lang="en-US" dirty="0"/>
              <a:t>James Rouse</a:t>
            </a:r>
          </a:p>
        </p:txBody>
      </p:sp>
    </p:spTree>
    <p:extLst>
      <p:ext uri="{BB962C8B-B14F-4D97-AF65-F5344CB8AC3E}">
        <p14:creationId xmlns:p14="http://schemas.microsoft.com/office/powerpoint/2010/main" val="1751599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8AA95-E4A8-0FA6-69E5-E700AB8A5F4A}"/>
              </a:ext>
            </a:extLst>
          </p:cNvPr>
          <p:cNvSpPr>
            <a:spLocks noGrp="1"/>
          </p:cNvSpPr>
          <p:nvPr>
            <p:ph type="title"/>
          </p:nvPr>
        </p:nvSpPr>
        <p:spPr/>
        <p:txBody>
          <a:bodyPr/>
          <a:lstStyle/>
          <a:p>
            <a:r>
              <a:rPr lang="en-US" dirty="0"/>
              <a:t>ATAC-Seq</a:t>
            </a:r>
          </a:p>
        </p:txBody>
      </p:sp>
      <p:sp>
        <p:nvSpPr>
          <p:cNvPr id="3" name="Content Placeholder 2">
            <a:extLst>
              <a:ext uri="{FF2B5EF4-FFF2-40B4-BE49-F238E27FC236}">
                <a16:creationId xmlns:a16="http://schemas.microsoft.com/office/drawing/2014/main" id="{641EAC0B-0FBD-7E66-C138-0B269B65E6C4}"/>
              </a:ext>
            </a:extLst>
          </p:cNvPr>
          <p:cNvSpPr>
            <a:spLocks noGrp="1"/>
          </p:cNvSpPr>
          <p:nvPr>
            <p:ph idx="1"/>
          </p:nvPr>
        </p:nvSpPr>
        <p:spPr>
          <a:xfrm>
            <a:off x="1104293" y="1645145"/>
            <a:ext cx="8946541" cy="4195481"/>
          </a:xfrm>
        </p:spPr>
        <p:txBody>
          <a:bodyPr/>
          <a:lstStyle/>
          <a:p>
            <a:r>
              <a:rPr lang="en-US" dirty="0"/>
              <a:t>Maps open chromatin regions, revealing active regulatory elements like promoters and enhancers. </a:t>
            </a:r>
          </a:p>
          <a:p>
            <a:r>
              <a:rPr lang="en-US" dirty="0"/>
              <a:t>While similar to </a:t>
            </a:r>
            <a:r>
              <a:rPr lang="en-US" dirty="0" err="1"/>
              <a:t>ChIP</a:t>
            </a:r>
            <a:r>
              <a:rPr lang="en-US" dirty="0"/>
              <a:t>-seq, which focuses on specific protein-DNA interactions, ATAC-seq provides a more global view of chromatin accessibility without the need for antibodies.</a:t>
            </a:r>
          </a:p>
          <a:p>
            <a:pPr marL="0" indent="0">
              <a:buNone/>
            </a:pPr>
            <a:endParaRPr lang="en-US" dirty="0"/>
          </a:p>
        </p:txBody>
      </p:sp>
    </p:spTree>
    <p:extLst>
      <p:ext uri="{BB962C8B-B14F-4D97-AF65-F5344CB8AC3E}">
        <p14:creationId xmlns:p14="http://schemas.microsoft.com/office/powerpoint/2010/main" val="3173196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7E631-10FC-79BE-AB3F-CB356FC9DEB4}"/>
              </a:ext>
            </a:extLst>
          </p:cNvPr>
          <p:cNvSpPr>
            <a:spLocks noGrp="1"/>
          </p:cNvSpPr>
          <p:nvPr>
            <p:ph type="title"/>
          </p:nvPr>
        </p:nvSpPr>
        <p:spPr/>
        <p:txBody>
          <a:bodyPr/>
          <a:lstStyle/>
          <a:p>
            <a:r>
              <a:rPr lang="en-US" dirty="0"/>
              <a:t>Experimental Design</a:t>
            </a:r>
          </a:p>
        </p:txBody>
      </p:sp>
      <p:sp>
        <p:nvSpPr>
          <p:cNvPr id="3" name="Content Placeholder 2">
            <a:extLst>
              <a:ext uri="{FF2B5EF4-FFF2-40B4-BE49-F238E27FC236}">
                <a16:creationId xmlns:a16="http://schemas.microsoft.com/office/drawing/2014/main" id="{F8E5EC47-63BC-950A-A4E4-71B48B74BD5D}"/>
              </a:ext>
            </a:extLst>
          </p:cNvPr>
          <p:cNvSpPr>
            <a:spLocks noGrp="1"/>
          </p:cNvSpPr>
          <p:nvPr>
            <p:ph idx="1"/>
          </p:nvPr>
        </p:nvSpPr>
        <p:spPr/>
        <p:txBody>
          <a:bodyPr/>
          <a:lstStyle/>
          <a:p>
            <a:r>
              <a:rPr lang="en-US" dirty="0"/>
              <a:t>Majority of published ATAC-seq experiments have two biological replicates, but 3 or more is recommended – </a:t>
            </a:r>
            <a:r>
              <a:rPr lang="en-US" dirty="0">
                <a:hlinkClick r:id="rId2"/>
              </a:rPr>
              <a:t>Liu et al</a:t>
            </a:r>
            <a:r>
              <a:rPr lang="en-US" dirty="0"/>
              <a:t>. </a:t>
            </a:r>
          </a:p>
          <a:p>
            <a:r>
              <a:rPr lang="en-US" dirty="0"/>
              <a:t>To be cost-effective, input controls are usually not performed in ATAC-seq. </a:t>
            </a:r>
          </a:p>
          <a:p>
            <a:r>
              <a:rPr lang="en-US" dirty="0"/>
              <a:t>Tn5 transposase selectively targets open chromatin, typically creating low-background data with a clear signal from accessible regions</a:t>
            </a:r>
          </a:p>
        </p:txBody>
      </p:sp>
    </p:spTree>
    <p:extLst>
      <p:ext uri="{BB962C8B-B14F-4D97-AF65-F5344CB8AC3E}">
        <p14:creationId xmlns:p14="http://schemas.microsoft.com/office/powerpoint/2010/main" val="3499113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BFFD6-9A5C-0ADC-C6C0-2C6FE2EAF7D5}"/>
              </a:ext>
            </a:extLst>
          </p:cNvPr>
          <p:cNvSpPr>
            <a:spLocks noGrp="1"/>
          </p:cNvSpPr>
          <p:nvPr>
            <p:ph type="title"/>
          </p:nvPr>
        </p:nvSpPr>
        <p:spPr/>
        <p:txBody>
          <a:bodyPr/>
          <a:lstStyle/>
          <a:p>
            <a:r>
              <a:rPr lang="en-US" dirty="0"/>
              <a:t>Best practices during quality control of sequence reads</a:t>
            </a:r>
          </a:p>
        </p:txBody>
      </p:sp>
      <p:sp>
        <p:nvSpPr>
          <p:cNvPr id="3" name="Content Placeholder 2">
            <a:extLst>
              <a:ext uri="{FF2B5EF4-FFF2-40B4-BE49-F238E27FC236}">
                <a16:creationId xmlns:a16="http://schemas.microsoft.com/office/drawing/2014/main" id="{0527510A-A7FB-24E4-E72C-11C85713D223}"/>
              </a:ext>
            </a:extLst>
          </p:cNvPr>
          <p:cNvSpPr>
            <a:spLocks noGrp="1"/>
          </p:cNvSpPr>
          <p:nvPr>
            <p:ph idx="1"/>
          </p:nvPr>
        </p:nvSpPr>
        <p:spPr>
          <a:xfrm>
            <a:off x="331788" y="2091299"/>
            <a:ext cx="5978525" cy="4195481"/>
          </a:xfrm>
        </p:spPr>
        <p:txBody>
          <a:bodyPr>
            <a:normAutofit fontScale="92500" lnSpcReduction="20000"/>
          </a:bodyPr>
          <a:lstStyle/>
          <a:p>
            <a:r>
              <a:rPr lang="en-US" b="1" dirty="0"/>
              <a:t>Purpose: </a:t>
            </a:r>
            <a:r>
              <a:rPr lang="en-US" dirty="0"/>
              <a:t>Assess the quality of the reads and ensure that the sequencing data is of high quality and reliable for downstream analysis.</a:t>
            </a:r>
          </a:p>
          <a:p>
            <a:r>
              <a:rPr lang="en-US" b="1" dirty="0" err="1"/>
              <a:t>FastQC</a:t>
            </a:r>
            <a:r>
              <a:rPr lang="en-US" dirty="0"/>
              <a:t>: Identifies potential issues such as poor read quality, adapter contamination, and sequence biases. </a:t>
            </a:r>
          </a:p>
          <a:p>
            <a:r>
              <a:rPr lang="en-US" b="1" dirty="0" err="1"/>
              <a:t>MultiQC</a:t>
            </a:r>
            <a:r>
              <a:rPr lang="en-US" dirty="0"/>
              <a:t>: Aggregates QC reports to identify trends, batch effects, and outliers, providing a summary across all samples</a:t>
            </a:r>
          </a:p>
          <a:p>
            <a:r>
              <a:rPr lang="en-US" b="1" dirty="0" err="1"/>
              <a:t>Fastq_screen</a:t>
            </a:r>
            <a:r>
              <a:rPr lang="en-US" dirty="0"/>
              <a:t>: Aligns reads to multiple reference genomes/databases. Good way to detect contamination.</a:t>
            </a:r>
          </a:p>
          <a:p>
            <a:r>
              <a:rPr lang="en-US" dirty="0"/>
              <a:t>Resequencing often recommended if the results of the </a:t>
            </a:r>
            <a:r>
              <a:rPr lang="en-US" dirty="0" err="1"/>
              <a:t>FastQC</a:t>
            </a:r>
            <a:r>
              <a:rPr lang="en-US" dirty="0"/>
              <a:t> report are poor.</a:t>
            </a:r>
          </a:p>
        </p:txBody>
      </p:sp>
      <p:pic>
        <p:nvPicPr>
          <p:cNvPr id="4" name="Picture 3">
            <a:extLst>
              <a:ext uri="{FF2B5EF4-FFF2-40B4-BE49-F238E27FC236}">
                <a16:creationId xmlns:a16="http://schemas.microsoft.com/office/drawing/2014/main" id="{A7A5EEE8-B9E9-1395-72D9-A144417A2739}"/>
              </a:ext>
            </a:extLst>
          </p:cNvPr>
          <p:cNvPicPr>
            <a:picLocks noChangeAspect="1"/>
          </p:cNvPicPr>
          <p:nvPr/>
        </p:nvPicPr>
        <p:blipFill>
          <a:blip r:embed="rId2"/>
          <a:stretch>
            <a:fillRect/>
          </a:stretch>
        </p:blipFill>
        <p:spPr>
          <a:xfrm>
            <a:off x="6513385" y="2095781"/>
            <a:ext cx="5561140" cy="3442184"/>
          </a:xfrm>
          <a:prstGeom prst="rect">
            <a:avLst/>
          </a:prstGeom>
        </p:spPr>
      </p:pic>
    </p:spTree>
    <p:extLst>
      <p:ext uri="{BB962C8B-B14F-4D97-AF65-F5344CB8AC3E}">
        <p14:creationId xmlns:p14="http://schemas.microsoft.com/office/powerpoint/2010/main" val="1359176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C25C4-333D-7399-8C34-5F2F012E6ADA}"/>
              </a:ext>
            </a:extLst>
          </p:cNvPr>
          <p:cNvSpPr>
            <a:spLocks noGrp="1"/>
          </p:cNvSpPr>
          <p:nvPr>
            <p:ph type="title"/>
          </p:nvPr>
        </p:nvSpPr>
        <p:spPr/>
        <p:txBody>
          <a:bodyPr/>
          <a:lstStyle/>
          <a:p>
            <a:r>
              <a:rPr lang="en-US" dirty="0"/>
              <a:t>Best practices during alignment</a:t>
            </a:r>
          </a:p>
        </p:txBody>
      </p:sp>
      <p:sp>
        <p:nvSpPr>
          <p:cNvPr id="3" name="Content Placeholder 2">
            <a:extLst>
              <a:ext uri="{FF2B5EF4-FFF2-40B4-BE49-F238E27FC236}">
                <a16:creationId xmlns:a16="http://schemas.microsoft.com/office/drawing/2014/main" id="{19E33B7A-DE02-FB56-9306-15E37C170070}"/>
              </a:ext>
            </a:extLst>
          </p:cNvPr>
          <p:cNvSpPr>
            <a:spLocks noGrp="1"/>
          </p:cNvSpPr>
          <p:nvPr>
            <p:ph idx="1"/>
          </p:nvPr>
        </p:nvSpPr>
        <p:spPr/>
        <p:txBody>
          <a:bodyPr/>
          <a:lstStyle/>
          <a:p>
            <a:r>
              <a:rPr lang="en-US" b="1" dirty="0"/>
              <a:t>BWA</a:t>
            </a:r>
            <a:r>
              <a:rPr lang="en-US" dirty="0"/>
              <a:t> and </a:t>
            </a:r>
            <a:r>
              <a:rPr lang="en-US" b="1" dirty="0"/>
              <a:t>Bowtie</a:t>
            </a:r>
            <a:r>
              <a:rPr lang="en-US" dirty="0"/>
              <a:t> as main tools for ATAC-Seq: These tools are useful for mapping short reads with high accuracy and stringent control over mismatches.</a:t>
            </a:r>
          </a:p>
          <a:p>
            <a:r>
              <a:rPr lang="en-US" dirty="0">
                <a:hlinkClick r:id="rId2"/>
              </a:rPr>
              <a:t>Zhang et al</a:t>
            </a:r>
            <a:r>
              <a:rPr lang="en-US" dirty="0"/>
              <a:t>: </a:t>
            </a:r>
            <a:r>
              <a:rPr lang="en-US" b="1" dirty="0"/>
              <a:t>Bowtie</a:t>
            </a:r>
            <a:r>
              <a:rPr lang="en-US" dirty="0"/>
              <a:t> often preferable over BWA for ATAC-Seq since Bowtie only reports uniquely mapped reads, resulting in higher alignment accuracy compared to BWA.</a:t>
            </a:r>
          </a:p>
          <a:p>
            <a:r>
              <a:rPr lang="en-US" dirty="0"/>
              <a:t>Other alignment tools like STAR’s advantage of being able to detect novel splice junction and sequencing long reads is less important in ATAC-Seq since it sequences short DNA rather than RNA.</a:t>
            </a:r>
          </a:p>
          <a:p>
            <a:r>
              <a:rPr lang="en-US" dirty="0"/>
              <a:t>Removal of low quality reads and reads with a low mapping score is recommended.</a:t>
            </a:r>
          </a:p>
        </p:txBody>
      </p:sp>
    </p:spTree>
    <p:extLst>
      <p:ext uri="{BB962C8B-B14F-4D97-AF65-F5344CB8AC3E}">
        <p14:creationId xmlns:p14="http://schemas.microsoft.com/office/powerpoint/2010/main" val="3039204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725F-5682-3648-641A-0D5B9FEF92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EBE5A-AC9C-CFED-3CE2-BD0A83E1A1E6}"/>
              </a:ext>
            </a:extLst>
          </p:cNvPr>
          <p:cNvSpPr>
            <a:spLocks noGrp="1"/>
          </p:cNvSpPr>
          <p:nvPr>
            <p:ph type="title"/>
          </p:nvPr>
        </p:nvSpPr>
        <p:spPr/>
        <p:txBody>
          <a:bodyPr/>
          <a:lstStyle/>
          <a:p>
            <a:r>
              <a:rPr lang="en-US" dirty="0"/>
              <a:t>ATAC-seq quality control of aligned reads</a:t>
            </a:r>
          </a:p>
        </p:txBody>
      </p:sp>
      <p:sp>
        <p:nvSpPr>
          <p:cNvPr id="3" name="Content Placeholder 2">
            <a:extLst>
              <a:ext uri="{FF2B5EF4-FFF2-40B4-BE49-F238E27FC236}">
                <a16:creationId xmlns:a16="http://schemas.microsoft.com/office/drawing/2014/main" id="{6A5555CD-CB6F-46F3-4DAD-DBF487037B0A}"/>
              </a:ext>
            </a:extLst>
          </p:cNvPr>
          <p:cNvSpPr>
            <a:spLocks noGrp="1"/>
          </p:cNvSpPr>
          <p:nvPr>
            <p:ph idx="1"/>
          </p:nvPr>
        </p:nvSpPr>
        <p:spPr/>
        <p:txBody>
          <a:bodyPr/>
          <a:lstStyle/>
          <a:p>
            <a:pPr algn="l"/>
            <a:r>
              <a:rPr lang="en-US" dirty="0"/>
              <a:t>Quality control after alignment mainly consists of removing duplicates and uninformative/low</a:t>
            </a:r>
          </a:p>
          <a:p>
            <a:pPr algn="l"/>
            <a:r>
              <a:rPr lang="en-US" b="1" i="0" u="none" strike="noStrike" dirty="0">
                <a:effectLst/>
              </a:rPr>
              <a:t>Removing Duplicates</a:t>
            </a:r>
          </a:p>
          <a:p>
            <a:pPr lvl="1"/>
            <a:r>
              <a:rPr lang="en-US" b="1" i="0" u="none" strike="noStrike" dirty="0">
                <a:effectLst/>
              </a:rPr>
              <a:t>Picard</a:t>
            </a:r>
            <a:r>
              <a:rPr lang="en-US" b="0" i="0" u="none" strike="noStrike" dirty="0">
                <a:effectLst/>
              </a:rPr>
              <a:t> marks PCR duplicates to remove non-informative reads, ensuring only unique fragments are analyzed.</a:t>
            </a:r>
          </a:p>
          <a:p>
            <a:pPr lvl="1"/>
            <a:r>
              <a:rPr lang="en-US" b="1" i="0" u="none" strike="noStrike" dirty="0">
                <a:effectLst/>
              </a:rPr>
              <a:t>NRF</a:t>
            </a:r>
            <a:r>
              <a:rPr lang="en-US" b="0" i="0" u="none" strike="noStrike" dirty="0">
                <a:effectLst/>
              </a:rPr>
              <a:t> = distinct uniquely mapped reads / total uniquely mapped reads.</a:t>
            </a:r>
          </a:p>
          <a:p>
            <a:pPr lvl="1"/>
            <a:r>
              <a:rPr lang="en-US" b="0" i="0" u="none" strike="noStrike" dirty="0">
                <a:effectLst/>
              </a:rPr>
              <a:t>High NRF (&gt;0.8) indicates good library complexity, while a low NRF (&lt;0.5) suggests high duplication and low quality, impacting reliability.</a:t>
            </a:r>
          </a:p>
        </p:txBody>
      </p:sp>
    </p:spTree>
    <p:extLst>
      <p:ext uri="{BB962C8B-B14F-4D97-AF65-F5344CB8AC3E}">
        <p14:creationId xmlns:p14="http://schemas.microsoft.com/office/powerpoint/2010/main" val="2275450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89583-F794-C202-CA71-FC36BEE22D5E}"/>
              </a:ext>
            </a:extLst>
          </p:cNvPr>
          <p:cNvSpPr>
            <a:spLocks noGrp="1"/>
          </p:cNvSpPr>
          <p:nvPr>
            <p:ph type="title"/>
          </p:nvPr>
        </p:nvSpPr>
        <p:spPr/>
        <p:txBody>
          <a:bodyPr/>
          <a:lstStyle/>
          <a:p>
            <a:r>
              <a:rPr lang="en-US" dirty="0"/>
              <a:t>ATAC-seq quality control of aligned reads</a:t>
            </a:r>
          </a:p>
        </p:txBody>
      </p:sp>
      <p:sp>
        <p:nvSpPr>
          <p:cNvPr id="3" name="Content Placeholder 2">
            <a:extLst>
              <a:ext uri="{FF2B5EF4-FFF2-40B4-BE49-F238E27FC236}">
                <a16:creationId xmlns:a16="http://schemas.microsoft.com/office/drawing/2014/main" id="{7CC2D3A8-4E90-21E2-9367-1288272BBD4F}"/>
              </a:ext>
            </a:extLst>
          </p:cNvPr>
          <p:cNvSpPr>
            <a:spLocks noGrp="1"/>
          </p:cNvSpPr>
          <p:nvPr>
            <p:ph idx="1"/>
          </p:nvPr>
        </p:nvSpPr>
        <p:spPr/>
        <p:txBody>
          <a:bodyPr/>
          <a:lstStyle/>
          <a:p>
            <a:r>
              <a:rPr lang="en-US" b="1" dirty="0"/>
              <a:t>Filter uninformative reads</a:t>
            </a:r>
            <a:r>
              <a:rPr lang="en-US" dirty="0"/>
              <a:t>: Filtering out low quality reads and reads that map to the mitochondrial genome leaves us with a set of more informative reads.</a:t>
            </a:r>
          </a:p>
          <a:p>
            <a:r>
              <a:rPr lang="en-US" b="1" i="0" u="none" strike="noStrike" dirty="0">
                <a:effectLst/>
              </a:rPr>
              <a:t>Filter bla</a:t>
            </a:r>
            <a:r>
              <a:rPr lang="en-US" b="1" dirty="0"/>
              <a:t>cklist regions: </a:t>
            </a:r>
            <a:r>
              <a:rPr lang="en-US" dirty="0"/>
              <a:t>Filter out reads in blacklisted regions using </a:t>
            </a:r>
            <a:r>
              <a:rPr lang="en-US" dirty="0" err="1"/>
              <a:t>BEDtools</a:t>
            </a:r>
            <a:r>
              <a:rPr lang="en-US" dirty="0"/>
              <a:t> or </a:t>
            </a:r>
            <a:r>
              <a:rPr lang="en-US" dirty="0" err="1"/>
              <a:t>BlackList</a:t>
            </a:r>
            <a:r>
              <a:rPr lang="en-US" dirty="0"/>
              <a:t> to identify reads that may be in typically noisy or artifact-prone regions. </a:t>
            </a:r>
          </a:p>
          <a:p>
            <a:r>
              <a:rPr lang="en-US" b="1" dirty="0"/>
              <a:t>Tn5 shift correction</a:t>
            </a:r>
            <a:r>
              <a:rPr lang="en-US" dirty="0"/>
              <a:t>: Use </a:t>
            </a:r>
            <a:r>
              <a:rPr lang="en-US" dirty="0" err="1"/>
              <a:t>deepTools</a:t>
            </a:r>
            <a:r>
              <a:rPr lang="en-US" dirty="0"/>
              <a:t> to accurately adjust Tn5 shift correction. Typically, reads are shifted +4 bp and -5 bp for positive and negative strand. </a:t>
            </a:r>
          </a:p>
          <a:p>
            <a:endParaRPr lang="en-US" b="0" i="0" u="none" strike="noStrike" dirty="0">
              <a:effectLst/>
            </a:endParaRPr>
          </a:p>
        </p:txBody>
      </p:sp>
    </p:spTree>
    <p:extLst>
      <p:ext uri="{BB962C8B-B14F-4D97-AF65-F5344CB8AC3E}">
        <p14:creationId xmlns:p14="http://schemas.microsoft.com/office/powerpoint/2010/main" val="254042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379DD-0FEE-6FF8-A6F4-DEA02DEFE485}"/>
              </a:ext>
            </a:extLst>
          </p:cNvPr>
          <p:cNvSpPr>
            <a:spLocks noGrp="1"/>
          </p:cNvSpPr>
          <p:nvPr>
            <p:ph type="title"/>
          </p:nvPr>
        </p:nvSpPr>
        <p:spPr>
          <a:xfrm>
            <a:off x="239457" y="762560"/>
            <a:ext cx="9404723" cy="1400530"/>
          </a:xfrm>
        </p:spPr>
        <p:txBody>
          <a:bodyPr/>
          <a:lstStyle/>
          <a:p>
            <a:r>
              <a:rPr lang="en-US" dirty="0" err="1"/>
              <a:t>ATACseqQC</a:t>
            </a:r>
            <a:r>
              <a:rPr lang="en-US" dirty="0"/>
              <a:t> – </a:t>
            </a:r>
            <a:r>
              <a:rPr lang="en-US" dirty="0">
                <a:hlinkClick r:id="rId2"/>
              </a:rPr>
              <a:t>Ou et al</a:t>
            </a:r>
            <a:endParaRPr lang="en-US" dirty="0"/>
          </a:p>
        </p:txBody>
      </p:sp>
      <p:pic>
        <p:nvPicPr>
          <p:cNvPr id="4" name="Content Placeholder 3">
            <a:extLst>
              <a:ext uri="{FF2B5EF4-FFF2-40B4-BE49-F238E27FC236}">
                <a16:creationId xmlns:a16="http://schemas.microsoft.com/office/drawing/2014/main" id="{6E97DC77-A1FF-2743-FFAD-70F0E597E84D}"/>
              </a:ext>
            </a:extLst>
          </p:cNvPr>
          <p:cNvPicPr>
            <a:picLocks noGrp="1" noChangeAspect="1"/>
          </p:cNvPicPr>
          <p:nvPr>
            <p:ph idx="1"/>
          </p:nvPr>
        </p:nvPicPr>
        <p:blipFill>
          <a:blip r:embed="rId3"/>
          <a:stretch>
            <a:fillRect/>
          </a:stretch>
        </p:blipFill>
        <p:spPr>
          <a:xfrm>
            <a:off x="7250182" y="795391"/>
            <a:ext cx="4537006" cy="6062609"/>
          </a:xfrm>
        </p:spPr>
      </p:pic>
      <p:sp>
        <p:nvSpPr>
          <p:cNvPr id="5" name="TextBox 4">
            <a:extLst>
              <a:ext uri="{FF2B5EF4-FFF2-40B4-BE49-F238E27FC236}">
                <a16:creationId xmlns:a16="http://schemas.microsoft.com/office/drawing/2014/main" id="{A5B3D4CF-8D7D-C29D-C9B4-9810AB70972C}"/>
              </a:ext>
            </a:extLst>
          </p:cNvPr>
          <p:cNvSpPr txBox="1"/>
          <p:nvPr/>
        </p:nvSpPr>
        <p:spPr>
          <a:xfrm>
            <a:off x="5348472" y="116229"/>
            <a:ext cx="3256020" cy="646331"/>
          </a:xfrm>
          <a:prstGeom prst="rect">
            <a:avLst/>
          </a:prstGeom>
          <a:noFill/>
        </p:spPr>
        <p:txBody>
          <a:bodyPr wrap="none" rtlCol="0">
            <a:spAutoFit/>
          </a:bodyPr>
          <a:lstStyle/>
          <a:p>
            <a:r>
              <a:rPr lang="en-US" dirty="0"/>
              <a:t>b) Left = Nucleosome-free</a:t>
            </a:r>
          </a:p>
          <a:p>
            <a:r>
              <a:rPr lang="en-US" dirty="0"/>
              <a:t>Right = Nucleosome-bound</a:t>
            </a:r>
          </a:p>
        </p:txBody>
      </p:sp>
      <p:sp>
        <p:nvSpPr>
          <p:cNvPr id="6" name="TextBox 5">
            <a:extLst>
              <a:ext uri="{FF2B5EF4-FFF2-40B4-BE49-F238E27FC236}">
                <a16:creationId xmlns:a16="http://schemas.microsoft.com/office/drawing/2014/main" id="{D38A31A5-C947-2F42-BD79-9FF40EEDCA7A}"/>
              </a:ext>
            </a:extLst>
          </p:cNvPr>
          <p:cNvSpPr txBox="1"/>
          <p:nvPr/>
        </p:nvSpPr>
        <p:spPr>
          <a:xfrm>
            <a:off x="8557448" y="129552"/>
            <a:ext cx="3483646" cy="646331"/>
          </a:xfrm>
          <a:prstGeom prst="rect">
            <a:avLst/>
          </a:prstGeom>
          <a:noFill/>
        </p:spPr>
        <p:txBody>
          <a:bodyPr wrap="none" rtlCol="0">
            <a:spAutoFit/>
          </a:bodyPr>
          <a:lstStyle/>
          <a:p>
            <a:r>
              <a:rPr lang="en-US" dirty="0"/>
              <a:t>c) Solid = Nucleosome-free</a:t>
            </a:r>
          </a:p>
          <a:p>
            <a:r>
              <a:rPr lang="en-US" dirty="0"/>
              <a:t>Dotted = Nucleosome-bound</a:t>
            </a:r>
          </a:p>
        </p:txBody>
      </p:sp>
      <p:sp>
        <p:nvSpPr>
          <p:cNvPr id="8" name="Content Placeholder 2">
            <a:extLst>
              <a:ext uri="{FF2B5EF4-FFF2-40B4-BE49-F238E27FC236}">
                <a16:creationId xmlns:a16="http://schemas.microsoft.com/office/drawing/2014/main" id="{19268909-7982-B56E-0EB2-CC1BC914E13A}"/>
              </a:ext>
            </a:extLst>
          </p:cNvPr>
          <p:cNvSpPr txBox="1">
            <a:spLocks/>
          </p:cNvSpPr>
          <p:nvPr/>
        </p:nvSpPr>
        <p:spPr>
          <a:xfrm>
            <a:off x="404812" y="2017983"/>
            <a:ext cx="6453187" cy="4774079"/>
          </a:xfrm>
          <a:prstGeom prst="rect">
            <a:avLst/>
          </a:prstGeom>
        </p:spPr>
        <p:txBody>
          <a:bodyPr vert="horz" lIns="91440" tIns="45720" rIns="91440" bIns="45720" rtlCol="0">
            <a:normAutofit fontScale="925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b="1" dirty="0" err="1"/>
              <a:t>ATACseqQC</a:t>
            </a:r>
            <a:r>
              <a:rPr lang="en-US" b="1" dirty="0"/>
              <a:t> Tool</a:t>
            </a:r>
            <a:r>
              <a:rPr lang="en-US" dirty="0"/>
              <a:t>: A quality control tool for ATAC-seq data, assessing chromatin accessibility, library complexity, and sample prep quality.</a:t>
            </a:r>
          </a:p>
          <a:p>
            <a:r>
              <a:rPr lang="en-US" b="1" dirty="0"/>
              <a:t>Fragment Size Distribution</a:t>
            </a:r>
            <a:r>
              <a:rPr lang="en-US" dirty="0"/>
              <a:t>: Shows peaks for nucleosome-free (~50-100 bp) and nucleosome-bound fragments (~200, 400, 600 bp); deviations signal issues like over-transposition.</a:t>
            </a:r>
          </a:p>
          <a:p>
            <a:r>
              <a:rPr lang="en-US" b="1" dirty="0"/>
              <a:t>TSS Signal Heatmaps</a:t>
            </a:r>
            <a:r>
              <a:rPr lang="en-US" dirty="0"/>
              <a:t>: Display TSS signal intensity; strong nucleosome-free signals indicate good chromatin accessibility, while weak signals suggest sub-optimal transposition.</a:t>
            </a:r>
          </a:p>
          <a:p>
            <a:r>
              <a:rPr lang="en-US" b="1" dirty="0"/>
              <a:t>Smoothed TSS Histograms</a:t>
            </a:r>
            <a:r>
              <a:rPr lang="en-US" dirty="0"/>
              <a:t>: Average signal profiles around TSS; sharp peaks for nucleosome free regions confirm data quality.</a:t>
            </a:r>
          </a:p>
        </p:txBody>
      </p:sp>
    </p:spTree>
    <p:extLst>
      <p:ext uri="{BB962C8B-B14F-4D97-AF65-F5344CB8AC3E}">
        <p14:creationId xmlns:p14="http://schemas.microsoft.com/office/powerpoint/2010/main" val="2071848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91D82-969C-11E0-E1AB-F2BB1CD5C9D8}"/>
              </a:ext>
            </a:extLst>
          </p:cNvPr>
          <p:cNvSpPr>
            <a:spLocks noGrp="1"/>
          </p:cNvSpPr>
          <p:nvPr>
            <p:ph type="title"/>
          </p:nvPr>
        </p:nvSpPr>
        <p:spPr/>
        <p:txBody>
          <a:bodyPr/>
          <a:lstStyle/>
          <a:p>
            <a:r>
              <a:rPr lang="en-US" dirty="0" err="1"/>
              <a:t>ATACseqQC</a:t>
            </a:r>
            <a:r>
              <a:rPr lang="en-US" dirty="0"/>
              <a:t> – Assessment of footprints</a:t>
            </a:r>
          </a:p>
        </p:txBody>
      </p:sp>
      <p:sp>
        <p:nvSpPr>
          <p:cNvPr id="3" name="Content Placeholder 2">
            <a:extLst>
              <a:ext uri="{FF2B5EF4-FFF2-40B4-BE49-F238E27FC236}">
                <a16:creationId xmlns:a16="http://schemas.microsoft.com/office/drawing/2014/main" id="{11F06098-074A-4452-91F6-0E97B958204C}"/>
              </a:ext>
            </a:extLst>
          </p:cNvPr>
          <p:cNvSpPr>
            <a:spLocks noGrp="1"/>
          </p:cNvSpPr>
          <p:nvPr>
            <p:ph idx="1"/>
          </p:nvPr>
        </p:nvSpPr>
        <p:spPr>
          <a:xfrm>
            <a:off x="1103312" y="2052918"/>
            <a:ext cx="6883401" cy="4195481"/>
          </a:xfrm>
        </p:spPr>
        <p:txBody>
          <a:bodyPr/>
          <a:lstStyle/>
          <a:p>
            <a:r>
              <a:rPr lang="en-US" dirty="0"/>
              <a:t>Footprint Detection: DNA-binding proteins protect regions from Tn5 insertion, creating “footprints” in open chromatin, indicating protein binding sites.</a:t>
            </a:r>
          </a:p>
          <a:p>
            <a:r>
              <a:rPr lang="en-US" dirty="0"/>
              <a:t>Footprint Plotting: The `</a:t>
            </a:r>
            <a:r>
              <a:rPr lang="en-US" dirty="0" err="1"/>
              <a:t>factorFootprints</a:t>
            </a:r>
            <a:r>
              <a:rPr lang="en-US" dirty="0"/>
              <a:t>` function aggregates short-read signals around predicted binding sites, highlighting footprints at known motifs.</a:t>
            </a:r>
          </a:p>
          <a:p>
            <a:r>
              <a:rPr lang="en-US" dirty="0"/>
              <a:t>CTCF Footprints Example: Clear footprints in Fig. 3a versus shallower footprints in Fig. 3d.</a:t>
            </a:r>
          </a:p>
        </p:txBody>
      </p:sp>
      <p:pic>
        <p:nvPicPr>
          <p:cNvPr id="4" name="Picture 3">
            <a:extLst>
              <a:ext uri="{FF2B5EF4-FFF2-40B4-BE49-F238E27FC236}">
                <a16:creationId xmlns:a16="http://schemas.microsoft.com/office/drawing/2014/main" id="{5408F08B-DB66-CB8E-608B-12C4B92E6832}"/>
              </a:ext>
            </a:extLst>
          </p:cNvPr>
          <p:cNvPicPr>
            <a:picLocks noChangeAspect="1"/>
          </p:cNvPicPr>
          <p:nvPr/>
        </p:nvPicPr>
        <p:blipFill>
          <a:blip r:embed="rId2"/>
          <a:stretch>
            <a:fillRect/>
          </a:stretch>
        </p:blipFill>
        <p:spPr>
          <a:xfrm>
            <a:off x="8413750" y="1853248"/>
            <a:ext cx="3594100" cy="3797300"/>
          </a:xfrm>
          <a:prstGeom prst="rect">
            <a:avLst/>
          </a:prstGeom>
        </p:spPr>
      </p:pic>
    </p:spTree>
    <p:extLst>
      <p:ext uri="{BB962C8B-B14F-4D97-AF65-F5344CB8AC3E}">
        <p14:creationId xmlns:p14="http://schemas.microsoft.com/office/powerpoint/2010/main" val="1652452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0F7F4-E7DB-21C5-923A-DA0DE83021B5}"/>
              </a:ext>
            </a:extLst>
          </p:cNvPr>
          <p:cNvSpPr>
            <a:spLocks noGrp="1"/>
          </p:cNvSpPr>
          <p:nvPr>
            <p:ph type="title"/>
          </p:nvPr>
        </p:nvSpPr>
        <p:spPr/>
        <p:txBody>
          <a:bodyPr/>
          <a:lstStyle/>
          <a:p>
            <a:r>
              <a:rPr lang="en-US" dirty="0" err="1"/>
              <a:t>ATACseqQC</a:t>
            </a:r>
            <a:r>
              <a:rPr lang="en-US" dirty="0"/>
              <a:t> – Sequencing depth and library complexity</a:t>
            </a:r>
          </a:p>
        </p:txBody>
      </p:sp>
      <p:pic>
        <p:nvPicPr>
          <p:cNvPr id="4" name="Content Placeholder 3">
            <a:extLst>
              <a:ext uri="{FF2B5EF4-FFF2-40B4-BE49-F238E27FC236}">
                <a16:creationId xmlns:a16="http://schemas.microsoft.com/office/drawing/2014/main" id="{61CFD893-C594-21E6-2E8E-80CA83D2D9FB}"/>
              </a:ext>
            </a:extLst>
          </p:cNvPr>
          <p:cNvPicPr>
            <a:picLocks noGrp="1" noChangeAspect="1"/>
          </p:cNvPicPr>
          <p:nvPr>
            <p:ph idx="1"/>
          </p:nvPr>
        </p:nvPicPr>
        <p:blipFill>
          <a:blip r:embed="rId2"/>
          <a:stretch>
            <a:fillRect/>
          </a:stretch>
        </p:blipFill>
        <p:spPr>
          <a:xfrm>
            <a:off x="7400670" y="1946512"/>
            <a:ext cx="4791330" cy="4458770"/>
          </a:xfrm>
        </p:spPr>
      </p:pic>
      <p:sp>
        <p:nvSpPr>
          <p:cNvPr id="5" name="Content Placeholder 2">
            <a:extLst>
              <a:ext uri="{FF2B5EF4-FFF2-40B4-BE49-F238E27FC236}">
                <a16:creationId xmlns:a16="http://schemas.microsoft.com/office/drawing/2014/main" id="{8A4FA66C-864D-7D8E-E995-11E6006C1504}"/>
              </a:ext>
            </a:extLst>
          </p:cNvPr>
          <p:cNvSpPr txBox="1">
            <a:spLocks/>
          </p:cNvSpPr>
          <p:nvPr/>
        </p:nvSpPr>
        <p:spPr>
          <a:xfrm>
            <a:off x="271463" y="2089868"/>
            <a:ext cx="6883401" cy="41954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dirty="0"/>
              <a:t>Peaks vs. Effective Fragments: Peaks increase with effective fragments, plateauing as sequencing depth reaches optimal detection.</a:t>
            </a:r>
          </a:p>
          <a:p>
            <a:r>
              <a:rPr lang="en-US" dirty="0"/>
              <a:t>Total Peak Width vs. Effective Fragments: Total peak width rises with fragment count but levels off, indicating saturation in peak region detection.</a:t>
            </a:r>
          </a:p>
          <a:p>
            <a:r>
              <a:rPr lang="en-US" dirty="0"/>
              <a:t>Distinct Fragments vs. Total Fragments: Unique fragment detection curves show sequencing efficiency; plateauing curves suggest optimal depth, while rising curves may benefit from more sequencing.</a:t>
            </a:r>
          </a:p>
        </p:txBody>
      </p:sp>
    </p:spTree>
    <p:extLst>
      <p:ext uri="{BB962C8B-B14F-4D97-AF65-F5344CB8AC3E}">
        <p14:creationId xmlns:p14="http://schemas.microsoft.com/office/powerpoint/2010/main" val="1873630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40841-033B-A997-8775-5C1726210C51}"/>
              </a:ext>
            </a:extLst>
          </p:cNvPr>
          <p:cNvSpPr>
            <a:spLocks noGrp="1"/>
          </p:cNvSpPr>
          <p:nvPr>
            <p:ph type="title"/>
          </p:nvPr>
        </p:nvSpPr>
        <p:spPr/>
        <p:txBody>
          <a:bodyPr/>
          <a:lstStyle/>
          <a:p>
            <a:r>
              <a:rPr lang="en-US" dirty="0"/>
              <a:t>Check Insert Sizes</a:t>
            </a:r>
          </a:p>
        </p:txBody>
      </p:sp>
      <p:sp>
        <p:nvSpPr>
          <p:cNvPr id="3" name="Content Placeholder 2">
            <a:extLst>
              <a:ext uri="{FF2B5EF4-FFF2-40B4-BE49-F238E27FC236}">
                <a16:creationId xmlns:a16="http://schemas.microsoft.com/office/drawing/2014/main" id="{EFC3BD0F-912E-5235-0D1C-2B2A1EF8458D}"/>
              </a:ext>
            </a:extLst>
          </p:cNvPr>
          <p:cNvSpPr>
            <a:spLocks noGrp="1"/>
          </p:cNvSpPr>
          <p:nvPr>
            <p:ph idx="1"/>
          </p:nvPr>
        </p:nvSpPr>
        <p:spPr>
          <a:xfrm>
            <a:off x="1104293" y="1152983"/>
            <a:ext cx="9582757" cy="4195481"/>
          </a:xfrm>
        </p:spPr>
        <p:txBody>
          <a:bodyPr/>
          <a:lstStyle/>
          <a:p>
            <a:r>
              <a:rPr lang="en-US" dirty="0"/>
              <a:t>Checking the distribution size of the insert is often a good indication of whether the experiment worked.</a:t>
            </a:r>
          </a:p>
          <a:p>
            <a:r>
              <a:rPr lang="en-US" dirty="0"/>
              <a:t>A successful insert size distribution in </a:t>
            </a:r>
            <a:r>
              <a:rPr lang="en-US" dirty="0" err="1"/>
              <a:t>ChIP</a:t>
            </a:r>
            <a:r>
              <a:rPr lang="en-US" dirty="0"/>
              <a:t>-seq or ATAC-seq should show distinct peaks at ~50-100 bp, ~200 bp, ~400 bp, and ~600 bp, reflecting transposase insertion in nucleosome-free regions (open chromatin) and around one, two, and three nucleosomes, respectively.</a:t>
            </a:r>
          </a:p>
        </p:txBody>
      </p:sp>
      <p:pic>
        <p:nvPicPr>
          <p:cNvPr id="4" name="Picture 3">
            <a:extLst>
              <a:ext uri="{FF2B5EF4-FFF2-40B4-BE49-F238E27FC236}">
                <a16:creationId xmlns:a16="http://schemas.microsoft.com/office/drawing/2014/main" id="{B5BE2358-D4BE-639A-A455-D29C023C640E}"/>
              </a:ext>
            </a:extLst>
          </p:cNvPr>
          <p:cNvPicPr>
            <a:picLocks noChangeAspect="1"/>
          </p:cNvPicPr>
          <p:nvPr/>
        </p:nvPicPr>
        <p:blipFill>
          <a:blip r:embed="rId2"/>
          <a:stretch>
            <a:fillRect/>
          </a:stretch>
        </p:blipFill>
        <p:spPr>
          <a:xfrm>
            <a:off x="1400174" y="3312038"/>
            <a:ext cx="4124325" cy="3093244"/>
          </a:xfrm>
          <a:prstGeom prst="rect">
            <a:avLst/>
          </a:prstGeom>
        </p:spPr>
      </p:pic>
      <p:sp>
        <p:nvSpPr>
          <p:cNvPr id="5" name="TextBox 4">
            <a:extLst>
              <a:ext uri="{FF2B5EF4-FFF2-40B4-BE49-F238E27FC236}">
                <a16:creationId xmlns:a16="http://schemas.microsoft.com/office/drawing/2014/main" id="{825F1663-B434-8247-5EF6-1CA4B2EAE5F2}"/>
              </a:ext>
            </a:extLst>
          </p:cNvPr>
          <p:cNvSpPr txBox="1"/>
          <p:nvPr/>
        </p:nvSpPr>
        <p:spPr>
          <a:xfrm>
            <a:off x="2707963" y="6437922"/>
            <a:ext cx="1508746" cy="369332"/>
          </a:xfrm>
          <a:prstGeom prst="rect">
            <a:avLst/>
          </a:prstGeom>
          <a:noFill/>
        </p:spPr>
        <p:txBody>
          <a:bodyPr wrap="none" rtlCol="0">
            <a:spAutoFit/>
          </a:bodyPr>
          <a:lstStyle/>
          <a:p>
            <a:r>
              <a:rPr lang="en-US" dirty="0"/>
              <a:t>Failed/noisy</a:t>
            </a:r>
          </a:p>
        </p:txBody>
      </p:sp>
      <p:pic>
        <p:nvPicPr>
          <p:cNvPr id="6" name="Picture 5">
            <a:extLst>
              <a:ext uri="{FF2B5EF4-FFF2-40B4-BE49-F238E27FC236}">
                <a16:creationId xmlns:a16="http://schemas.microsoft.com/office/drawing/2014/main" id="{D4344386-2FDF-2C92-6F64-CD3D2C9F742A}"/>
              </a:ext>
            </a:extLst>
          </p:cNvPr>
          <p:cNvPicPr>
            <a:picLocks noChangeAspect="1"/>
          </p:cNvPicPr>
          <p:nvPr/>
        </p:nvPicPr>
        <p:blipFill>
          <a:blip r:embed="rId3"/>
          <a:stretch>
            <a:fillRect/>
          </a:stretch>
        </p:blipFill>
        <p:spPr>
          <a:xfrm>
            <a:off x="6457949" y="3312037"/>
            <a:ext cx="4124325" cy="3093243"/>
          </a:xfrm>
          <a:prstGeom prst="rect">
            <a:avLst/>
          </a:prstGeom>
        </p:spPr>
      </p:pic>
      <p:sp>
        <p:nvSpPr>
          <p:cNvPr id="7" name="TextBox 6">
            <a:extLst>
              <a:ext uri="{FF2B5EF4-FFF2-40B4-BE49-F238E27FC236}">
                <a16:creationId xmlns:a16="http://schemas.microsoft.com/office/drawing/2014/main" id="{67B63C06-DE66-748D-F9FA-AF5BAB0E2B70}"/>
              </a:ext>
            </a:extLst>
          </p:cNvPr>
          <p:cNvSpPr txBox="1"/>
          <p:nvPr/>
        </p:nvSpPr>
        <p:spPr>
          <a:xfrm>
            <a:off x="7765738" y="6437922"/>
            <a:ext cx="1508746" cy="369332"/>
          </a:xfrm>
          <a:prstGeom prst="rect">
            <a:avLst/>
          </a:prstGeom>
          <a:noFill/>
        </p:spPr>
        <p:txBody>
          <a:bodyPr wrap="square" rtlCol="0">
            <a:spAutoFit/>
          </a:bodyPr>
          <a:lstStyle/>
          <a:p>
            <a:r>
              <a:rPr lang="en-US" dirty="0"/>
              <a:t>Successful</a:t>
            </a:r>
          </a:p>
        </p:txBody>
      </p:sp>
    </p:spTree>
    <p:extLst>
      <p:ext uri="{BB962C8B-B14F-4D97-AF65-F5344CB8AC3E}">
        <p14:creationId xmlns:p14="http://schemas.microsoft.com/office/powerpoint/2010/main" val="1869549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7F71E-80E1-ACAA-8D0D-F3E7700D90E1}"/>
              </a:ext>
            </a:extLst>
          </p:cNvPr>
          <p:cNvSpPr>
            <a:spLocks noGrp="1"/>
          </p:cNvSpPr>
          <p:nvPr>
            <p:ph type="title"/>
          </p:nvPr>
        </p:nvSpPr>
        <p:spPr/>
        <p:txBody>
          <a:bodyPr/>
          <a:lstStyle/>
          <a:p>
            <a:r>
              <a:rPr lang="en-US" dirty="0"/>
              <a:t>Best practices during peak calling</a:t>
            </a:r>
          </a:p>
        </p:txBody>
      </p:sp>
      <p:sp>
        <p:nvSpPr>
          <p:cNvPr id="3" name="Content Placeholder 2">
            <a:extLst>
              <a:ext uri="{FF2B5EF4-FFF2-40B4-BE49-F238E27FC236}">
                <a16:creationId xmlns:a16="http://schemas.microsoft.com/office/drawing/2014/main" id="{D995F504-CE7B-625B-936B-CD8386048E5E}"/>
              </a:ext>
            </a:extLst>
          </p:cNvPr>
          <p:cNvSpPr>
            <a:spLocks noGrp="1"/>
          </p:cNvSpPr>
          <p:nvPr>
            <p:ph idx="1"/>
          </p:nvPr>
        </p:nvSpPr>
        <p:spPr>
          <a:xfrm>
            <a:off x="1104293" y="1738593"/>
            <a:ext cx="8946541" cy="4195481"/>
          </a:xfrm>
        </p:spPr>
        <p:txBody>
          <a:bodyPr/>
          <a:lstStyle/>
          <a:p>
            <a:r>
              <a:rPr lang="en-US" dirty="0"/>
              <a:t>MACS2 – MACS2 is the default peak caller of the ENCODE ATAC-seq pipeline and the most widely used tool for peak calling for ATAC-seq (Yan et al.).</a:t>
            </a:r>
          </a:p>
          <a:p>
            <a:r>
              <a:rPr lang="en-US" dirty="0"/>
              <a:t>Input data isn’t often used for ATAC-seq because the Tn5 transposase selectively targets open chromatin, typically creating low-background data with a clear signal from accessible regions.</a:t>
            </a:r>
          </a:p>
          <a:p>
            <a:r>
              <a:rPr lang="en-US" dirty="0"/>
              <a:t>To date, there is no comprehensive bookmark study on peak-callers for ATAC-seq. </a:t>
            </a:r>
          </a:p>
          <a:p>
            <a:r>
              <a:rPr lang="en-US" dirty="0">
                <a:hlinkClick r:id="rId2"/>
              </a:rPr>
              <a:t>Study on github </a:t>
            </a:r>
            <a:r>
              <a:rPr lang="en-US" dirty="0"/>
              <a:t>benchmarked MACS2, Genrich, and HMMRATAC, the three most well-known ATAC-seq peak callers. Genrich outperformed both, with HMMRATAC and MACS2 following. </a:t>
            </a:r>
          </a:p>
        </p:txBody>
      </p:sp>
    </p:spTree>
    <p:extLst>
      <p:ext uri="{BB962C8B-B14F-4D97-AF65-F5344CB8AC3E}">
        <p14:creationId xmlns:p14="http://schemas.microsoft.com/office/powerpoint/2010/main" val="2401166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27D88-9025-26D2-9D73-6C8692BF2724}"/>
              </a:ext>
            </a:extLst>
          </p:cNvPr>
          <p:cNvSpPr>
            <a:spLocks noGrp="1"/>
          </p:cNvSpPr>
          <p:nvPr>
            <p:ph type="title"/>
          </p:nvPr>
        </p:nvSpPr>
        <p:spPr/>
        <p:txBody>
          <a:bodyPr/>
          <a:lstStyle/>
          <a:p>
            <a:r>
              <a:rPr lang="en-US" dirty="0"/>
              <a:t>Comparison of peak calling tools - </a:t>
            </a:r>
            <a:r>
              <a:rPr lang="en-US" dirty="0">
                <a:hlinkClick r:id="rId2"/>
              </a:rPr>
              <a:t>Liu et al</a:t>
            </a:r>
            <a:endParaRPr lang="en-US" dirty="0"/>
          </a:p>
        </p:txBody>
      </p:sp>
      <p:sp>
        <p:nvSpPr>
          <p:cNvPr id="3" name="Content Placeholder 2">
            <a:extLst>
              <a:ext uri="{FF2B5EF4-FFF2-40B4-BE49-F238E27FC236}">
                <a16:creationId xmlns:a16="http://schemas.microsoft.com/office/drawing/2014/main" id="{52B9EB78-343F-0A03-39ED-9B16C7AD0134}"/>
              </a:ext>
            </a:extLst>
          </p:cNvPr>
          <p:cNvSpPr>
            <a:spLocks noGrp="1"/>
          </p:cNvSpPr>
          <p:nvPr>
            <p:ph idx="1"/>
          </p:nvPr>
        </p:nvSpPr>
        <p:spPr/>
        <p:txBody>
          <a:bodyPr/>
          <a:lstStyle/>
          <a:p>
            <a:r>
              <a:rPr lang="en-US" dirty="0"/>
              <a:t>For ATAC-seq data, using MACS2 with the BAMPE mode assumes that full fragment regions represent accessible chromatin, but this approach is more suited for </a:t>
            </a:r>
            <a:r>
              <a:rPr lang="en-US" dirty="0" err="1"/>
              <a:t>ChIP</a:t>
            </a:r>
            <a:r>
              <a:rPr lang="en-US" dirty="0"/>
              <a:t>-seq. ”MACS.PE” method</a:t>
            </a:r>
          </a:p>
          <a:p>
            <a:r>
              <a:rPr lang="en-US" dirty="0"/>
              <a:t>An improved approach, the “MACS2.SITE” method, centers signals on the actual transposase cut sites by shifting read coordinates, providing a more accurate representation of chromatin accessibility. </a:t>
            </a:r>
          </a:p>
          <a:p>
            <a:r>
              <a:rPr lang="en-US" b="0" i="0" u="none" strike="noStrike" dirty="0">
                <a:effectLst/>
              </a:rPr>
              <a:t>The “MACS2.SITE” method uses the parameters </a:t>
            </a:r>
            <a:r>
              <a:rPr lang="en-US" dirty="0"/>
              <a:t>--shift -s</a:t>
            </a:r>
            <a:r>
              <a:rPr lang="en-US" b="0" i="0" u="none" strike="noStrike" dirty="0">
                <a:effectLst/>
              </a:rPr>
              <a:t> and </a:t>
            </a:r>
            <a:r>
              <a:rPr lang="en-US" dirty="0"/>
              <a:t>--extend 2s</a:t>
            </a:r>
            <a:r>
              <a:rPr lang="en-US" b="0" i="0" u="none" strike="noStrike" dirty="0">
                <a:effectLst/>
              </a:rPr>
              <a:t> to center pileup signals on the actual transposase cleavage sites, where </a:t>
            </a:r>
            <a:r>
              <a:rPr lang="en-US" b="0" i="1" u="none" strike="noStrike" dirty="0">
                <a:effectLst/>
              </a:rPr>
              <a:t>s</a:t>
            </a:r>
            <a:r>
              <a:rPr lang="en-US" b="0" i="0" u="none" strike="noStrike" dirty="0">
                <a:effectLst/>
              </a:rPr>
              <a:t> represents the number of bases by which read coordinates are shifted toward the 5′ direction.</a:t>
            </a:r>
            <a:endParaRPr lang="en-US" dirty="0"/>
          </a:p>
        </p:txBody>
      </p:sp>
    </p:spTree>
    <p:extLst>
      <p:ext uri="{BB962C8B-B14F-4D97-AF65-F5344CB8AC3E}">
        <p14:creationId xmlns:p14="http://schemas.microsoft.com/office/powerpoint/2010/main" val="278168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7A5AC-01ED-DF23-0CB4-FB1C08DA419A}"/>
              </a:ext>
            </a:extLst>
          </p:cNvPr>
          <p:cNvSpPr>
            <a:spLocks noGrp="1"/>
          </p:cNvSpPr>
          <p:nvPr>
            <p:ph type="title"/>
          </p:nvPr>
        </p:nvSpPr>
        <p:spPr/>
        <p:txBody>
          <a:bodyPr/>
          <a:lstStyle/>
          <a:p>
            <a:r>
              <a:rPr lang="en-US" dirty="0"/>
              <a:t>Comparison of peak calling tools - </a:t>
            </a:r>
            <a:r>
              <a:rPr lang="en-US" dirty="0">
                <a:hlinkClick r:id="rId2"/>
              </a:rPr>
              <a:t>Liu et al</a:t>
            </a:r>
            <a:endParaRPr lang="en-US" dirty="0"/>
          </a:p>
        </p:txBody>
      </p:sp>
      <p:sp>
        <p:nvSpPr>
          <p:cNvPr id="3" name="Content Placeholder 2">
            <a:extLst>
              <a:ext uri="{FF2B5EF4-FFF2-40B4-BE49-F238E27FC236}">
                <a16:creationId xmlns:a16="http://schemas.microsoft.com/office/drawing/2014/main" id="{023D083B-B89C-176B-490D-85B1C350E23E}"/>
              </a:ext>
            </a:extLst>
          </p:cNvPr>
          <p:cNvSpPr>
            <a:spLocks noGrp="1"/>
          </p:cNvSpPr>
          <p:nvPr>
            <p:ph idx="1"/>
          </p:nvPr>
        </p:nvSpPr>
        <p:spPr/>
        <p:txBody>
          <a:bodyPr/>
          <a:lstStyle/>
          <a:p>
            <a:r>
              <a:rPr lang="en-US" dirty="0"/>
              <a:t>Genrich: the most sensitive for multi-replicate ATAC-seq data, detecting the highest number of peaks with clear boundaries, especially in low-signal regions. </a:t>
            </a:r>
          </a:p>
          <a:p>
            <a:r>
              <a:rPr lang="en-US" dirty="0"/>
              <a:t>MACS2.SITE: effective for single-replicate datasets and also performs well in low-signal regions but with slightly less sensitivity than Genrich.</a:t>
            </a:r>
          </a:p>
          <a:p>
            <a:r>
              <a:rPr lang="en-US" dirty="0"/>
              <a:t>HMMRATAC:  conservative, focusing on high-confidence peaks and broader regions but may miss low-signal peaks, making it best suited for high-signal datasets.</a:t>
            </a:r>
          </a:p>
          <a:p>
            <a:r>
              <a:rPr lang="en-US" dirty="0"/>
              <a:t>Study advised against using MACS2.PE for ATAC-seq peak calling. Study recommends Genrich when biological replicates are available.</a:t>
            </a:r>
          </a:p>
        </p:txBody>
      </p:sp>
    </p:spTree>
    <p:extLst>
      <p:ext uri="{BB962C8B-B14F-4D97-AF65-F5344CB8AC3E}">
        <p14:creationId xmlns:p14="http://schemas.microsoft.com/office/powerpoint/2010/main" val="1904293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B84AF-169F-544A-3086-8C51A5DA2F68}"/>
              </a:ext>
            </a:extLst>
          </p:cNvPr>
          <p:cNvSpPr>
            <a:spLocks noGrp="1"/>
          </p:cNvSpPr>
          <p:nvPr>
            <p:ph type="title"/>
          </p:nvPr>
        </p:nvSpPr>
        <p:spPr/>
        <p:txBody>
          <a:bodyPr/>
          <a:lstStyle/>
          <a:p>
            <a:r>
              <a:rPr lang="en-US" dirty="0"/>
              <a:t>Differential Peak Analysis</a:t>
            </a:r>
          </a:p>
        </p:txBody>
      </p:sp>
      <p:pic>
        <p:nvPicPr>
          <p:cNvPr id="4" name="Content Placeholder 3">
            <a:extLst>
              <a:ext uri="{FF2B5EF4-FFF2-40B4-BE49-F238E27FC236}">
                <a16:creationId xmlns:a16="http://schemas.microsoft.com/office/drawing/2014/main" id="{467A7566-C5C1-795E-FF8A-FA9D06835200}"/>
              </a:ext>
            </a:extLst>
          </p:cNvPr>
          <p:cNvPicPr>
            <a:picLocks noGrp="1" noChangeAspect="1"/>
          </p:cNvPicPr>
          <p:nvPr>
            <p:ph idx="1"/>
          </p:nvPr>
        </p:nvPicPr>
        <p:blipFill>
          <a:blip r:embed="rId2"/>
          <a:stretch>
            <a:fillRect/>
          </a:stretch>
        </p:blipFill>
        <p:spPr>
          <a:xfrm>
            <a:off x="5449752" y="2465149"/>
            <a:ext cx="6707753" cy="3334263"/>
          </a:xfrm>
        </p:spPr>
      </p:pic>
      <p:sp>
        <p:nvSpPr>
          <p:cNvPr id="6" name="Content Placeholder 2">
            <a:extLst>
              <a:ext uri="{FF2B5EF4-FFF2-40B4-BE49-F238E27FC236}">
                <a16:creationId xmlns:a16="http://schemas.microsoft.com/office/drawing/2014/main" id="{FC76F34B-4119-2D13-97E1-4548E36BF884}"/>
              </a:ext>
            </a:extLst>
          </p:cNvPr>
          <p:cNvSpPr txBox="1">
            <a:spLocks/>
          </p:cNvSpPr>
          <p:nvPr/>
        </p:nvSpPr>
        <p:spPr>
          <a:xfrm>
            <a:off x="116175" y="2012093"/>
            <a:ext cx="5333577" cy="45493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b="1" dirty="0">
                <a:latin typeface="+mn-lt"/>
              </a:rPr>
              <a:t>Consensus Peak-Based Tools</a:t>
            </a:r>
            <a:r>
              <a:rPr lang="en-US" dirty="0">
                <a:latin typeface="+mn-lt"/>
              </a:rPr>
              <a:t>: HOMER, </a:t>
            </a:r>
            <a:r>
              <a:rPr lang="en-US" dirty="0" err="1">
                <a:latin typeface="+mn-lt"/>
              </a:rPr>
              <a:t>DBChIP</a:t>
            </a:r>
            <a:r>
              <a:rPr lang="en-US" dirty="0">
                <a:latin typeface="+mn-lt"/>
              </a:rPr>
              <a:t>, and </a:t>
            </a:r>
            <a:r>
              <a:rPr lang="en-US" dirty="0" err="1">
                <a:latin typeface="+mn-lt"/>
              </a:rPr>
              <a:t>DiffBind</a:t>
            </a:r>
            <a:r>
              <a:rPr lang="en-US" dirty="0">
                <a:latin typeface="+mn-lt"/>
              </a:rPr>
              <a:t> use RNA-seq DE tools (</a:t>
            </a:r>
            <a:r>
              <a:rPr lang="en-US" dirty="0" err="1">
                <a:latin typeface="+mn-lt"/>
              </a:rPr>
              <a:t>edgeR</a:t>
            </a:r>
            <a:r>
              <a:rPr lang="en-US" dirty="0">
                <a:latin typeface="+mn-lt"/>
              </a:rPr>
              <a:t>, DESeq2) and consensus peaks, though intersection may miss condition-specific peaks, and union can inflate false positives.</a:t>
            </a:r>
          </a:p>
          <a:p>
            <a:r>
              <a:rPr lang="en-US" dirty="0">
                <a:latin typeface="+mn-lt"/>
              </a:rPr>
              <a:t>Sliding Window Approach: Tools like </a:t>
            </a:r>
            <a:r>
              <a:rPr lang="en-US" dirty="0" err="1">
                <a:latin typeface="+mn-lt"/>
              </a:rPr>
              <a:t>PePr</a:t>
            </a:r>
            <a:r>
              <a:rPr lang="en-US" dirty="0">
                <a:latin typeface="+mn-lt"/>
              </a:rPr>
              <a:t>, </a:t>
            </a:r>
            <a:r>
              <a:rPr lang="en-US" dirty="0" err="1">
                <a:latin typeface="+mn-lt"/>
              </a:rPr>
              <a:t>DiffReps</a:t>
            </a:r>
            <a:r>
              <a:rPr lang="en-US" dirty="0">
                <a:latin typeface="+mn-lt"/>
              </a:rPr>
              <a:t>, and </a:t>
            </a:r>
            <a:r>
              <a:rPr lang="en-US" dirty="0" err="1">
                <a:latin typeface="+mn-lt"/>
              </a:rPr>
              <a:t>ChIPDiff</a:t>
            </a:r>
            <a:r>
              <a:rPr lang="en-US" dirty="0">
                <a:latin typeface="+mn-lt"/>
              </a:rPr>
              <a:t> scan all genomic windows, ideal for broad peaks but need strong FDR control.</a:t>
            </a:r>
          </a:p>
          <a:p>
            <a:r>
              <a:rPr lang="en-US" dirty="0">
                <a:latin typeface="+mn-lt"/>
              </a:rPr>
              <a:t>Paper recommends </a:t>
            </a:r>
            <a:r>
              <a:rPr lang="en-US" dirty="0" err="1">
                <a:latin typeface="+mn-lt"/>
              </a:rPr>
              <a:t>csaw</a:t>
            </a:r>
            <a:r>
              <a:rPr lang="en-US" dirty="0">
                <a:latin typeface="+mn-lt"/>
              </a:rPr>
              <a:t> as top option (Yan et al.)</a:t>
            </a:r>
          </a:p>
        </p:txBody>
      </p:sp>
    </p:spTree>
    <p:extLst>
      <p:ext uri="{BB962C8B-B14F-4D97-AF65-F5344CB8AC3E}">
        <p14:creationId xmlns:p14="http://schemas.microsoft.com/office/powerpoint/2010/main" val="3251433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13243-25C1-FC89-EA78-3B40C9BDD7FB}"/>
              </a:ext>
            </a:extLst>
          </p:cNvPr>
          <p:cNvSpPr>
            <a:spLocks noGrp="1"/>
          </p:cNvSpPr>
          <p:nvPr>
            <p:ph type="title"/>
          </p:nvPr>
        </p:nvSpPr>
        <p:spPr/>
        <p:txBody>
          <a:bodyPr/>
          <a:lstStyle/>
          <a:p>
            <a:r>
              <a:rPr lang="en-US" dirty="0"/>
              <a:t>Peak Annotation/Pathway Analysis</a:t>
            </a:r>
          </a:p>
        </p:txBody>
      </p:sp>
      <p:sp>
        <p:nvSpPr>
          <p:cNvPr id="3" name="Content Placeholder 2">
            <a:extLst>
              <a:ext uri="{FF2B5EF4-FFF2-40B4-BE49-F238E27FC236}">
                <a16:creationId xmlns:a16="http://schemas.microsoft.com/office/drawing/2014/main" id="{DBC5E133-EC01-8A99-2181-6D328F7E511A}"/>
              </a:ext>
            </a:extLst>
          </p:cNvPr>
          <p:cNvSpPr>
            <a:spLocks noGrp="1"/>
          </p:cNvSpPr>
          <p:nvPr>
            <p:ph idx="1"/>
          </p:nvPr>
        </p:nvSpPr>
        <p:spPr/>
        <p:txBody>
          <a:bodyPr/>
          <a:lstStyle/>
          <a:p>
            <a:r>
              <a:rPr lang="en-US" dirty="0"/>
              <a:t>ATAC-seq peak annotation tools (e.g., </a:t>
            </a:r>
            <a:r>
              <a:rPr lang="en-US" dirty="0" err="1"/>
              <a:t>ChIPpeakAnno</a:t>
            </a:r>
            <a:r>
              <a:rPr lang="en-US" dirty="0"/>
              <a:t>, ANNOVAR. HOMER) assign regulatory regions to nearby genes.</a:t>
            </a:r>
          </a:p>
          <a:p>
            <a:r>
              <a:rPr lang="en-US" dirty="0"/>
              <a:t>Differential accessibility experiments can use </a:t>
            </a:r>
            <a:r>
              <a:rPr lang="en-US" dirty="0" err="1"/>
              <a:t>ChIPpeakAnno</a:t>
            </a:r>
            <a:r>
              <a:rPr lang="en-US" dirty="0"/>
              <a:t> functions like </a:t>
            </a:r>
            <a:r>
              <a:rPr lang="en-US" dirty="0" err="1"/>
              <a:t>getEnrichedGO</a:t>
            </a:r>
            <a:r>
              <a:rPr lang="en-US" dirty="0"/>
              <a:t> for gene ontology or pathway analysis.</a:t>
            </a:r>
          </a:p>
        </p:txBody>
      </p:sp>
    </p:spTree>
    <p:extLst>
      <p:ext uri="{BB962C8B-B14F-4D97-AF65-F5344CB8AC3E}">
        <p14:creationId xmlns:p14="http://schemas.microsoft.com/office/powerpoint/2010/main" val="1504863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5C4F1-3E74-1A73-68A3-8E0904AAA18E}"/>
              </a:ext>
            </a:extLst>
          </p:cNvPr>
          <p:cNvSpPr>
            <a:spLocks noGrp="1"/>
          </p:cNvSpPr>
          <p:nvPr>
            <p:ph type="title"/>
          </p:nvPr>
        </p:nvSpPr>
        <p:spPr/>
        <p:txBody>
          <a:bodyPr/>
          <a:lstStyle/>
          <a:p>
            <a:r>
              <a:rPr lang="en-US" dirty="0"/>
              <a:t>Nucleosome Positioning </a:t>
            </a:r>
          </a:p>
        </p:txBody>
      </p:sp>
      <p:sp>
        <p:nvSpPr>
          <p:cNvPr id="3" name="Content Placeholder 2">
            <a:extLst>
              <a:ext uri="{FF2B5EF4-FFF2-40B4-BE49-F238E27FC236}">
                <a16:creationId xmlns:a16="http://schemas.microsoft.com/office/drawing/2014/main" id="{EDBD7652-FE5F-774C-C083-2128686C8C1A}"/>
              </a:ext>
            </a:extLst>
          </p:cNvPr>
          <p:cNvSpPr>
            <a:spLocks noGrp="1"/>
          </p:cNvSpPr>
          <p:nvPr>
            <p:ph idx="1"/>
          </p:nvPr>
        </p:nvSpPr>
        <p:spPr/>
        <p:txBody>
          <a:bodyPr/>
          <a:lstStyle/>
          <a:p>
            <a:r>
              <a:rPr lang="en-US" dirty="0"/>
              <a:t>Nucleosome positioning is important because it controls access to DNA, determining whether genes can be turned on or off by allowing or blocking proteins from reaching key areas like promoters and enhancers.</a:t>
            </a:r>
          </a:p>
          <a:p>
            <a:r>
              <a:rPr lang="en-US" dirty="0"/>
              <a:t>Use </a:t>
            </a:r>
            <a:r>
              <a:rPr lang="en-US" dirty="0" err="1"/>
              <a:t>NucleoATAC</a:t>
            </a:r>
            <a:r>
              <a:rPr lang="en-US" dirty="0"/>
              <a:t> to analyze fragment size distributions and detect nucleosome-free regions. To date, only </a:t>
            </a:r>
            <a:r>
              <a:rPr lang="en-US" dirty="0" err="1"/>
              <a:t>NucleoATAC</a:t>
            </a:r>
            <a:r>
              <a:rPr lang="en-US" dirty="0"/>
              <a:t> is specifically designed for nucleosome positioning analysis of ATAC- seq data based on the unique ATAC-seq fragmentation - </a:t>
            </a:r>
            <a:r>
              <a:rPr lang="en-US" dirty="0">
                <a:hlinkClick r:id="rId2"/>
              </a:rPr>
              <a:t>Liu et al</a:t>
            </a:r>
            <a:r>
              <a:rPr lang="en-US" dirty="0"/>
              <a:t>. </a:t>
            </a:r>
          </a:p>
          <a:p>
            <a:endParaRPr lang="en-US" dirty="0"/>
          </a:p>
        </p:txBody>
      </p:sp>
    </p:spTree>
    <p:extLst>
      <p:ext uri="{BB962C8B-B14F-4D97-AF65-F5344CB8AC3E}">
        <p14:creationId xmlns:p14="http://schemas.microsoft.com/office/powerpoint/2010/main" val="165853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B2462-5FE7-30AD-75E0-7A2A5E792279}"/>
              </a:ext>
            </a:extLst>
          </p:cNvPr>
          <p:cNvSpPr>
            <a:spLocks noGrp="1"/>
          </p:cNvSpPr>
          <p:nvPr>
            <p:ph type="title"/>
          </p:nvPr>
        </p:nvSpPr>
        <p:spPr/>
        <p:txBody>
          <a:bodyPr/>
          <a:lstStyle/>
          <a:p>
            <a:r>
              <a:rPr lang="en-US" dirty="0"/>
              <a:t>Transcription Factor Binding and Activity Analysis</a:t>
            </a:r>
          </a:p>
        </p:txBody>
      </p:sp>
      <p:sp>
        <p:nvSpPr>
          <p:cNvPr id="3" name="Content Placeholder 2">
            <a:extLst>
              <a:ext uri="{FF2B5EF4-FFF2-40B4-BE49-F238E27FC236}">
                <a16:creationId xmlns:a16="http://schemas.microsoft.com/office/drawing/2014/main" id="{73879AC3-DFEF-A1E1-6348-34C33AFF9E08}"/>
              </a:ext>
            </a:extLst>
          </p:cNvPr>
          <p:cNvSpPr>
            <a:spLocks noGrp="1"/>
          </p:cNvSpPr>
          <p:nvPr>
            <p:ph idx="1"/>
          </p:nvPr>
        </p:nvSpPr>
        <p:spPr/>
        <p:txBody>
          <a:bodyPr>
            <a:normAutofit/>
          </a:bodyPr>
          <a:lstStyle/>
          <a:p>
            <a:r>
              <a:rPr lang="en-US" b="1" dirty="0"/>
              <a:t>TF Occupancy Inference</a:t>
            </a:r>
            <a:r>
              <a:rPr lang="en-US" dirty="0"/>
              <a:t>: ATAC-seq and can reveal TF footprints in accessible chromatin regions, TOBIAS is recommended for ATAC-seq due to its superior bias correction and efficiency.</a:t>
            </a:r>
          </a:p>
          <a:p>
            <a:r>
              <a:rPr lang="en-US" b="1" dirty="0"/>
              <a:t>Motif Mapping</a:t>
            </a:r>
            <a:r>
              <a:rPr lang="en-US" dirty="0"/>
              <a:t>: Motif mapping in open chromatin regions, supported by tools such as FIMO, HOMER, and MOODS, helps identify potential TF binding sites.</a:t>
            </a:r>
          </a:p>
          <a:p>
            <a:r>
              <a:rPr lang="en-US" b="1" dirty="0"/>
              <a:t>Differential TF Binding Activity Analysis</a:t>
            </a:r>
            <a:r>
              <a:rPr lang="en-US" dirty="0"/>
              <a:t>: Changes in TF binding activity can be inferred by analyzing footprint depth (FPD) and flanking accessibility (FA) with tools like TOBIAS, which use bias correction and normalization techniques to detect condition-specific binding differences.</a:t>
            </a:r>
          </a:p>
          <a:p>
            <a:endParaRPr lang="en-US" dirty="0"/>
          </a:p>
        </p:txBody>
      </p:sp>
    </p:spTree>
    <p:extLst>
      <p:ext uri="{BB962C8B-B14F-4D97-AF65-F5344CB8AC3E}">
        <p14:creationId xmlns:p14="http://schemas.microsoft.com/office/powerpoint/2010/main" val="178820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8D6B2-3166-3EF6-7B0F-EDD79BE04030}"/>
              </a:ext>
            </a:extLst>
          </p:cNvPr>
          <p:cNvSpPr>
            <a:spLocks noGrp="1"/>
          </p:cNvSpPr>
          <p:nvPr>
            <p:ph type="title"/>
          </p:nvPr>
        </p:nvSpPr>
        <p:spPr/>
        <p:txBody>
          <a:bodyPr/>
          <a:lstStyle/>
          <a:p>
            <a:r>
              <a:rPr lang="en-US" dirty="0"/>
              <a:t>Visualization</a:t>
            </a:r>
          </a:p>
        </p:txBody>
      </p:sp>
      <p:sp>
        <p:nvSpPr>
          <p:cNvPr id="3" name="Content Placeholder 2">
            <a:extLst>
              <a:ext uri="{FF2B5EF4-FFF2-40B4-BE49-F238E27FC236}">
                <a16:creationId xmlns:a16="http://schemas.microsoft.com/office/drawing/2014/main" id="{700A6521-7D9D-86FE-9DDF-4446CF609810}"/>
              </a:ext>
            </a:extLst>
          </p:cNvPr>
          <p:cNvSpPr>
            <a:spLocks noGrp="1"/>
          </p:cNvSpPr>
          <p:nvPr>
            <p:ph idx="1"/>
          </p:nvPr>
        </p:nvSpPr>
        <p:spPr/>
        <p:txBody>
          <a:bodyPr/>
          <a:lstStyle/>
          <a:p>
            <a:r>
              <a:rPr lang="en-US" b="1" dirty="0"/>
              <a:t>Signal Tracks &amp; Heatmaps</a:t>
            </a:r>
            <a:r>
              <a:rPr lang="en-US" dirty="0"/>
              <a:t>: </a:t>
            </a:r>
            <a:r>
              <a:rPr lang="en-US" b="1" dirty="0"/>
              <a:t>Signal tracks</a:t>
            </a:r>
            <a:r>
              <a:rPr lang="en-US" dirty="0"/>
              <a:t> visualize read coverage across genomic regions, and </a:t>
            </a:r>
            <a:r>
              <a:rPr lang="en-US" b="1" dirty="0"/>
              <a:t>heatmaps</a:t>
            </a:r>
            <a:r>
              <a:rPr lang="en-US" dirty="0"/>
              <a:t> help compare enrichment profiles across loci. In ATAC-seq, TSS are often a location of interest.</a:t>
            </a:r>
            <a:endParaRPr lang="en-US" b="1" dirty="0"/>
          </a:p>
          <a:p>
            <a:r>
              <a:rPr lang="en-US" b="1" dirty="0" err="1"/>
              <a:t>pyGenomeTracks</a:t>
            </a:r>
            <a:r>
              <a:rPr lang="en-US" dirty="0"/>
              <a:t> allows multi-layered visualization of </a:t>
            </a:r>
            <a:r>
              <a:rPr lang="en-US" b="1" dirty="0"/>
              <a:t>ATAC-seq signals</a:t>
            </a:r>
            <a:r>
              <a:rPr lang="en-US" dirty="0"/>
              <a:t> across the genome.</a:t>
            </a:r>
          </a:p>
          <a:p>
            <a:r>
              <a:rPr lang="en-US" dirty="0"/>
              <a:t>IGV (Integrative Genomics Viewer) is a flexible and widely used tool for visualizing </a:t>
            </a:r>
            <a:r>
              <a:rPr lang="en-US" dirty="0" err="1"/>
              <a:t>ChIP</a:t>
            </a:r>
            <a:r>
              <a:rPr lang="en-US" dirty="0"/>
              <a:t>-Seq data</a:t>
            </a:r>
          </a:p>
          <a:p>
            <a:pPr marL="0" indent="0">
              <a:buNone/>
            </a:pPr>
            <a:endParaRPr lang="en-US" dirty="0"/>
          </a:p>
        </p:txBody>
      </p:sp>
      <p:pic>
        <p:nvPicPr>
          <p:cNvPr id="4" name="Picture 3">
            <a:extLst>
              <a:ext uri="{FF2B5EF4-FFF2-40B4-BE49-F238E27FC236}">
                <a16:creationId xmlns:a16="http://schemas.microsoft.com/office/drawing/2014/main" id="{2F307071-E71B-74FC-94CA-2CD6C9195A72}"/>
              </a:ext>
            </a:extLst>
          </p:cNvPr>
          <p:cNvPicPr>
            <a:picLocks noChangeAspect="1"/>
          </p:cNvPicPr>
          <p:nvPr/>
        </p:nvPicPr>
        <p:blipFill>
          <a:blip r:embed="rId3"/>
          <a:stretch>
            <a:fillRect/>
          </a:stretch>
        </p:blipFill>
        <p:spPr>
          <a:xfrm>
            <a:off x="9887642" y="0"/>
            <a:ext cx="1446415" cy="6858000"/>
          </a:xfrm>
          <a:prstGeom prst="rect">
            <a:avLst/>
          </a:prstGeom>
        </p:spPr>
      </p:pic>
    </p:spTree>
    <p:extLst>
      <p:ext uri="{BB962C8B-B14F-4D97-AF65-F5344CB8AC3E}">
        <p14:creationId xmlns:p14="http://schemas.microsoft.com/office/powerpoint/2010/main" val="40692140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9642</TotalTime>
  <Words>1635</Words>
  <Application>Microsoft Macintosh PowerPoint</Application>
  <PresentationFormat>Widescreen</PresentationFormat>
  <Paragraphs>102</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Century Gothic</vt:lpstr>
      <vt:lpstr>Wingdings 3</vt:lpstr>
      <vt:lpstr>Ion</vt:lpstr>
      <vt:lpstr>ATAC-Seq Best Practices</vt:lpstr>
      <vt:lpstr>ATAC-Seq</vt:lpstr>
      <vt:lpstr>Experimental Design</vt:lpstr>
      <vt:lpstr>Best practices during quality control of sequence reads</vt:lpstr>
      <vt:lpstr>Best practices during alignment</vt:lpstr>
      <vt:lpstr>ATAC-seq quality control of aligned reads</vt:lpstr>
      <vt:lpstr>ATAC-seq quality control of aligned reads</vt:lpstr>
      <vt:lpstr>ATACseqQC – Ou et al</vt:lpstr>
      <vt:lpstr>ATACseqQC – Assessment of footprints</vt:lpstr>
      <vt:lpstr>ATACseqQC – Sequencing depth and library complexity</vt:lpstr>
      <vt:lpstr>Check Insert Sizes</vt:lpstr>
      <vt:lpstr>Best practices during peak calling</vt:lpstr>
      <vt:lpstr>Comparison of peak calling tools - Liu et al</vt:lpstr>
      <vt:lpstr>Comparison of peak calling tools - Liu et al</vt:lpstr>
      <vt:lpstr>Differential Peak Analysis</vt:lpstr>
      <vt:lpstr>Peak Annotation/Pathway Analysis</vt:lpstr>
      <vt:lpstr>Nucleosome Positioning </vt:lpstr>
      <vt:lpstr>Transcription Factor Binding and Activity Analysis</vt:lpstr>
      <vt:lpstr>Visualization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Rouse</dc:creator>
  <cp:lastModifiedBy>James Rouse</cp:lastModifiedBy>
  <cp:revision>7</cp:revision>
  <dcterms:created xsi:type="dcterms:W3CDTF">2024-10-10T16:45:12Z</dcterms:created>
  <dcterms:modified xsi:type="dcterms:W3CDTF">2024-11-05T20:44:24Z</dcterms:modified>
</cp:coreProperties>
</file>