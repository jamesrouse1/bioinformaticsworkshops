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  <p:sldId id="263" r:id="rId9"/>
    <p:sldId id="266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97"/>
    <p:restoredTop sz="94722"/>
  </p:normalViewPr>
  <p:slideViewPr>
    <p:cSldViewPr snapToGrid="0">
      <p:cViewPr varScale="1">
        <p:scale>
          <a:sx n="118" d="100"/>
          <a:sy n="118" d="100"/>
        </p:scale>
        <p:origin x="488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A9851C-930E-114F-A11A-7E5987DB047A}" type="datetimeFigureOut">
              <a:rPr lang="en-US" smtClean="0"/>
              <a:t>5/6/25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FAD17B-8A33-A143-A37D-28CA2A0E9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070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Polishing before alignment, rescaling the quality score. - Combining short read sequencing.</a:t>
            </a:r>
          </a:p>
          <a:p>
            <a:endParaRPr lang="en-US" dirty="0"/>
          </a:p>
          <a:p>
            <a:r>
              <a:rPr lang="en-US" dirty="0"/>
              <a:t>Assembly is main reason people want to use.</a:t>
            </a:r>
          </a:p>
          <a:p>
            <a:endParaRPr lang="en-US" dirty="0"/>
          </a:p>
          <a:p>
            <a:r>
              <a:rPr lang="en-US" dirty="0"/>
              <a:t>Canu for assembly</a:t>
            </a:r>
          </a:p>
          <a:p>
            <a:endParaRPr lang="en-US" dirty="0"/>
          </a:p>
          <a:p>
            <a:r>
              <a:rPr lang="en-US" dirty="0"/>
              <a:t>Long read methylation, </a:t>
            </a:r>
            <a:r>
              <a:rPr lang="en-US" dirty="0" err="1"/>
              <a:t>nanocompore</a:t>
            </a:r>
            <a:r>
              <a:rPr lang="en-US" dirty="0"/>
              <a:t> and </a:t>
            </a:r>
            <a:r>
              <a:rPr lang="en-US" dirty="0" err="1"/>
              <a:t>expore</a:t>
            </a:r>
            <a:r>
              <a:rPr lang="en-US" dirty="0"/>
              <a:t> detect methylation from the electric current changes.</a:t>
            </a:r>
          </a:p>
          <a:p>
            <a:endParaRPr lang="en-US" dirty="0"/>
          </a:p>
          <a:p>
            <a:r>
              <a:rPr lang="en-US" dirty="0"/>
              <a:t>Epi2me is native to oxford nanopore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FAD17B-8A33-A143-A37D-28CA2A0E926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453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5/6/25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5/6/25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5/6/25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5/6/25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5/6/25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5/6/25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5/6/25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5/6/25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5/6/25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5/6/25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5/6/25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5/6/25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pmc.ncbi.nlm.nih.gov/articles/PMC10734412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ature.com/articles/s41592-023-02026-3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ature.com/articles/s41592-024-02298-3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enomebiology.biomedcentral.com/articles/10.1186/s13059-021-02551-4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rontiersin.org/journals/genetics/articles/10.3389/fgene.2022.887644/full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B4E4-584D-C625-5DBF-137BEA2841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Long-read best practices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BB7059-C0C4-F453-3437-36212F5FDD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James Rouse</a:t>
            </a:r>
          </a:p>
        </p:txBody>
      </p:sp>
    </p:spTree>
    <p:extLst>
      <p:ext uri="{BB962C8B-B14F-4D97-AF65-F5344CB8AC3E}">
        <p14:creationId xmlns:p14="http://schemas.microsoft.com/office/powerpoint/2010/main" val="1492285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32646-4611-A5B5-FE18-B9CC418E7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Long-read technology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C386B-3928-47D8-D70D-CA805245C6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Sequencing method that produces reads &gt; 10kb, sometimes even </a:t>
            </a:r>
            <a:r>
              <a:rPr lang="en-US" dirty="0" err="1"/>
              <a:t>megabases</a:t>
            </a:r>
            <a:r>
              <a:rPr lang="en-US" dirty="0"/>
              <a:t>.  </a:t>
            </a:r>
          </a:p>
          <a:p>
            <a:r>
              <a:rPr lang="en-US" dirty="0"/>
              <a:t>PacBio and Oxford Nanopore have developed technologies for accurate long-read capturing.</a:t>
            </a:r>
          </a:p>
          <a:p>
            <a:r>
              <a:rPr lang="en-US" dirty="0"/>
              <a:t>Used for detecting structural variants, full-length transcripts/isoforms, genome assembly, etc.</a:t>
            </a:r>
          </a:p>
          <a:p>
            <a:r>
              <a:rPr lang="en-US" dirty="0"/>
              <a:t>Long-read is generally less accurate and more expensive than short read, but technology is improving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958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C6CE1-56D5-0A55-F939-AE79687D3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Oxford Nanopore vs PacBio 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573971A-2C9A-84AA-AE08-A006E790FF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6378702"/>
              </p:ext>
            </p:extLst>
          </p:nvPr>
        </p:nvGraphicFramePr>
        <p:xfrm>
          <a:off x="1622425" y="4256462"/>
          <a:ext cx="8947149" cy="238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2383">
                  <a:extLst>
                    <a:ext uri="{9D8B030D-6E8A-4147-A177-3AD203B41FA5}">
                      <a16:colId xmlns:a16="http://schemas.microsoft.com/office/drawing/2014/main" val="3207311944"/>
                    </a:ext>
                  </a:extLst>
                </a:gridCol>
                <a:gridCol w="2982383">
                  <a:extLst>
                    <a:ext uri="{9D8B030D-6E8A-4147-A177-3AD203B41FA5}">
                      <a16:colId xmlns:a16="http://schemas.microsoft.com/office/drawing/2014/main" val="2218546001"/>
                    </a:ext>
                  </a:extLst>
                </a:gridCol>
                <a:gridCol w="2982383">
                  <a:extLst>
                    <a:ext uri="{9D8B030D-6E8A-4147-A177-3AD203B41FA5}">
                      <a16:colId xmlns:a16="http://schemas.microsoft.com/office/drawing/2014/main" val="8420829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Oxford Nanopore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PacBio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541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Read 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Very long (</a:t>
                      </a:r>
                      <a:r>
                        <a:rPr lang="en-US" dirty="0" err="1"/>
                        <a:t>Megabases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Long (&gt;10kb)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4568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Accuracy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90-98%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&gt;99% accuracy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10416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Sequencing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Real-time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Consensus (Read is read multiple times)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5135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Cost per 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Lower, but generally more bases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Higher due to accuracy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2375261"/>
                  </a:ext>
                </a:extLst>
              </a:tr>
            </a:tbl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502A7FD-8CA6-524D-2E0C-F9021AD0A9BE}"/>
              </a:ext>
            </a:extLst>
          </p:cNvPr>
          <p:cNvSpPr txBox="1">
            <a:spLocks/>
          </p:cNvSpPr>
          <p:nvPr/>
        </p:nvSpPr>
        <p:spPr>
          <a:xfrm>
            <a:off x="1104293" y="1541931"/>
            <a:ext cx="8946541" cy="171225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dirty="0"/>
              <a:t>Oxford Nanopore is used when you need very long reads</a:t>
            </a:r>
          </a:p>
          <a:p>
            <a:pPr lvl="1"/>
            <a:r>
              <a:rPr lang="en-US" dirty="0"/>
              <a:t>For example, structural variants are better studied using long reads</a:t>
            </a:r>
          </a:p>
          <a:p>
            <a:pPr lvl="1"/>
            <a:endParaRPr lang="en-US" dirty="0"/>
          </a:p>
          <a:p>
            <a:r>
              <a:rPr lang="en-US" dirty="0"/>
              <a:t>PacBio is used when you need very high accuracy</a:t>
            </a:r>
          </a:p>
          <a:p>
            <a:pPr lvl="1"/>
            <a:r>
              <a:rPr lang="en-US" dirty="0"/>
              <a:t>SNP/INDEL calling, genome assembly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858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6C473-30BE-0C24-EA2E-3C23A0E3F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Quality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E5942-5C68-C274-625B-0A12B86C4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341" y="1552175"/>
            <a:ext cx="8946541" cy="4195481"/>
          </a:xfrm>
        </p:spPr>
        <p:txBody>
          <a:bodyPr/>
          <a:lstStyle/>
          <a:p>
            <a:r>
              <a:rPr lang="en-US" dirty="0" err="1"/>
              <a:t>Nanoplot</a:t>
            </a:r>
            <a:r>
              <a:rPr lang="en-US" dirty="0"/>
              <a:t> – QC tool specifically made for long-read data.</a:t>
            </a:r>
          </a:p>
          <a:p>
            <a:r>
              <a:rPr lang="en-US" dirty="0" err="1"/>
              <a:t>FastQC</a:t>
            </a:r>
            <a:r>
              <a:rPr lang="en-US" dirty="0"/>
              <a:t> – can still be used for long-read data, but typically used for short-read data.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F86C2D-0C1B-5BEC-BE3E-67EA4063F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341" y="3369982"/>
            <a:ext cx="4826000" cy="30353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9533F30-9043-9D5F-1ABB-E977683C78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0661" y="3291541"/>
            <a:ext cx="5342746" cy="3035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144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B572A-1904-50A4-8337-D8BFB4DD5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Alignment for long-read RNA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1E5AA-EAF5-7438-79F1-BA4270D62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769890"/>
            <a:ext cx="8946541" cy="4195481"/>
          </a:xfrm>
        </p:spPr>
        <p:txBody>
          <a:bodyPr/>
          <a:lstStyle/>
          <a:p>
            <a:r>
              <a:rPr lang="en-US" dirty="0"/>
              <a:t>Minimap2 is dominant tool for long read RNA alignment.</a:t>
            </a:r>
          </a:p>
          <a:p>
            <a:r>
              <a:rPr lang="en-US" dirty="0"/>
              <a:t>Benchmark studies mainly look at transcript level tools or assembly tools</a:t>
            </a:r>
          </a:p>
          <a:p>
            <a:pPr lvl="1"/>
            <a:r>
              <a:rPr lang="en-US" dirty="0"/>
              <a:t>Transcript assemblers, quantifiers, differential tools</a:t>
            </a:r>
          </a:p>
          <a:p>
            <a:r>
              <a:rPr lang="en-US" dirty="0">
                <a:hlinkClick r:id="rId2"/>
              </a:rPr>
              <a:t>LoTempio et al</a:t>
            </a:r>
            <a:r>
              <a:rPr lang="en-US" dirty="0"/>
              <a:t> – </a:t>
            </a:r>
            <a:r>
              <a:rPr lang="en-US" dirty="0" err="1"/>
              <a:t>Benchamarks</a:t>
            </a:r>
            <a:r>
              <a:rPr lang="en-US" dirty="0"/>
              <a:t> the alignment tools for long-read RNA</a:t>
            </a:r>
          </a:p>
          <a:p>
            <a:pPr lvl="1"/>
            <a:r>
              <a:rPr lang="en-US" dirty="0"/>
              <a:t>Minimap2 outperforms all of the other tools</a:t>
            </a:r>
          </a:p>
          <a:p>
            <a:pPr lvl="1"/>
            <a:r>
              <a:rPr lang="en-US" dirty="0"/>
              <a:t>Winnowmap2 was the fastest tool</a:t>
            </a:r>
          </a:p>
          <a:p>
            <a:r>
              <a:rPr lang="en-US" dirty="0"/>
              <a:t>Alignment tool generally less important in long-read because the longer reads are often easier to align to the genome.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377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22397-7908-B4A2-08BA-A18C74A0A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Dong et al. </a:t>
            </a:r>
            <a:r>
              <a:rPr lang="en-US" dirty="0"/>
              <a:t>Benchmark study for long-read RNA analysis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98449-DEB8-5359-EBD4-19B89A800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Isoform Reconstruction and Detection</a:t>
            </a:r>
          </a:p>
          <a:p>
            <a:pPr lvl="1"/>
            <a:r>
              <a:rPr lang="en-US" dirty="0"/>
              <a:t>StringTie2: Highest precision (predictions were correct)</a:t>
            </a:r>
          </a:p>
          <a:p>
            <a:pPr lvl="1"/>
            <a:r>
              <a:rPr lang="en-US" dirty="0"/>
              <a:t>Bambu: Highest power (more novel isoforms were detected)</a:t>
            </a:r>
          </a:p>
          <a:p>
            <a:pPr lvl="1"/>
            <a:r>
              <a:rPr lang="en-US" dirty="0"/>
              <a:t>FLAIR, TALON, cupcake all overpredicted – a lot of artifactual isoforms</a:t>
            </a:r>
          </a:p>
          <a:p>
            <a:r>
              <a:rPr lang="en-US" dirty="0"/>
              <a:t>Differential transcript expression (DTE)</a:t>
            </a:r>
          </a:p>
          <a:p>
            <a:pPr lvl="1"/>
            <a:r>
              <a:rPr lang="en-US" dirty="0"/>
              <a:t>DESeq2, </a:t>
            </a:r>
            <a:r>
              <a:rPr lang="en-US" dirty="0" err="1"/>
              <a:t>edgeR</a:t>
            </a:r>
            <a:r>
              <a:rPr lang="en-US" dirty="0"/>
              <a:t>, </a:t>
            </a:r>
            <a:r>
              <a:rPr lang="en-US" dirty="0" err="1"/>
              <a:t>limma</a:t>
            </a:r>
            <a:r>
              <a:rPr lang="en-US" dirty="0"/>
              <a:t> all effective and performed similarly in differential transcript analysis</a:t>
            </a:r>
          </a:p>
          <a:p>
            <a:r>
              <a:rPr lang="en-US" dirty="0"/>
              <a:t>Differential transcript usage (DTU)</a:t>
            </a:r>
          </a:p>
          <a:p>
            <a:pPr lvl="1"/>
            <a:r>
              <a:rPr lang="en-US" dirty="0" err="1"/>
              <a:t>DRIMSeq</a:t>
            </a:r>
            <a:r>
              <a:rPr lang="en-US" dirty="0"/>
              <a:t> and </a:t>
            </a:r>
            <a:r>
              <a:rPr lang="en-US" dirty="0" err="1"/>
              <a:t>DEXSeq</a:t>
            </a:r>
            <a:r>
              <a:rPr lang="en-US" dirty="0"/>
              <a:t> were the most powerful DTU tools but had high false discovery rates; </a:t>
            </a:r>
            <a:r>
              <a:rPr lang="en-US" dirty="0" err="1"/>
              <a:t>edgeR</a:t>
            </a:r>
            <a:r>
              <a:rPr lang="en-US"/>
              <a:t> controlled FDR well but had the lowest power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4804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BE8A2-2AA4-6B66-B25A-D99436DBC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hlinkClick r:id="rId2"/>
              </a:rPr>
              <a:t>Pardo-Palacios et al </a:t>
            </a:r>
            <a:r>
              <a:rPr lang="en-US" sz="3600" dirty="0"/>
              <a:t>– Benchmark study for long-read transcript </a:t>
            </a:r>
            <a:r>
              <a:rPr lang="en-US" sz="3600" dirty="0" err="1"/>
              <a:t>indentification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6BA58-A20E-4E8E-53FD-44E46C011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reads were aligned using minimap2</a:t>
            </a:r>
          </a:p>
          <a:p>
            <a:r>
              <a:rPr lang="en-US" dirty="0"/>
              <a:t>Read quality and length, not quantity were the drivers of accurate transcript reconstruction </a:t>
            </a:r>
          </a:p>
          <a:p>
            <a:r>
              <a:rPr lang="en-US" dirty="0"/>
              <a:t>Toos for transcript identification varied in performance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effectLst/>
              </a:rPr>
              <a:t>Best Tools for reference based</a:t>
            </a:r>
            <a:r>
              <a:rPr lang="en-US" b="0" i="0" u="none" strike="noStrike" dirty="0">
                <a:effectLst/>
              </a:rPr>
              <a:t>: </a:t>
            </a:r>
            <a:r>
              <a:rPr lang="en-US" b="1" i="0" u="none" strike="noStrike" dirty="0">
                <a:effectLst/>
              </a:rPr>
              <a:t>Bambu</a:t>
            </a:r>
            <a:r>
              <a:rPr lang="en-US" b="0" i="0" u="none" strike="noStrike" dirty="0">
                <a:effectLst/>
              </a:rPr>
              <a:t> and </a:t>
            </a:r>
            <a:r>
              <a:rPr lang="en-US" b="1" i="0" u="none" strike="noStrike" dirty="0" err="1">
                <a:effectLst/>
              </a:rPr>
              <a:t>IsoQuant</a:t>
            </a:r>
            <a:r>
              <a:rPr lang="en-US" dirty="0"/>
              <a:t>, </a:t>
            </a:r>
            <a:r>
              <a:rPr lang="en-US" b="1" dirty="0"/>
              <a:t>FLAMES</a:t>
            </a:r>
            <a:r>
              <a:rPr lang="en-US" b="0" i="0" u="none" strike="noStrike" dirty="0">
                <a:effectLst/>
              </a:rPr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effectLst/>
              </a:rPr>
              <a:t>De Novo Transcript Detection – StringTie2 </a:t>
            </a:r>
            <a:r>
              <a:rPr lang="en-US" i="0" u="none" strike="noStrike" dirty="0">
                <a:effectLst/>
              </a:rPr>
              <a:t>for assembly and </a:t>
            </a:r>
            <a:r>
              <a:rPr lang="en-US" b="1" i="0" u="none" strike="noStrike" dirty="0">
                <a:effectLst/>
              </a:rPr>
              <a:t>Isoquant</a:t>
            </a:r>
            <a:r>
              <a:rPr lang="en-US" i="0" u="none" strike="noStrike" dirty="0">
                <a:effectLst/>
              </a:rPr>
              <a:t> for quantification, </a:t>
            </a:r>
            <a:r>
              <a:rPr lang="en-US" b="1" i="0" u="none" strike="noStrike" dirty="0">
                <a:effectLst/>
              </a:rPr>
              <a:t>RNA-Bloom</a:t>
            </a:r>
            <a:r>
              <a:rPr lang="en-US" i="0" u="none" strike="noStrike" dirty="0">
                <a:effectLst/>
              </a:rPr>
              <a:t> and </a:t>
            </a:r>
            <a:r>
              <a:rPr lang="en-US" b="1" i="0" u="none" strike="noStrike" dirty="0" err="1">
                <a:effectLst/>
              </a:rPr>
              <a:t>rnaSPAdes</a:t>
            </a:r>
            <a:r>
              <a:rPr lang="en-US" i="0" u="none" strike="noStrike" dirty="0">
                <a:effectLst/>
              </a:rPr>
              <a:t> both prone to overcalling.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295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2B727-5132-61BF-1346-C86E52A65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40889" cy="1400530"/>
          </a:xfrm>
        </p:spPr>
        <p:txBody>
          <a:bodyPr/>
          <a:lstStyle/>
          <a:p>
            <a:r>
              <a:rPr lang="en-US" dirty="0" err="1">
                <a:hlinkClick r:id="rId2"/>
              </a:rPr>
              <a:t>Dierckxsens</a:t>
            </a:r>
            <a:r>
              <a:rPr lang="en-US" dirty="0">
                <a:hlinkClick r:id="rId2"/>
              </a:rPr>
              <a:t> et al </a:t>
            </a:r>
            <a:r>
              <a:rPr lang="en-US" dirty="0"/>
              <a:t>– Benchmark study for long-read structural variant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A2FD1-A80C-474C-000B-337CC95A6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cuteSV</a:t>
            </a:r>
            <a:r>
              <a:rPr lang="en-US" b="1" dirty="0"/>
              <a:t>, SVIM, and </a:t>
            </a:r>
            <a:r>
              <a:rPr lang="en-US" b="1" dirty="0" err="1"/>
              <a:t>pbsv</a:t>
            </a:r>
            <a:r>
              <a:rPr lang="en-US" dirty="0"/>
              <a:t> performed best overall, with </a:t>
            </a:r>
            <a:r>
              <a:rPr lang="en-US" dirty="0" err="1"/>
              <a:t>pbsv</a:t>
            </a:r>
            <a:r>
              <a:rPr lang="en-US" dirty="0"/>
              <a:t> being most accurate for SV position and length.</a:t>
            </a:r>
          </a:p>
          <a:p>
            <a:r>
              <a:rPr lang="en-US" b="1" dirty="0" err="1"/>
              <a:t>combiSV</a:t>
            </a:r>
            <a:r>
              <a:rPr lang="en-US" dirty="0"/>
              <a:t>, a new tool, combines outputs from 6 SV callers to improve recall, precision, and accuracy.</a:t>
            </a:r>
          </a:p>
          <a:p>
            <a:r>
              <a:rPr lang="en-US" dirty="0"/>
              <a:t>Higher sequencing </a:t>
            </a:r>
            <a:r>
              <a:rPr lang="en-US" b="1" dirty="0"/>
              <a:t>depth doesn't always help</a:t>
            </a:r>
            <a:r>
              <a:rPr lang="en-US" dirty="0"/>
              <a:t>, but </a:t>
            </a:r>
            <a:r>
              <a:rPr lang="en-US" b="1" dirty="0"/>
              <a:t>longer reads</a:t>
            </a:r>
            <a:r>
              <a:rPr lang="en-US" dirty="0"/>
              <a:t> consistently improve SV detection.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9382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96116-AB2D-E419-1422-14CEC99F6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Luth et al. </a:t>
            </a:r>
            <a:r>
              <a:rPr lang="en-US" dirty="0"/>
              <a:t>– Genome assembly tools with long-read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74458-0B88-3347-D280-4C8F2953E6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Flye</a:t>
            </a:r>
            <a:r>
              <a:rPr lang="en-US" dirty="0"/>
              <a:t> is the top-performing long-read assembler overall for PacBio CLR and ONT reads.</a:t>
            </a:r>
          </a:p>
          <a:p>
            <a:r>
              <a:rPr lang="en-US" b="1" dirty="0" err="1"/>
              <a:t>Hifiasm</a:t>
            </a:r>
            <a:r>
              <a:rPr lang="en-US" dirty="0"/>
              <a:t> and </a:t>
            </a:r>
            <a:r>
              <a:rPr lang="en-US" b="1" dirty="0"/>
              <a:t>LJA</a:t>
            </a:r>
            <a:r>
              <a:rPr lang="en-US" dirty="0"/>
              <a:t> are best for high-accuracy PacBio HiFi assemblies.</a:t>
            </a:r>
          </a:p>
          <a:p>
            <a:r>
              <a:rPr lang="en-US" b="1" dirty="0" err="1"/>
              <a:t>Miniasm</a:t>
            </a:r>
            <a:r>
              <a:rPr lang="en-US" dirty="0"/>
              <a:t>, </a:t>
            </a:r>
            <a:r>
              <a:rPr lang="en-US" b="1" dirty="0"/>
              <a:t>Raven</a:t>
            </a:r>
            <a:r>
              <a:rPr lang="en-US" dirty="0"/>
              <a:t>, and </a:t>
            </a:r>
            <a:r>
              <a:rPr lang="en-US" b="1" dirty="0"/>
              <a:t>wtdbg2</a:t>
            </a:r>
            <a:r>
              <a:rPr lang="en-US" dirty="0"/>
              <a:t> work well for small genomes with lower resource use.</a:t>
            </a:r>
          </a:p>
          <a:p>
            <a:r>
              <a:rPr lang="en-US" dirty="0"/>
              <a:t>Longer reads improve reduce interruptions in large genomes but don’t always enhance identity or gene recovery.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2168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C75F6-BA6A-DAD6-1FE7-033A6DB02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Varaint</a:t>
            </a:r>
            <a:r>
              <a:rPr lang="en-US" dirty="0"/>
              <a:t> Callers for long-read DNA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A5F3B-E926-AD4A-1B4B-BDF66A987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940859"/>
            <a:ext cx="8946541" cy="4195481"/>
          </a:xfrm>
        </p:spPr>
        <p:txBody>
          <a:bodyPr>
            <a:normAutofit/>
          </a:bodyPr>
          <a:lstStyle/>
          <a:p>
            <a:r>
              <a:rPr lang="en-US" dirty="0"/>
              <a:t>Clair3</a:t>
            </a:r>
          </a:p>
          <a:p>
            <a:pPr lvl="1"/>
            <a:r>
              <a:rPr lang="en-US" dirty="0"/>
              <a:t>Deep learning-based </a:t>
            </a:r>
          </a:p>
          <a:p>
            <a:pPr lvl="1"/>
            <a:r>
              <a:rPr lang="en-US" dirty="0"/>
              <a:t>Top accuracy on ONT &amp; PacBio HiFi  </a:t>
            </a:r>
          </a:p>
          <a:p>
            <a:r>
              <a:rPr lang="en-US" dirty="0"/>
              <a:t>PEPPER-Margin-</a:t>
            </a:r>
            <a:r>
              <a:rPr lang="en-US" dirty="0" err="1"/>
              <a:t>DeepVariant</a:t>
            </a:r>
            <a:r>
              <a:rPr lang="en-US" dirty="0"/>
              <a:t>   </a:t>
            </a:r>
          </a:p>
          <a:p>
            <a:pPr lvl="1"/>
            <a:r>
              <a:rPr lang="en-US" dirty="0"/>
              <a:t>Ensemble model (PEPPER + </a:t>
            </a:r>
            <a:r>
              <a:rPr lang="en-US" dirty="0" err="1"/>
              <a:t>DeepVariant</a:t>
            </a:r>
            <a:r>
              <a:rPr lang="en-US" dirty="0"/>
              <a:t>)  </a:t>
            </a:r>
          </a:p>
          <a:p>
            <a:pPr lvl="1"/>
            <a:r>
              <a:rPr lang="en-US" dirty="0"/>
              <a:t>Excellent for PacBio HiFi  </a:t>
            </a:r>
          </a:p>
          <a:p>
            <a:r>
              <a:rPr lang="en-US" dirty="0"/>
              <a:t>Mutserve2</a:t>
            </a:r>
          </a:p>
          <a:p>
            <a:pPr lvl="1"/>
            <a:r>
              <a:rPr lang="en-US" dirty="0"/>
              <a:t>Best for mitochondrial low-frequency variants </a:t>
            </a:r>
          </a:p>
          <a:p>
            <a:pPr lvl="1"/>
            <a:r>
              <a:rPr lang="en-US" dirty="0"/>
              <a:t>High sensitivity &amp; F1 score </a:t>
            </a:r>
          </a:p>
        </p:txBody>
      </p:sp>
    </p:spTree>
    <p:extLst>
      <p:ext uri="{BB962C8B-B14F-4D97-AF65-F5344CB8AC3E}">
        <p14:creationId xmlns:p14="http://schemas.microsoft.com/office/powerpoint/2010/main" val="19221208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1B3CF-7F49-634A-5247-E2531F0E6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Differences from short-read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9B94A-0EBA-1E71-AEA1-C0F167C711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comes in FAST5 format, not FASTQ.</a:t>
            </a:r>
          </a:p>
          <a:p>
            <a:pPr lvl="1"/>
            <a:r>
              <a:rPr lang="en-US" dirty="0"/>
              <a:t>Tools like Guppy and Bonito are used for base calling</a:t>
            </a:r>
          </a:p>
          <a:p>
            <a:r>
              <a:rPr lang="en-US" dirty="0"/>
              <a:t>Trimming</a:t>
            </a:r>
          </a:p>
          <a:p>
            <a:pPr lvl="1"/>
            <a:r>
              <a:rPr lang="en-US" dirty="0"/>
              <a:t>Tools like </a:t>
            </a:r>
            <a:r>
              <a:rPr lang="en-US" dirty="0" err="1"/>
              <a:t>FiltLong</a:t>
            </a:r>
            <a:r>
              <a:rPr lang="en-US" dirty="0"/>
              <a:t> or </a:t>
            </a:r>
            <a:r>
              <a:rPr lang="en-US" dirty="0" err="1"/>
              <a:t>NanoFilt</a:t>
            </a:r>
            <a:r>
              <a:rPr lang="en-US" dirty="0"/>
              <a:t> are used to trim long-read data</a:t>
            </a:r>
          </a:p>
          <a:p>
            <a:r>
              <a:rPr lang="en-US" dirty="0"/>
              <a:t>Deference in tools for variant calling and transcript identification/quantification	</a:t>
            </a:r>
          </a:p>
          <a:p>
            <a:pPr lvl="1"/>
            <a:r>
              <a:rPr lang="en-US" dirty="0"/>
              <a:t>As discussed, different tools should be used when dealing with long-read data</a:t>
            </a:r>
          </a:p>
        </p:txBody>
      </p:sp>
    </p:spTree>
    <p:extLst>
      <p:ext uri="{BB962C8B-B14F-4D97-AF65-F5344CB8AC3E}">
        <p14:creationId xmlns:p14="http://schemas.microsoft.com/office/powerpoint/2010/main" val="1227779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1920</TotalTime>
  <Words>706</Words>
  <Application>Microsoft Macintosh PowerPoint</Application>
  <PresentationFormat>Widescreen</PresentationFormat>
  <Paragraphs>92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Century Gothic</vt:lpstr>
      <vt:lpstr>Wingdings 3</vt:lpstr>
      <vt:lpstr>Ion</vt:lpstr>
      <vt:lpstr>Long-read best practices</vt:lpstr>
      <vt:lpstr>Long-read technology</vt:lpstr>
      <vt:lpstr>Oxford Nanopore vs PacBio  </vt:lpstr>
      <vt:lpstr>Quality control</vt:lpstr>
      <vt:lpstr>Alignment for long-read RNA</vt:lpstr>
      <vt:lpstr>Dong et al. Benchmark study for long-read RNA analysis </vt:lpstr>
      <vt:lpstr>Pardo-Palacios et al – Benchmark study for long-read transcript indentification</vt:lpstr>
      <vt:lpstr>Dierckxsens et al – Benchmark study for long-read structural variant</vt:lpstr>
      <vt:lpstr>Luth et al. – Genome assembly tools with long-read data</vt:lpstr>
      <vt:lpstr>Varaint Callers for long-read DNA data</vt:lpstr>
      <vt:lpstr>Differences from short-read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Rouse</dc:creator>
  <cp:lastModifiedBy>James Rouse</cp:lastModifiedBy>
  <cp:revision>5</cp:revision>
  <dcterms:created xsi:type="dcterms:W3CDTF">2025-04-22T19:01:02Z</dcterms:created>
  <dcterms:modified xsi:type="dcterms:W3CDTF">2025-05-06T18:29:52Z</dcterms:modified>
</cp:coreProperties>
</file>