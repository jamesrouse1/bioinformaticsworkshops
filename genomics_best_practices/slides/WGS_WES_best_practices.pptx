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5" r:id="rId3"/>
    <p:sldId id="259" r:id="rId4"/>
    <p:sldId id="273" r:id="rId5"/>
    <p:sldId id="261" r:id="rId6"/>
    <p:sldId id="260" r:id="rId7"/>
    <p:sldId id="264" r:id="rId8"/>
    <p:sldId id="263" r:id="rId9"/>
    <p:sldId id="265" r:id="rId10"/>
    <p:sldId id="262" r:id="rId11"/>
    <p:sldId id="267" r:id="rId12"/>
    <p:sldId id="268" r:id="rId13"/>
    <p:sldId id="270" r:id="rId14"/>
    <p:sldId id="271" r:id="rId15"/>
    <p:sldId id="272" r:id="rId16"/>
    <p:sldId id="274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5"/>
    <p:restoredTop sz="94653"/>
  </p:normalViewPr>
  <p:slideViewPr>
    <p:cSldViewPr snapToGrid="0">
      <p:cViewPr varScale="1">
        <p:scale>
          <a:sx n="118" d="100"/>
          <a:sy n="118" d="100"/>
        </p:scale>
        <p:origin x="-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mcgenomics.biomedcentral.com/articles/10.1186/s12864-022-08365-3#Sec7" TargetMode="External"/><Relationship Id="rId2" Type="http://schemas.openxmlformats.org/officeDocument/2006/relationships/hyperlink" Target="https://www.nature.com/articles/s41598-022-26181-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mcgenomics.biomedcentral.com/articles/10.1186/s12864-022-08365-3#Sec7" TargetMode="External"/><Relationship Id="rId2" Type="http://schemas.openxmlformats.org/officeDocument/2006/relationships/hyperlink" Target="https://www.nature.com/articles/s41598-022-26181-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mcbioinformatics.biomedcentral.com/articles/10.1186/s12859-023-05596-3#Sec11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c.oup.com/bib/article/26/1/bbae697/7960049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8699073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ture.com/articles/s41525-021-00227-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F452-8387-40EA-61F3-C6558445D2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WGS/WES best practices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8A38D-0EE3-0C5F-C608-BD1C717210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JAMES ROUSE</a:t>
            </a:r>
          </a:p>
        </p:txBody>
      </p:sp>
    </p:spTree>
    <p:extLst>
      <p:ext uri="{BB962C8B-B14F-4D97-AF65-F5344CB8AC3E}">
        <p14:creationId xmlns:p14="http://schemas.microsoft.com/office/powerpoint/2010/main" val="246659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CAA5-AA0D-19B1-813D-37C3A2550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28ED-FC27-B9B1-F627-CD45E1042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Coverage for germline mutations</a:t>
            </a:r>
          </a:p>
          <a:p>
            <a:pPr lvl="1"/>
            <a:r>
              <a:rPr lang="en-US" dirty="0"/>
              <a:t>WES: 100X coverage, where on average, each base in the </a:t>
            </a:r>
            <a:r>
              <a:rPr lang="en-US" dirty="0" err="1"/>
              <a:t>exonic</a:t>
            </a:r>
            <a:r>
              <a:rPr lang="en-US" dirty="0"/>
              <a:t> region can be read 100 times</a:t>
            </a:r>
          </a:p>
          <a:p>
            <a:pPr lvl="1"/>
            <a:r>
              <a:rPr lang="en-US" dirty="0"/>
              <a:t>WGS: 30X coverage</a:t>
            </a:r>
          </a:p>
          <a:p>
            <a:r>
              <a:rPr lang="en-US" dirty="0"/>
              <a:t>Coverage for somatic (tumor/normal)</a:t>
            </a:r>
          </a:p>
          <a:p>
            <a:pPr lvl="1"/>
            <a:r>
              <a:rPr lang="en-US" dirty="0"/>
              <a:t>WES: 100X-150X</a:t>
            </a:r>
          </a:p>
          <a:p>
            <a:pPr lvl="1"/>
            <a:r>
              <a:rPr lang="en-US" dirty="0"/>
              <a:t>WGS: 100X for tumor samples</a:t>
            </a:r>
          </a:p>
          <a:p>
            <a:r>
              <a:rPr lang="en-US" dirty="0"/>
              <a:t>If looking at somatic mutations, must have tumor and normal DNA from same patient.</a:t>
            </a:r>
          </a:p>
          <a:p>
            <a:r>
              <a:rPr lang="en-US" dirty="0"/>
              <a:t>Sample size depends heavily on study objectives, effect sizes, and statistical power</a:t>
            </a:r>
          </a:p>
          <a:p>
            <a:pPr lvl="1"/>
            <a:r>
              <a:rPr lang="en-US" dirty="0"/>
              <a:t>Common variants require fewer samples.</a:t>
            </a:r>
          </a:p>
          <a:p>
            <a:pPr lvl="1"/>
            <a:r>
              <a:rPr lang="en-US" dirty="0"/>
              <a:t>Strong effect (</a:t>
            </a:r>
            <a:r>
              <a:rPr lang="en-US" dirty="0" err="1"/>
              <a:t>eg.</a:t>
            </a:r>
            <a:r>
              <a:rPr lang="en-US" dirty="0"/>
              <a:t> Mendelian Disease) requires fewer samples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18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BFFD6-9A5C-0ADC-C6C0-2C6FE2EA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during quality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510A-A7FB-24E4-E72C-11C85713D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88" y="2091299"/>
            <a:ext cx="5978525" cy="419548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Purpose: </a:t>
            </a:r>
            <a:r>
              <a:rPr lang="en-US" dirty="0"/>
              <a:t>Assess the quality of the reads and ensure that the sequencing data is of high quality and reliable for downstream analysis.</a:t>
            </a:r>
          </a:p>
          <a:p>
            <a:r>
              <a:rPr lang="en-US" b="1" dirty="0" err="1"/>
              <a:t>FastQC</a:t>
            </a:r>
            <a:r>
              <a:rPr lang="en-US" dirty="0"/>
              <a:t>: Identifies potential issues such as poor read quality, adapter contamination, and sequence biases.</a:t>
            </a:r>
          </a:p>
          <a:p>
            <a:r>
              <a:rPr lang="en-US" b="1" dirty="0" err="1"/>
              <a:t>Fastq_screen</a:t>
            </a:r>
            <a:r>
              <a:rPr lang="en-US" dirty="0"/>
              <a:t>: Aligns reads to multiple reference genomes/databases. Good way to detect contamination.</a:t>
            </a:r>
          </a:p>
          <a:p>
            <a:r>
              <a:rPr lang="en-US" b="1" dirty="0"/>
              <a:t>Adapter trimming</a:t>
            </a:r>
            <a:r>
              <a:rPr lang="en-US" dirty="0"/>
              <a:t>: Adapter trimming is optional, but often recommended. </a:t>
            </a:r>
            <a:r>
              <a:rPr lang="en-US" dirty="0" err="1"/>
              <a:t>CutAdapt</a:t>
            </a:r>
            <a:r>
              <a:rPr lang="en-US" dirty="0"/>
              <a:t> is the most common tool used for adapter trimming.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A5EEE8-B9E9-1395-72D9-A144417A2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385" y="2095781"/>
            <a:ext cx="5561140" cy="344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7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8451-AD74-0926-B2BA-267F24ED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WES vs. WGS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E3B0-793D-B138-7F16-379BAE6FB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WES focuses on the coding regions of the genome. </a:t>
            </a:r>
          </a:p>
          <a:p>
            <a:pPr lvl="1"/>
            <a:r>
              <a:rPr lang="en-US" dirty="0"/>
              <a:t>Often used in smaller studies where cost is a concern. </a:t>
            </a:r>
          </a:p>
          <a:p>
            <a:pPr lvl="1"/>
            <a:r>
              <a:rPr lang="en-US" dirty="0"/>
              <a:t>Difficult time capturing structural variants, mutations in non-coding region.</a:t>
            </a:r>
          </a:p>
          <a:p>
            <a:pPr lvl="1"/>
            <a:r>
              <a:rPr lang="en-US" dirty="0"/>
              <a:t>Used as first-line, quicker analysis compared to WGS</a:t>
            </a:r>
          </a:p>
          <a:p>
            <a:r>
              <a:rPr lang="en-US" dirty="0"/>
              <a:t>WGS sequences the entire genome</a:t>
            </a:r>
          </a:p>
          <a:p>
            <a:pPr lvl="1"/>
            <a:r>
              <a:rPr lang="en-US" dirty="0"/>
              <a:t>Used when cost and time aren’t a problem</a:t>
            </a:r>
          </a:p>
          <a:p>
            <a:pPr lvl="1"/>
            <a:r>
              <a:rPr lang="en-US" dirty="0"/>
              <a:t>Captures structural variants and mutations in non-coding regions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692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942E-C4AA-069D-BF92-C6A25527A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during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24E36-B91E-84E8-52D5-7A29E6034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BWA (BWA-MEM2) – Most popular for WGS/WES</a:t>
            </a:r>
          </a:p>
          <a:p>
            <a:pPr lvl="1"/>
            <a:r>
              <a:rPr lang="en-US" dirty="0"/>
              <a:t>Pros: Accurate, works well with GATK</a:t>
            </a:r>
          </a:p>
          <a:p>
            <a:pPr lvl="1"/>
            <a:r>
              <a:rPr lang="en-US" dirty="0"/>
              <a:t>Cons: Can be slow and computationally intensive</a:t>
            </a:r>
          </a:p>
          <a:p>
            <a:r>
              <a:rPr lang="en-US" dirty="0"/>
              <a:t>Bowtie2 – High speed and memory efficient aligner. </a:t>
            </a:r>
          </a:p>
          <a:p>
            <a:pPr lvl="1"/>
            <a:r>
              <a:rPr lang="en-US" dirty="0"/>
              <a:t>Pros: Fast, not as computationally intensive</a:t>
            </a:r>
          </a:p>
          <a:p>
            <a:pPr lvl="1"/>
            <a:r>
              <a:rPr lang="en-US" dirty="0"/>
              <a:t>Lower sensitivity than BWA-MEM</a:t>
            </a:r>
          </a:p>
          <a:p>
            <a:r>
              <a:rPr lang="en-US" dirty="0" err="1"/>
              <a:t>Novoalign</a:t>
            </a:r>
            <a:r>
              <a:rPr lang="en-US" dirty="0"/>
              <a:t> – Closed source, high accuracy</a:t>
            </a:r>
          </a:p>
          <a:p>
            <a:pPr lvl="1"/>
            <a:r>
              <a:rPr lang="en-US" dirty="0"/>
              <a:t>Pros: Very accurate and reliable</a:t>
            </a:r>
          </a:p>
          <a:p>
            <a:pPr lvl="1"/>
            <a:r>
              <a:rPr lang="en-US" dirty="0"/>
              <a:t>Cons: Can be slow and requires a license</a:t>
            </a:r>
          </a:p>
          <a:p>
            <a:r>
              <a:rPr lang="en-US" dirty="0"/>
              <a:t>DRAGEN – Closed source, high accuracy, fast </a:t>
            </a:r>
          </a:p>
          <a:p>
            <a:pPr lvl="1"/>
            <a:r>
              <a:rPr lang="en-US" dirty="0"/>
              <a:t>Pros: Accuracy, speed, alignment and variant/copy number calling all in one step</a:t>
            </a:r>
          </a:p>
          <a:p>
            <a:pPr lvl="1"/>
            <a:r>
              <a:rPr lang="en-US" dirty="0"/>
              <a:t>Cons: Requires a license</a:t>
            </a:r>
          </a:p>
        </p:txBody>
      </p:sp>
    </p:spTree>
    <p:extLst>
      <p:ext uri="{BB962C8B-B14F-4D97-AF65-F5344CB8AC3E}">
        <p14:creationId xmlns:p14="http://schemas.microsoft.com/office/powerpoint/2010/main" val="2534885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A777-E726-7260-3892-C5CF454F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Studies comparing aligners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4D3E0-513E-D243-7B06-1033AEBA4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Betschart et al</a:t>
            </a:r>
            <a:r>
              <a:rPr lang="en-US" dirty="0"/>
              <a:t> – Benchmark study comparing BWA-MEM with DRAGEN</a:t>
            </a:r>
          </a:p>
          <a:p>
            <a:pPr lvl="1"/>
            <a:r>
              <a:rPr lang="en-US" dirty="0"/>
              <a:t>Study showed that alignment and mappings step was more accurate and faster using DRAGEN vs. BWA-MEM2/GATK.</a:t>
            </a:r>
          </a:p>
          <a:p>
            <a:r>
              <a:rPr lang="en-US" dirty="0">
                <a:hlinkClick r:id="rId3"/>
              </a:rPr>
              <a:t>Barbitoff et al</a:t>
            </a:r>
            <a:r>
              <a:rPr lang="en-US" dirty="0"/>
              <a:t> – Benchmark study comparing various alignment tools and variant callers</a:t>
            </a:r>
          </a:p>
          <a:p>
            <a:pPr lvl="1"/>
            <a:r>
              <a:rPr lang="en-US" dirty="0"/>
              <a:t>Variant callers have a much larger effect on variant than choice of aligner.</a:t>
            </a:r>
          </a:p>
          <a:p>
            <a:pPr lvl="1"/>
            <a:r>
              <a:rPr lang="en-US" dirty="0"/>
              <a:t>Mentioned that BWA-MEM2 is a reliable aligner</a:t>
            </a:r>
          </a:p>
          <a:p>
            <a:pPr lvl="1"/>
            <a:r>
              <a:rPr lang="en-US" dirty="0"/>
              <a:t>Bowtie2 shouldn’t be used for human variant calling, significantly worse performance than other aligners.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915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423D-747F-B31C-1A88-61E263A0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Post-alignment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75925-86D2-8236-48A3-A1E5CB962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and indexing bam files for downstream analysis</a:t>
            </a:r>
          </a:p>
          <a:p>
            <a:r>
              <a:rPr lang="en-US" dirty="0"/>
              <a:t>Marking duplicates</a:t>
            </a:r>
          </a:p>
          <a:p>
            <a:pPr lvl="1"/>
            <a:r>
              <a:rPr lang="en-US" dirty="0"/>
              <a:t>Read duplicates give false confident in a specific variant and can affect copy number calling</a:t>
            </a:r>
          </a:p>
          <a:p>
            <a:r>
              <a:rPr lang="en-US" dirty="0"/>
              <a:t>Base quality score recalibration</a:t>
            </a:r>
          </a:p>
          <a:p>
            <a:pPr lvl="1"/>
            <a:r>
              <a:rPr lang="en-US" dirty="0"/>
              <a:t>Sequencing techniques have certain biases for determining quality scores. Tools like GATK </a:t>
            </a:r>
            <a:r>
              <a:rPr lang="en-US" dirty="0" err="1"/>
              <a:t>BaseRecalibrator</a:t>
            </a:r>
            <a:r>
              <a:rPr lang="en-US" dirty="0"/>
              <a:t> help correct for this</a:t>
            </a:r>
          </a:p>
        </p:txBody>
      </p:sp>
    </p:spTree>
    <p:extLst>
      <p:ext uri="{BB962C8B-B14F-4D97-AF65-F5344CB8AC3E}">
        <p14:creationId xmlns:p14="http://schemas.microsoft.com/office/powerpoint/2010/main" val="938236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56BDB-436E-74BA-0ABA-08DF1C1F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during variant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0070A-489B-F838-3C28-8A29B6182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GATK (</a:t>
            </a:r>
            <a:r>
              <a:rPr lang="en-US" dirty="0" err="1"/>
              <a:t>HaplotypeCaller</a:t>
            </a:r>
            <a:r>
              <a:rPr lang="en-US" dirty="0"/>
              <a:t>) – Most popular tool for germline variant calling</a:t>
            </a:r>
          </a:p>
          <a:p>
            <a:pPr lvl="1"/>
            <a:r>
              <a:rPr lang="en-US" dirty="0"/>
              <a:t>Pros: Good sensitivity for SNVs and indels, BQSR included</a:t>
            </a:r>
          </a:p>
          <a:p>
            <a:pPr lvl="1"/>
            <a:r>
              <a:rPr lang="en-US" dirty="0"/>
              <a:t>Computationally very slow, requires multiple steps</a:t>
            </a:r>
          </a:p>
          <a:p>
            <a:r>
              <a:rPr lang="en-US" dirty="0" err="1"/>
              <a:t>FreeBayes</a:t>
            </a:r>
            <a:r>
              <a:rPr lang="en-US" dirty="0"/>
              <a:t> – Germline variant caller sed for small datasets</a:t>
            </a:r>
          </a:p>
          <a:p>
            <a:pPr lvl="1"/>
            <a:r>
              <a:rPr lang="en-US" dirty="0"/>
              <a:t>Pros: Can call complex variants, works well on non-model organisms</a:t>
            </a:r>
          </a:p>
          <a:p>
            <a:pPr lvl="1"/>
            <a:r>
              <a:rPr lang="en-US" dirty="0"/>
              <a:t>Slower than GATK, high false positive rate</a:t>
            </a:r>
          </a:p>
          <a:p>
            <a:r>
              <a:rPr lang="en-US" dirty="0"/>
              <a:t>Strelka2 – Fast, mainly used for somatic variants</a:t>
            </a:r>
          </a:p>
          <a:p>
            <a:pPr lvl="1"/>
            <a:r>
              <a:rPr lang="en-US" dirty="0"/>
              <a:t>Pros: Fast and memory-efficient, high accuracy</a:t>
            </a:r>
          </a:p>
          <a:p>
            <a:pPr lvl="1"/>
            <a:r>
              <a:rPr lang="en-US" dirty="0"/>
              <a:t>Not well suited for structural variant detection</a:t>
            </a:r>
          </a:p>
        </p:txBody>
      </p:sp>
    </p:spTree>
    <p:extLst>
      <p:ext uri="{BB962C8B-B14F-4D97-AF65-F5344CB8AC3E}">
        <p14:creationId xmlns:p14="http://schemas.microsoft.com/office/powerpoint/2010/main" val="3739520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E1C5-904C-C7A6-A006-742303D0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E5BC3-9801-0373-D890-7ADD135E6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during variant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AAABE-2B21-D754-4596-DED707AE8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Mutect2 (GATK) – Somatic variant calling in cancer</a:t>
            </a:r>
          </a:p>
          <a:p>
            <a:pPr lvl="1"/>
            <a:r>
              <a:rPr lang="en-US" dirty="0"/>
              <a:t>Pros: Good sensitivity for low-frequency SNVs and indels. Works well with matched normal-tumor samples</a:t>
            </a:r>
          </a:p>
          <a:p>
            <a:pPr lvl="1"/>
            <a:r>
              <a:rPr lang="en-US" dirty="0"/>
              <a:t>Computationally very slow and intensive, prone to false positives</a:t>
            </a:r>
          </a:p>
          <a:p>
            <a:r>
              <a:rPr lang="en-US" dirty="0" err="1"/>
              <a:t>DeepVariant</a:t>
            </a:r>
            <a:r>
              <a:rPr lang="en-US" dirty="0"/>
              <a:t> (Google) – Germline variant caller</a:t>
            </a:r>
          </a:p>
          <a:p>
            <a:pPr lvl="1"/>
            <a:r>
              <a:rPr lang="en-US" dirty="0"/>
              <a:t>Pros: Highly accurate due to deep learning approach, fewer false positives, open-source</a:t>
            </a:r>
          </a:p>
          <a:p>
            <a:pPr lvl="1"/>
            <a:r>
              <a:rPr lang="en-US" dirty="0"/>
              <a:t>Cons: Requires GPU acceleration for best performance</a:t>
            </a:r>
          </a:p>
          <a:p>
            <a:r>
              <a:rPr lang="en-US" dirty="0"/>
              <a:t>DRAGEN (Illumina)</a:t>
            </a:r>
          </a:p>
          <a:p>
            <a:pPr lvl="1"/>
            <a:r>
              <a:rPr lang="en-US" dirty="0"/>
              <a:t>Pros: Very fast, integrated QC and filtering, alignment and variant calling all in one step</a:t>
            </a:r>
          </a:p>
          <a:p>
            <a:pPr lvl="1"/>
            <a:r>
              <a:rPr lang="en-US" dirty="0"/>
              <a:t>Cons: Requires license and expensive hardware dependency</a:t>
            </a:r>
          </a:p>
        </p:txBody>
      </p:sp>
    </p:spTree>
    <p:extLst>
      <p:ext uri="{BB962C8B-B14F-4D97-AF65-F5344CB8AC3E}">
        <p14:creationId xmlns:p14="http://schemas.microsoft.com/office/powerpoint/2010/main" val="2885450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45AB5-D4FD-06DD-355E-B8C1F30E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Studies comparing variant callers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AD443-3D2C-F843-CC9F-89C62E729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Betschart et al</a:t>
            </a:r>
            <a:r>
              <a:rPr lang="en-US" dirty="0"/>
              <a:t> - Benchmark study comparing GATK/BWA-MEM, </a:t>
            </a:r>
            <a:r>
              <a:rPr lang="en-US" dirty="0" err="1"/>
              <a:t>DeepVariant</a:t>
            </a:r>
            <a:r>
              <a:rPr lang="en-US" dirty="0"/>
              <a:t>, and DRAGEN for germline variant calling</a:t>
            </a:r>
          </a:p>
          <a:p>
            <a:pPr lvl="1"/>
            <a:r>
              <a:rPr lang="en-US" dirty="0"/>
              <a:t>GATK had the lowest performance of the three</a:t>
            </a:r>
          </a:p>
          <a:p>
            <a:pPr lvl="1"/>
            <a:r>
              <a:rPr lang="en-US" dirty="0"/>
              <a:t>However, </a:t>
            </a:r>
            <a:r>
              <a:rPr lang="en-US" dirty="0" err="1"/>
              <a:t>DeepVariant</a:t>
            </a:r>
            <a:r>
              <a:rPr lang="en-US" dirty="0"/>
              <a:t> requires GPU acceleration and DRAGEN requires a license </a:t>
            </a:r>
          </a:p>
          <a:p>
            <a:r>
              <a:rPr lang="en-US" dirty="0">
                <a:hlinkClick r:id="rId3"/>
              </a:rPr>
              <a:t>Barbitoff et al</a:t>
            </a:r>
            <a:r>
              <a:rPr lang="en-US" dirty="0"/>
              <a:t> – Benchmark study comparing several germline variant callers</a:t>
            </a:r>
          </a:p>
          <a:p>
            <a:pPr lvl="1"/>
            <a:r>
              <a:rPr lang="en-US" dirty="0"/>
              <a:t>Modern machine learning models like </a:t>
            </a:r>
            <a:r>
              <a:rPr lang="en-US" dirty="0" err="1"/>
              <a:t>DeepVariant</a:t>
            </a:r>
            <a:r>
              <a:rPr lang="en-US" dirty="0"/>
              <a:t> outperform traditional models like GATK, even when using GATK’s machine learning model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89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9985A-A1B7-AC4E-F44D-E9F864DF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Studies comparing variant callers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87C45-9CFB-2CD1-909D-353663912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Abdelwehab et al</a:t>
            </a:r>
            <a:r>
              <a:rPr lang="en-US" dirty="0"/>
              <a:t> – Compared 5 germline variant callers for short and long reads</a:t>
            </a:r>
          </a:p>
          <a:p>
            <a:pPr lvl="1"/>
            <a:r>
              <a:rPr lang="en-US" dirty="0"/>
              <a:t>Short reads - </a:t>
            </a:r>
            <a:r>
              <a:rPr lang="en-US" dirty="0" err="1"/>
              <a:t>DeepVariant</a:t>
            </a:r>
            <a:r>
              <a:rPr lang="en-US" dirty="0"/>
              <a:t> provided the most balanced variant calling performance, GPU compatible. Highest F1 score for SNVs and INDELs</a:t>
            </a:r>
          </a:p>
          <a:p>
            <a:pPr lvl="1"/>
            <a:r>
              <a:rPr lang="en-US" dirty="0"/>
              <a:t>GATK4 was the most conventional tool, allows for manual filtering and thresholding</a:t>
            </a:r>
          </a:p>
          <a:p>
            <a:pPr lvl="1"/>
            <a:r>
              <a:rPr lang="en-US" dirty="0"/>
              <a:t>Long reads – </a:t>
            </a:r>
            <a:r>
              <a:rPr lang="en-US" dirty="0" err="1"/>
              <a:t>DeepVariant</a:t>
            </a:r>
            <a:r>
              <a:rPr lang="en-US" dirty="0"/>
              <a:t> outperformed conventional methods, especially for indels. </a:t>
            </a:r>
            <a:r>
              <a:rPr lang="en-US" dirty="0" err="1"/>
              <a:t>DNAscope</a:t>
            </a:r>
            <a:r>
              <a:rPr lang="en-US" dirty="0"/>
              <a:t> is a computationally efficient AI tool that also performed well.</a:t>
            </a:r>
          </a:p>
        </p:txBody>
      </p:sp>
    </p:spTree>
    <p:extLst>
      <p:ext uri="{BB962C8B-B14F-4D97-AF65-F5344CB8AC3E}">
        <p14:creationId xmlns:p14="http://schemas.microsoft.com/office/powerpoint/2010/main" val="3284062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6E868-FD3F-1F1A-091D-38145DF0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F417A-51AF-70C8-B268-3D7889B0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Studies comparing variant callers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15D46-E9BE-BD68-55A9-3CF7BBAA0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Guille et al</a:t>
            </a:r>
            <a:r>
              <a:rPr lang="en-US" dirty="0"/>
              <a:t> – Compared 20 somatic variant callers for WES datasets with reference mutations</a:t>
            </a:r>
          </a:p>
          <a:p>
            <a:pPr lvl="1"/>
            <a:r>
              <a:rPr lang="en-US" dirty="0"/>
              <a:t>Reads were aligned using BWA for all variant callers and base qualities were recalibrated using GATK</a:t>
            </a:r>
          </a:p>
          <a:p>
            <a:pPr lvl="1"/>
            <a:r>
              <a:rPr lang="en-US" dirty="0"/>
              <a:t>20 tools were used including widely used tools, commercial tools, deep learning tools</a:t>
            </a:r>
          </a:p>
          <a:p>
            <a:pPr lvl="1"/>
            <a:r>
              <a:rPr lang="en-US" dirty="0"/>
              <a:t>Top performers for somatic SNVs: </a:t>
            </a:r>
            <a:r>
              <a:rPr lang="en-US" dirty="0" err="1"/>
              <a:t>Dragen</a:t>
            </a:r>
            <a:r>
              <a:rPr lang="en-US" dirty="0"/>
              <a:t>, Muse, </a:t>
            </a:r>
            <a:r>
              <a:rPr lang="en-US" dirty="0" err="1"/>
              <a:t>TNScope</a:t>
            </a:r>
            <a:r>
              <a:rPr lang="en-US" dirty="0"/>
              <a:t>, Mutect2</a:t>
            </a:r>
          </a:p>
          <a:p>
            <a:pPr lvl="1"/>
            <a:r>
              <a:rPr lang="en-US" dirty="0"/>
              <a:t>Top performers for somatic indels: </a:t>
            </a:r>
            <a:r>
              <a:rPr lang="en-US" dirty="0" err="1"/>
              <a:t>NeuSomatic</a:t>
            </a:r>
            <a:r>
              <a:rPr lang="en-US" dirty="0"/>
              <a:t>, </a:t>
            </a:r>
            <a:r>
              <a:rPr lang="en-US" dirty="0" err="1"/>
              <a:t>DeepSomatic</a:t>
            </a:r>
            <a:r>
              <a:rPr lang="en-US" dirty="0"/>
              <a:t>, DRAGEN</a:t>
            </a:r>
          </a:p>
          <a:p>
            <a:pPr lvl="1"/>
            <a:r>
              <a:rPr lang="en-US" dirty="0"/>
              <a:t>DRAGEN was the most robust and also was one of the fastest</a:t>
            </a:r>
          </a:p>
          <a:p>
            <a:pPr lvl="1"/>
            <a:r>
              <a:rPr lang="en-US" dirty="0"/>
              <a:t>Commercial tools generally outperformed open-source tools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088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EAC78-6D19-3501-DCC2-60DC026D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Germline vs Somatic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31131-6C48-71A7-D290-5AACB0AD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Assumptions: Germline variant callers (e.g., GATK </a:t>
            </a:r>
            <a:r>
              <a:rPr lang="en-US" dirty="0" err="1"/>
              <a:t>HaplotypeCaller</a:t>
            </a:r>
            <a:r>
              <a:rPr lang="en-US" dirty="0"/>
              <a:t>, </a:t>
            </a:r>
            <a:r>
              <a:rPr lang="en-US" dirty="0" err="1"/>
              <a:t>DeepVariant</a:t>
            </a:r>
            <a:r>
              <a:rPr lang="en-US" dirty="0"/>
              <a:t>) assume diploidy with allele frequencies of ~50% or 100%, while somatic callers (e.g., Mutect2, Strelka2) detect low-VAF mutations and require stricter filtering.</a:t>
            </a:r>
          </a:p>
          <a:p>
            <a:r>
              <a:rPr lang="en-US" dirty="0"/>
              <a:t>Matched Normal Requirement: Somatic callers often need a matched normal sample to filter out inherited variants, whereas germline callers use population databases for filtering.</a:t>
            </a:r>
          </a:p>
          <a:p>
            <a:r>
              <a:rPr lang="en-US" dirty="0"/>
              <a:t>Error Handling &amp; Sensitivity: Somatic callers are optimized for low-frequency mutations and tumor heterogeneity, while germline callers focus on high-confidence inherited variants</a:t>
            </a:r>
          </a:p>
        </p:txBody>
      </p:sp>
    </p:spTree>
    <p:extLst>
      <p:ext uri="{BB962C8B-B14F-4D97-AF65-F5344CB8AC3E}">
        <p14:creationId xmlns:p14="http://schemas.microsoft.com/office/powerpoint/2010/main" val="744930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89F13-1CBB-D2C1-1015-EBB52CE2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variants/Copy number </a:t>
            </a:r>
            <a:r>
              <a:rPr lang="en-US" dirty="0" err="1"/>
              <a:t>variantion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907AA-66BE-B802-CF02-2D9BA393E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Gabrielaite et al. </a:t>
            </a:r>
            <a:r>
              <a:rPr lang="en-US" dirty="0"/>
              <a:t>– Study comparing 11 tools for copy-number variation detection in germline WGS and WES data.</a:t>
            </a:r>
          </a:p>
          <a:p>
            <a:r>
              <a:rPr lang="en-US" dirty="0"/>
              <a:t>GATK </a:t>
            </a:r>
            <a:r>
              <a:rPr lang="en-US" dirty="0" err="1"/>
              <a:t>gCNV</a:t>
            </a:r>
            <a:r>
              <a:rPr lang="en-US" dirty="0"/>
              <a:t> had high recall but low precision.</a:t>
            </a:r>
          </a:p>
          <a:p>
            <a:r>
              <a:rPr lang="en-US" dirty="0"/>
              <a:t>Lumpy and DELLY had more balanced recall and precision, reducing false positives. </a:t>
            </a:r>
          </a:p>
          <a:p>
            <a:r>
              <a:rPr lang="en-US" dirty="0"/>
              <a:t>Manta and </a:t>
            </a:r>
            <a:r>
              <a:rPr lang="en-US" dirty="0" err="1"/>
              <a:t>CNVkit</a:t>
            </a:r>
            <a:r>
              <a:rPr lang="en-US" dirty="0"/>
              <a:t> performance varied a lot across datasets</a:t>
            </a:r>
          </a:p>
          <a:p>
            <a:r>
              <a:rPr lang="en-US" dirty="0"/>
              <a:t>Study suggested that using multiple tools is the gold standard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6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0742-F4CD-DFA8-B757-6489F64C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5EE8-B7B7-3E7F-91C9-157B5C2EB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Pedersen et al.</a:t>
            </a:r>
            <a:r>
              <a:rPr lang="en-US" dirty="0"/>
              <a:t> - Study evaluates variant filtering strategies using two WGS and WES family cohorts. </a:t>
            </a:r>
          </a:p>
          <a:p>
            <a:r>
              <a:rPr lang="en-US" dirty="0"/>
              <a:t>Genotyping Quality (GQ &gt;= 20) – ensures confidence in a genotype call</a:t>
            </a:r>
          </a:p>
          <a:p>
            <a:r>
              <a:rPr lang="en-US" dirty="0"/>
              <a:t>Allele Balance (AB: 0.2-0.8) – Extreme values could suggest sequencing bias or error</a:t>
            </a:r>
          </a:p>
          <a:p>
            <a:r>
              <a:rPr lang="en-US" dirty="0"/>
              <a:t>Sequencing Depth (DP &gt;= 10) - Minimum sequencing depth covering a variant site to reduce false positives</a:t>
            </a:r>
          </a:p>
          <a:p>
            <a:r>
              <a:rPr lang="en-US" dirty="0"/>
              <a:t>Population Allele Frequency (&lt;0.001 for dominant and &lt;0.01 for recessive)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684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06A4-6AE6-BF46-F3C5-EE668DE5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9FAF1-3C97-40FD-6A5C-6B537C17B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Functional Annotation:</a:t>
            </a:r>
            <a:r>
              <a:rPr lang="en-US" dirty="0"/>
              <a:t> Predicts the biological impact of variants using tools like SIFT, </a:t>
            </a:r>
            <a:r>
              <a:rPr lang="en-US" dirty="0" err="1"/>
              <a:t>PolyPhen</a:t>
            </a:r>
            <a:r>
              <a:rPr lang="en-US" dirty="0"/>
              <a:t>, and CADD to assess protein function and regulatory effects.</a:t>
            </a:r>
          </a:p>
          <a:p>
            <a:r>
              <a:rPr lang="en-US" b="1" dirty="0"/>
              <a:t>Population &amp; Clinical Databases:</a:t>
            </a:r>
            <a:r>
              <a:rPr lang="en-US" dirty="0"/>
              <a:t> Filters variants based </a:t>
            </a:r>
            <a:r>
              <a:rPr lang="en-US"/>
              <a:t>on population allele </a:t>
            </a:r>
            <a:r>
              <a:rPr lang="en-US" dirty="0"/>
              <a:t>frequencies from </a:t>
            </a:r>
            <a:r>
              <a:rPr lang="en-US" dirty="0" err="1"/>
              <a:t>gnomAD</a:t>
            </a:r>
            <a:r>
              <a:rPr lang="en-US" dirty="0"/>
              <a:t> and 1000 Genomes and links to disease databases like </a:t>
            </a:r>
            <a:r>
              <a:rPr lang="en-US" dirty="0" err="1"/>
              <a:t>ClinVar</a:t>
            </a:r>
            <a:r>
              <a:rPr lang="en-US" dirty="0"/>
              <a:t> and COSMIC.</a:t>
            </a:r>
          </a:p>
          <a:p>
            <a:r>
              <a:rPr lang="en-US" b="1" dirty="0"/>
              <a:t>Pathogenicity:</a:t>
            </a:r>
            <a:r>
              <a:rPr lang="en-US" dirty="0"/>
              <a:t> Uses quality filters and pathogenicity scoring to identify rare, high-impact variants relevant to disease or functional studies.</a:t>
            </a:r>
          </a:p>
        </p:txBody>
      </p:sp>
    </p:spTree>
    <p:extLst>
      <p:ext uri="{BB962C8B-B14F-4D97-AF65-F5344CB8AC3E}">
        <p14:creationId xmlns:p14="http://schemas.microsoft.com/office/powerpoint/2010/main" val="245559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0516-20BE-B8A6-747E-5CA36EF5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A4BA6-6519-0612-D90E-F9CAB3058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GATK –genotype </a:t>
            </a:r>
            <a:r>
              <a:rPr lang="en-US" dirty="0" err="1"/>
              <a:t>gVCF</a:t>
            </a:r>
            <a:r>
              <a:rPr lang="en-US" dirty="0"/>
              <a:t> can genotype across samples.</a:t>
            </a:r>
          </a:p>
          <a:p>
            <a:r>
              <a:rPr lang="en-US" dirty="0"/>
              <a:t>Long read alignment, </a:t>
            </a:r>
            <a:r>
              <a:rPr lang="en-US" dirty="0" err="1"/>
              <a:t>minimap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44967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974</TotalTime>
  <Words>1266</Words>
  <Application>Microsoft Macintosh PowerPoint</Application>
  <PresentationFormat>Widescreen</PresentationFormat>
  <Paragraphs>113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Century Gothic</vt:lpstr>
      <vt:lpstr>Wingdings 3</vt:lpstr>
      <vt:lpstr>Ion</vt:lpstr>
      <vt:lpstr>WGS/WES best practices</vt:lpstr>
      <vt:lpstr>Experimental design</vt:lpstr>
      <vt:lpstr>Best practices during quality control </vt:lpstr>
      <vt:lpstr>WES vs. WGS</vt:lpstr>
      <vt:lpstr>Best practices during alignment</vt:lpstr>
      <vt:lpstr>Studies comparing aligners</vt:lpstr>
      <vt:lpstr>Post-alignment processing</vt:lpstr>
      <vt:lpstr>Best practices during variant calling</vt:lpstr>
      <vt:lpstr>Best practices during variant calling</vt:lpstr>
      <vt:lpstr>Studies comparing variant callers</vt:lpstr>
      <vt:lpstr>Studies comparing variant callers</vt:lpstr>
      <vt:lpstr>Studies comparing variant callers</vt:lpstr>
      <vt:lpstr>Germline vs Somatic variants</vt:lpstr>
      <vt:lpstr>Structural variants/Copy number variantion</vt:lpstr>
      <vt:lpstr>Variant Filtering</vt:lpstr>
      <vt:lpstr>Annotation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Rouse</dc:creator>
  <cp:lastModifiedBy>James Rouse</cp:lastModifiedBy>
  <cp:revision>8</cp:revision>
  <dcterms:created xsi:type="dcterms:W3CDTF">2025-03-03T18:34:40Z</dcterms:created>
  <dcterms:modified xsi:type="dcterms:W3CDTF">2025-03-18T19:47:04Z</dcterms:modified>
</cp:coreProperties>
</file>