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55"/>
    <p:restoredTop sz="94618"/>
  </p:normalViewPr>
  <p:slideViewPr>
    <p:cSldViewPr snapToGrid="0">
      <p:cViewPr varScale="1">
        <p:scale>
          <a:sx n="116" d="100"/>
          <a:sy n="116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5766-D0D1-A6F4-6BD1-9540560A8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B6129-B121-C63A-1C0D-79DB67A4F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6754E-EC1C-84B1-20D0-4B67831B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04517-1BC5-9689-8355-BB9BB573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16EF2-A689-8545-C605-6703C7DC2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3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8A2A-38D3-C2A6-C2FB-FA948498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D11BE-8BE3-C6A3-8E80-D5E9260FD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8845B-0130-EAFE-2F5A-84F9A1B1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4FBA0-D12A-738A-014E-9F14D54A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250CB-3DB2-4EBA-79CB-083A97AC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0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BDE1-FB08-F722-5E87-6745CE3DD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9062-A855-91BC-6417-28646B896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3DD90-EB48-F838-C538-53ED4DF4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89230-1A87-FBBA-9A90-AF4BE372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DAFAD-A0E3-8DF8-271F-0C78ABF87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6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338E-F268-0ADB-C245-3F8DC747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11339-FAE2-AFC3-8E98-043FE8285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459FE-69D1-47E1-3C10-DD19B6EC6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DAD0F-C042-E892-0D7D-02B21E8E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81736-52AF-EB30-87C4-9D59A64F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52E81-EFCB-551B-75DF-0F26F481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BF25-4380-C7D9-09E6-A704EC48C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28309-65DE-F0A0-5851-A095D7E20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CB88D-59B3-DD9E-F65D-251005290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FD8A8-37C6-610A-6AC3-F37C2A6C6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1BB57-73AB-A213-9541-0F5BD595E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F60A2-E6F1-067E-3450-C568F6C6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03D8DC-E73C-7399-F270-093E61AF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6D06A-C53F-B6B2-3327-2EECC5A7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9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A4B-8A9D-8CFB-2615-C22A0B2D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43654-614A-A4A7-FEF0-10A9519D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7F6C9-346A-E847-4E2A-B67A7F79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873AA-CB0C-06C6-BC83-153AC8DD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8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5DF29-94D4-B678-7942-90286955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7D8D3B-58E3-F89A-D590-E254711A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0BF12-6A6A-0023-4F91-C4CDB1F0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8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B43F-9E5A-ACDA-7277-D9A7BCA3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4016-7D06-6196-E1CF-114005F07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C3316-A0EB-EF94-6833-C49B54072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A8615-5DB6-E78E-19D7-D04C2E53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C78CE-B0F1-46B5-318D-F974D927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424CB-D6C4-E34F-CBAC-5C3BE18D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5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02F5-36B0-B57D-88D9-B376A58C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474E6-2143-6F92-59B9-140AD5B16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1425C-0710-F768-2AE9-CB153180B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C1551-03E5-349B-D95F-0BC5D79AA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3015F-C02E-D26D-DB1F-3FD43AAD0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DA2C2-E81E-57DB-5AD7-6E3E9989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4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EE21-9593-35C0-E985-560BF181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695EB-56BD-03FB-061E-F4F152035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4A875-ED1B-E203-0149-A7A16E38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7BB26-C930-4FAB-0A81-45EC44F4B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BF240-CFDC-8C78-D7C1-44E0C24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45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19A8A-3CB4-2053-F270-CA430A9D5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65A03-36D0-E6C0-CA94-4AE937158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FE1C1-A709-E15D-A80C-20658D75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AA6B4-EBE0-E9F0-6EE6-FAF9A49A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4FF65-E9AE-73A2-A723-5AB1512F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2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0ABA-65BC-92A6-4052-A6B37DCD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79E31-2C09-5656-BBFC-1D52A20F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CBCD0-6C28-B750-1E06-2E45456B0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A25CD-D455-6B46-97C1-64CF488AC14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839AD-520D-D512-0E5B-F3A0AA0A1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81FD6-C45D-F270-08AB-D2B8175DD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B2DC6-8B1B-234D-9859-F43A62A60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08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natech.ucdavis.edu/faqs/how-should-i-sequence-atac-seq-libraries" TargetMode="External"/><Relationship Id="rId7" Type="http://schemas.openxmlformats.org/officeDocument/2006/relationships/hyperlink" Target="https://statsandr.com/blog/what-statistical-test-should-i-do/" TargetMode="External"/><Relationship Id="rId2" Type="http://schemas.openxmlformats.org/officeDocument/2006/relationships/hyperlink" Target="https://genomebiology.biomedcentral.com/articles/10.1186/s13059-016-0881-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pmc/articles/PMC9189070/" TargetMode="External"/><Relationship Id="rId5" Type="http://schemas.openxmlformats.org/officeDocument/2006/relationships/hyperlink" Target="https://www.cd-genomics.com/pipeline-and-tools-comparison-for-chip-seq-analysis.html" TargetMode="External"/><Relationship Id="rId4" Type="http://schemas.openxmlformats.org/officeDocument/2006/relationships/hyperlink" Target="https://academic.oup.com/nargab/article/3/3/lqab059/631325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1FBEDD-6A04-A23D-9E21-C223D0149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955226"/>
              </p:ext>
            </p:extLst>
          </p:nvPr>
        </p:nvGraphicFramePr>
        <p:xfrm>
          <a:off x="212048" y="1181542"/>
          <a:ext cx="11767904" cy="530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96">
                  <a:extLst>
                    <a:ext uri="{9D8B030D-6E8A-4147-A177-3AD203B41FA5}">
                      <a16:colId xmlns:a16="http://schemas.microsoft.com/office/drawing/2014/main" val="3936365561"/>
                    </a:ext>
                  </a:extLst>
                </a:gridCol>
                <a:gridCol w="1349115">
                  <a:extLst>
                    <a:ext uri="{9D8B030D-6E8A-4147-A177-3AD203B41FA5}">
                      <a16:colId xmlns:a16="http://schemas.microsoft.com/office/drawing/2014/main" val="3294447710"/>
                    </a:ext>
                  </a:extLst>
                </a:gridCol>
                <a:gridCol w="1199213">
                  <a:extLst>
                    <a:ext uri="{9D8B030D-6E8A-4147-A177-3AD203B41FA5}">
                      <a16:colId xmlns:a16="http://schemas.microsoft.com/office/drawing/2014/main" val="1476093379"/>
                    </a:ext>
                  </a:extLst>
                </a:gridCol>
                <a:gridCol w="1821112">
                  <a:extLst>
                    <a:ext uri="{9D8B030D-6E8A-4147-A177-3AD203B41FA5}">
                      <a16:colId xmlns:a16="http://schemas.microsoft.com/office/drawing/2014/main" val="3917950809"/>
                    </a:ext>
                  </a:extLst>
                </a:gridCol>
                <a:gridCol w="5524068">
                  <a:extLst>
                    <a:ext uri="{9D8B030D-6E8A-4147-A177-3AD203B41FA5}">
                      <a16:colId xmlns:a16="http://schemas.microsoft.com/office/drawing/2014/main" val="258265426"/>
                    </a:ext>
                  </a:extLst>
                </a:gridCol>
              </a:tblGrid>
              <a:tr h="462671">
                <a:tc>
                  <a:txBody>
                    <a:bodyPr/>
                    <a:lstStyle/>
                    <a:p>
                      <a:r>
                        <a:rPr lang="en-US" sz="1400" dirty="0"/>
                        <a:t>Study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Sequencing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Biological Replicates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Technical Replicates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693438"/>
                  </a:ext>
                </a:extLst>
              </a:tr>
              <a:tr h="1093497">
                <a:tc>
                  <a:txBody>
                    <a:bodyPr/>
                    <a:lstStyle/>
                    <a:p>
                      <a:r>
                        <a:rPr lang="en-US" sz="1400" dirty="0"/>
                        <a:t>Differential Expression (Moderate to large difference)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15M-25M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6+,  minimum of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3, minimum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15-25M reads captures differences between highly expressed genes.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More replicates = more statistical power.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Technical replicates account for technical variability.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16784"/>
                  </a:ext>
                </a:extLst>
              </a:tr>
              <a:tr h="1093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Differential Expression (Small difference)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30M-50M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3, minimum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When expecting a smaller effect size between conditions, more replicates and more depth provides more statistical power.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374330"/>
                  </a:ext>
                </a:extLst>
              </a:tr>
              <a:tr h="1298528">
                <a:tc>
                  <a:txBody>
                    <a:bodyPr/>
                    <a:lstStyle/>
                    <a:p>
                      <a:r>
                        <a:rPr lang="en-US" sz="1400" dirty="0"/>
                        <a:t>Transcript Isoform Discovery/Splicing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100M ideally,</a:t>
                      </a:r>
                    </a:p>
                    <a:p>
                      <a:r>
                        <a:rPr lang="en-US" sz="1400" dirty="0"/>
                        <a:t>50M minimum</a:t>
                      </a:r>
                    </a:p>
                    <a:p>
                      <a:r>
                        <a:rPr lang="en-US" sz="1400" dirty="0"/>
                        <a:t>(Paired-end)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6+,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Ideally 3, minimum 2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Paired end allows for detection of splicing events.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High sequencing depth and many replicates needed since measuring transcript abundance instead of gene expression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4707"/>
                  </a:ext>
                </a:extLst>
              </a:tr>
              <a:tr h="12985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Differential Expression (lncRNA/low expressing genes)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100M ideally,</a:t>
                      </a:r>
                    </a:p>
                    <a:p>
                      <a:r>
                        <a:rPr lang="en-US" sz="1400" dirty="0"/>
                        <a:t>50M minimum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Ideally 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Ideally 3, minimum 2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High sequencing depth needed since expression is low in targeted genes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4527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C5FBB3-41AD-1792-C5B5-1DBE3B4773F3}"/>
              </a:ext>
            </a:extLst>
          </p:cNvPr>
          <p:cNvSpPr txBox="1"/>
          <p:nvPr/>
        </p:nvSpPr>
        <p:spPr>
          <a:xfrm>
            <a:off x="5203718" y="308147"/>
            <a:ext cx="1784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RNA-Seq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C71013-6636-CCE2-8913-295491989191}"/>
              </a:ext>
            </a:extLst>
          </p:cNvPr>
          <p:cNvSpPr txBox="1"/>
          <p:nvPr/>
        </p:nvSpPr>
        <p:spPr>
          <a:xfrm>
            <a:off x="8119373" y="308147"/>
            <a:ext cx="2969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Power Calculation prior to experiment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E00AD-6C0B-3DEA-8D82-BA310FDAF1A8}"/>
              </a:ext>
            </a:extLst>
          </p:cNvPr>
          <p:cNvSpPr txBox="1"/>
          <p:nvPr/>
        </p:nvSpPr>
        <p:spPr>
          <a:xfrm>
            <a:off x="8119373" y="557303"/>
            <a:ext cx="3485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Paired-end sequencing always recommended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5C9A1-1C16-3C34-FF26-88F2D9FE79DC}"/>
              </a:ext>
            </a:extLst>
          </p:cNvPr>
          <p:cNvSpPr txBox="1"/>
          <p:nvPr/>
        </p:nvSpPr>
        <p:spPr>
          <a:xfrm>
            <a:off x="8119373" y="852566"/>
            <a:ext cx="2963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Low tumor purity requires more reads</a:t>
            </a:r>
          </a:p>
        </p:txBody>
      </p:sp>
    </p:spTree>
    <p:extLst>
      <p:ext uri="{BB962C8B-B14F-4D97-AF65-F5344CB8AC3E}">
        <p14:creationId xmlns:p14="http://schemas.microsoft.com/office/powerpoint/2010/main" val="540500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BCCEF2-7375-8FE1-387F-C9BE430246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7290"/>
              </p:ext>
            </p:extLst>
          </p:nvPr>
        </p:nvGraphicFramePr>
        <p:xfrm>
          <a:off x="212048" y="665524"/>
          <a:ext cx="11767904" cy="6115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97">
                  <a:extLst>
                    <a:ext uri="{9D8B030D-6E8A-4147-A177-3AD203B41FA5}">
                      <a16:colId xmlns:a16="http://schemas.microsoft.com/office/drawing/2014/main" val="3936365561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3151110808"/>
                    </a:ext>
                  </a:extLst>
                </a:gridCol>
                <a:gridCol w="1070803">
                  <a:extLst>
                    <a:ext uri="{9D8B030D-6E8A-4147-A177-3AD203B41FA5}">
                      <a16:colId xmlns:a16="http://schemas.microsoft.com/office/drawing/2014/main" val="3294447710"/>
                    </a:ext>
                  </a:extLst>
                </a:gridCol>
                <a:gridCol w="1169233">
                  <a:extLst>
                    <a:ext uri="{9D8B030D-6E8A-4147-A177-3AD203B41FA5}">
                      <a16:colId xmlns:a16="http://schemas.microsoft.com/office/drawing/2014/main" val="1476093379"/>
                    </a:ext>
                  </a:extLst>
                </a:gridCol>
                <a:gridCol w="1199213">
                  <a:extLst>
                    <a:ext uri="{9D8B030D-6E8A-4147-A177-3AD203B41FA5}">
                      <a16:colId xmlns:a16="http://schemas.microsoft.com/office/drawing/2014/main" val="3917950809"/>
                    </a:ext>
                  </a:extLst>
                </a:gridCol>
                <a:gridCol w="1199213">
                  <a:extLst>
                    <a:ext uri="{9D8B030D-6E8A-4147-A177-3AD203B41FA5}">
                      <a16:colId xmlns:a16="http://schemas.microsoft.com/office/drawing/2014/main" val="537720222"/>
                    </a:ext>
                  </a:extLst>
                </a:gridCol>
                <a:gridCol w="4829644">
                  <a:extLst>
                    <a:ext uri="{9D8B030D-6E8A-4147-A177-3AD203B41FA5}">
                      <a16:colId xmlns:a16="http://schemas.microsoft.com/office/drawing/2014/main" val="258265426"/>
                    </a:ext>
                  </a:extLst>
                </a:gridCol>
              </a:tblGrid>
              <a:tr h="589773">
                <a:tc>
                  <a:txBody>
                    <a:bodyPr/>
                    <a:lstStyle/>
                    <a:p>
                      <a:r>
                        <a:rPr lang="en-US" sz="1400" dirty="0"/>
                        <a:t>Study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Peak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Sequencing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Biological Replicates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Technical Replicates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Input Required?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693438"/>
                  </a:ext>
                </a:extLst>
              </a:tr>
              <a:tr h="1600812">
                <a:tc>
                  <a:txBody>
                    <a:bodyPr/>
                    <a:lstStyle/>
                    <a:p>
                      <a:r>
                        <a:rPr lang="en-US" sz="1400" dirty="0"/>
                        <a:t>TF Binding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20M-30M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Minimum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TF binding sites typically produce sharp peaks and require lower sequencing depth than other </a:t>
                      </a:r>
                      <a:r>
                        <a:rPr lang="en-US" sz="1400" dirty="0" err="1"/>
                        <a:t>ChIP</a:t>
                      </a:r>
                      <a:r>
                        <a:rPr lang="en-US" sz="1400" dirty="0"/>
                        <a:t>-seq protocols.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Biological and technical replicates allow for stronger statistical power and control for technical variability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16784"/>
                  </a:ext>
                </a:extLst>
              </a:tr>
              <a:tr h="10952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Broad Histone Marks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50M-100M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Minimum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Broad histone marks cover large regions, requiring higher sequencing depth and more samples for statistical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374330"/>
                  </a:ext>
                </a:extLst>
              </a:tr>
              <a:tr h="16008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Narrow Histone 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20M-50M (depending on histone mark)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Minimum 2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Narrow histone marks cover regions of smaller regions than broad sequencing depth, requiring lower sequencing depth and less samples for statistical power than broad histone marks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4707"/>
                  </a:ext>
                </a:extLst>
              </a:tr>
              <a:tr h="12292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Subtle/low binding patterns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Broad or narrow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75M+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Ideally 3+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Minimum 2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Subtle peaks require a very high sequencing depth since there won’t be as many reads mapping to these peaks.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4527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9F08B9-BA7E-ADA2-39F9-88A51D5C6739}"/>
              </a:ext>
            </a:extLst>
          </p:cNvPr>
          <p:cNvSpPr txBox="1"/>
          <p:nvPr/>
        </p:nvSpPr>
        <p:spPr>
          <a:xfrm>
            <a:off x="5359804" y="55084"/>
            <a:ext cx="1472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ChIP</a:t>
            </a:r>
            <a:r>
              <a:rPr lang="en-US" sz="2800" dirty="0"/>
              <a:t>-Seq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9EBFD-0B50-B48D-82FE-06F1991C0D6E}"/>
              </a:ext>
            </a:extLst>
          </p:cNvPr>
          <p:cNvSpPr txBox="1"/>
          <p:nvPr/>
        </p:nvSpPr>
        <p:spPr>
          <a:xfrm>
            <a:off x="7467626" y="76490"/>
            <a:ext cx="3048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Power Calculation prior to experiment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A3971-84E8-1C41-70B5-C326405EEB85}"/>
              </a:ext>
            </a:extLst>
          </p:cNvPr>
          <p:cNvSpPr txBox="1"/>
          <p:nvPr/>
        </p:nvSpPr>
        <p:spPr>
          <a:xfrm>
            <a:off x="7467626" y="316694"/>
            <a:ext cx="3831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Input depth should be twice as high as </a:t>
            </a:r>
            <a:r>
              <a:rPr lang="en-US" sz="1400" dirty="0" err="1">
                <a:solidFill>
                  <a:srgbClr val="FF0000"/>
                </a:solidFill>
              </a:rPr>
              <a:t>ChIP</a:t>
            </a:r>
            <a:r>
              <a:rPr lang="en-US" sz="1400" dirty="0">
                <a:solidFill>
                  <a:srgbClr val="FF0000"/>
                </a:solidFill>
              </a:rPr>
              <a:t> depth</a:t>
            </a:r>
          </a:p>
        </p:txBody>
      </p:sp>
    </p:spTree>
    <p:extLst>
      <p:ext uri="{BB962C8B-B14F-4D97-AF65-F5344CB8AC3E}">
        <p14:creationId xmlns:p14="http://schemas.microsoft.com/office/powerpoint/2010/main" val="26893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69E1B-73BC-0B36-AD45-C82A909AA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2C6F58-D677-A394-BF07-3E911EB18C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6903893"/>
              </p:ext>
            </p:extLst>
          </p:nvPr>
        </p:nvGraphicFramePr>
        <p:xfrm>
          <a:off x="212047" y="843030"/>
          <a:ext cx="11767904" cy="5632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831">
                  <a:extLst>
                    <a:ext uri="{9D8B030D-6E8A-4147-A177-3AD203B41FA5}">
                      <a16:colId xmlns:a16="http://schemas.microsoft.com/office/drawing/2014/main" val="3936365561"/>
                    </a:ext>
                  </a:extLst>
                </a:gridCol>
                <a:gridCol w="1573967">
                  <a:extLst>
                    <a:ext uri="{9D8B030D-6E8A-4147-A177-3AD203B41FA5}">
                      <a16:colId xmlns:a16="http://schemas.microsoft.com/office/drawing/2014/main" val="3151110808"/>
                    </a:ext>
                  </a:extLst>
                </a:gridCol>
                <a:gridCol w="1124262">
                  <a:extLst>
                    <a:ext uri="{9D8B030D-6E8A-4147-A177-3AD203B41FA5}">
                      <a16:colId xmlns:a16="http://schemas.microsoft.com/office/drawing/2014/main" val="3294447710"/>
                    </a:ext>
                  </a:extLst>
                </a:gridCol>
                <a:gridCol w="1154243">
                  <a:extLst>
                    <a:ext uri="{9D8B030D-6E8A-4147-A177-3AD203B41FA5}">
                      <a16:colId xmlns:a16="http://schemas.microsoft.com/office/drawing/2014/main" val="1476093379"/>
                    </a:ext>
                  </a:extLst>
                </a:gridCol>
                <a:gridCol w="1154242">
                  <a:extLst>
                    <a:ext uri="{9D8B030D-6E8A-4147-A177-3AD203B41FA5}">
                      <a16:colId xmlns:a16="http://schemas.microsoft.com/office/drawing/2014/main" val="3917950809"/>
                    </a:ext>
                  </a:extLst>
                </a:gridCol>
                <a:gridCol w="1199214">
                  <a:extLst>
                    <a:ext uri="{9D8B030D-6E8A-4147-A177-3AD203B41FA5}">
                      <a16:colId xmlns:a16="http://schemas.microsoft.com/office/drawing/2014/main" val="537720222"/>
                    </a:ext>
                  </a:extLst>
                </a:gridCol>
                <a:gridCol w="4065145">
                  <a:extLst>
                    <a:ext uri="{9D8B030D-6E8A-4147-A177-3AD203B41FA5}">
                      <a16:colId xmlns:a16="http://schemas.microsoft.com/office/drawing/2014/main" val="258265426"/>
                    </a:ext>
                  </a:extLst>
                </a:gridCol>
              </a:tblGrid>
              <a:tr h="580721">
                <a:tc>
                  <a:txBody>
                    <a:bodyPr/>
                    <a:lstStyle/>
                    <a:p>
                      <a:r>
                        <a:rPr lang="en-US" sz="1400" dirty="0"/>
                        <a:t>Study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Peak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Sequencing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Biological Replicates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Technical Replicates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Input Required?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693438"/>
                  </a:ext>
                </a:extLst>
              </a:tr>
              <a:tr h="1374628">
                <a:tc>
                  <a:txBody>
                    <a:bodyPr/>
                    <a:lstStyle/>
                    <a:p>
                      <a:r>
                        <a:rPr lang="en-US" sz="1400" dirty="0"/>
                        <a:t>General Chromatin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Broad/Narrow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Minimum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ATAC-seq requires more reads than </a:t>
                      </a:r>
                      <a:r>
                        <a:rPr lang="en-US" sz="1400" dirty="0" err="1"/>
                        <a:t>ChIP</a:t>
                      </a:r>
                      <a:r>
                        <a:rPr lang="en-US" sz="1400" dirty="0"/>
                        <a:t> since it captures all open-chromatin regions.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Replicates and higher sequencing depth improves statistical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16784"/>
                  </a:ext>
                </a:extLst>
              </a:tr>
              <a:tr h="10784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Active Regulatory Elements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50M-100M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Minimum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Enhancers and promotors can be dynamic with weak signals, requiring higher sequencing depth and more replicates.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374330"/>
                  </a:ext>
                </a:extLst>
              </a:tr>
              <a:tr h="13273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TF </a:t>
                      </a:r>
                      <a:r>
                        <a:rPr lang="en-US" sz="1400" dirty="0" err="1"/>
                        <a:t>Footprinting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Ideally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Minimum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TF footprints often have a very small signal size and require single nucleotide resolution, so read depth must be very high.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74707"/>
                  </a:ext>
                </a:extLst>
              </a:tr>
              <a:tr h="1271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Differential peaks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Broad or narrow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75M+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Ideally 3+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Minimum 2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Differences between conditions can be very subtle, requiring a higher number of reads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4527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EB1B01-A609-326C-0486-FF93B3662528}"/>
              </a:ext>
            </a:extLst>
          </p:cNvPr>
          <p:cNvSpPr txBox="1"/>
          <p:nvPr/>
        </p:nvSpPr>
        <p:spPr>
          <a:xfrm>
            <a:off x="5320530" y="153303"/>
            <a:ext cx="1550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ATAC-Seq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74375-972A-E6B8-8316-3DEA1EE17EAB}"/>
              </a:ext>
            </a:extLst>
          </p:cNvPr>
          <p:cNvSpPr txBox="1"/>
          <p:nvPr/>
        </p:nvSpPr>
        <p:spPr>
          <a:xfrm>
            <a:off x="8383948" y="-586"/>
            <a:ext cx="2567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Power Calculation prior to experiment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E26D54-F0EB-A0FC-3DCF-6D70D065B977}"/>
              </a:ext>
            </a:extLst>
          </p:cNvPr>
          <p:cNvSpPr txBox="1"/>
          <p:nvPr/>
        </p:nvSpPr>
        <p:spPr>
          <a:xfrm>
            <a:off x="8383948" y="194765"/>
            <a:ext cx="36803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Fragment length &lt; 100 = Nucleosome free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Fragment length ~ 150-200  = Mono-nucleosome bound</a:t>
            </a:r>
          </a:p>
          <a:p>
            <a:r>
              <a:rPr lang="en-US" sz="1200" dirty="0">
                <a:solidFill>
                  <a:srgbClr val="FF0000"/>
                </a:solidFill>
              </a:rPr>
              <a:t>Fragment length &gt;= 300 = Di/Multi-nucleosome bound</a:t>
            </a:r>
          </a:p>
        </p:txBody>
      </p:sp>
    </p:spTree>
    <p:extLst>
      <p:ext uri="{BB962C8B-B14F-4D97-AF65-F5344CB8AC3E}">
        <p14:creationId xmlns:p14="http://schemas.microsoft.com/office/powerpoint/2010/main" val="142766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A9AF934-0786-8CA2-4E06-AB227C7DFC14}"/>
              </a:ext>
            </a:extLst>
          </p:cNvPr>
          <p:cNvSpPr/>
          <p:nvPr/>
        </p:nvSpPr>
        <p:spPr>
          <a:xfrm>
            <a:off x="5029198" y="416375"/>
            <a:ext cx="1828800" cy="7728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Variable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159FB7-7C57-64E1-4ABD-785B88E27001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960914" y="802818"/>
            <a:ext cx="2068284" cy="8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DC1820-3712-434D-207E-C4CBE964328F}"/>
              </a:ext>
            </a:extLst>
          </p:cNvPr>
          <p:cNvCxnSpPr>
            <a:cxnSpLocks/>
          </p:cNvCxnSpPr>
          <p:nvPr/>
        </p:nvCxnSpPr>
        <p:spPr>
          <a:xfrm flipH="1">
            <a:off x="6455228" y="802817"/>
            <a:ext cx="2111829" cy="8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0006A0-EA5F-3BB5-97B2-3718F6A212D9}"/>
              </a:ext>
            </a:extLst>
          </p:cNvPr>
          <p:cNvCxnSpPr/>
          <p:nvPr/>
        </p:nvCxnSpPr>
        <p:spPr>
          <a:xfrm>
            <a:off x="8567054" y="802817"/>
            <a:ext cx="0" cy="876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DD86C3-090F-F4C1-290E-59A1EF010347}"/>
              </a:ext>
            </a:extLst>
          </p:cNvPr>
          <p:cNvCxnSpPr>
            <a:cxnSpLocks/>
          </p:cNvCxnSpPr>
          <p:nvPr/>
        </p:nvCxnSpPr>
        <p:spPr>
          <a:xfrm>
            <a:off x="2960914" y="810984"/>
            <a:ext cx="0" cy="952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F6B6CAF-A7D8-137A-4B9B-F861640FBBAA}"/>
              </a:ext>
            </a:extLst>
          </p:cNvPr>
          <p:cNvSpPr/>
          <p:nvPr/>
        </p:nvSpPr>
        <p:spPr>
          <a:xfrm>
            <a:off x="2035628" y="1763485"/>
            <a:ext cx="1828800" cy="7728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Categorical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23698B-4229-9F7B-0761-E4656E3A394C}"/>
              </a:ext>
            </a:extLst>
          </p:cNvPr>
          <p:cNvSpPr/>
          <p:nvPr/>
        </p:nvSpPr>
        <p:spPr>
          <a:xfrm>
            <a:off x="7603670" y="1687283"/>
            <a:ext cx="1926767" cy="772885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Quantitative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FD8ABBB-31D2-C21D-E764-701FF11AC9D8}"/>
              </a:ext>
            </a:extLst>
          </p:cNvPr>
          <p:cNvCxnSpPr>
            <a:cxnSpLocks/>
          </p:cNvCxnSpPr>
          <p:nvPr/>
        </p:nvCxnSpPr>
        <p:spPr>
          <a:xfrm flipV="1">
            <a:off x="2950028" y="2574471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2FD619-AE26-207B-ABEB-69AEAD90DEB0}"/>
              </a:ext>
            </a:extLst>
          </p:cNvPr>
          <p:cNvCxnSpPr>
            <a:cxnSpLocks/>
          </p:cNvCxnSpPr>
          <p:nvPr/>
        </p:nvCxnSpPr>
        <p:spPr>
          <a:xfrm>
            <a:off x="1698172" y="3037114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F113B9-45A5-F085-7DFB-F13F6B650BBD}"/>
              </a:ext>
            </a:extLst>
          </p:cNvPr>
          <p:cNvCxnSpPr>
            <a:cxnSpLocks/>
          </p:cNvCxnSpPr>
          <p:nvPr/>
        </p:nvCxnSpPr>
        <p:spPr>
          <a:xfrm>
            <a:off x="2960914" y="3037114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0CA276-11E8-C361-E376-44EDA50A0669}"/>
              </a:ext>
            </a:extLst>
          </p:cNvPr>
          <p:cNvCxnSpPr>
            <a:cxnSpLocks/>
          </p:cNvCxnSpPr>
          <p:nvPr/>
        </p:nvCxnSpPr>
        <p:spPr>
          <a:xfrm flipV="1">
            <a:off x="1698172" y="303711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93778E2-FC8F-D96E-58F3-5C4456D0AC5F}"/>
              </a:ext>
            </a:extLst>
          </p:cNvPr>
          <p:cNvCxnSpPr>
            <a:cxnSpLocks/>
          </p:cNvCxnSpPr>
          <p:nvPr/>
        </p:nvCxnSpPr>
        <p:spPr>
          <a:xfrm flipV="1">
            <a:off x="4223656" y="303711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6C11C79-F27F-B028-D85A-537162BB271A}"/>
              </a:ext>
            </a:extLst>
          </p:cNvPr>
          <p:cNvSpPr/>
          <p:nvPr/>
        </p:nvSpPr>
        <p:spPr>
          <a:xfrm>
            <a:off x="783772" y="3537859"/>
            <a:ext cx="1828800" cy="7728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groups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F38FCF1-8AF2-13BC-137D-1F72966ABAE5}"/>
              </a:ext>
            </a:extLst>
          </p:cNvPr>
          <p:cNvSpPr/>
          <p:nvPr/>
        </p:nvSpPr>
        <p:spPr>
          <a:xfrm>
            <a:off x="3309256" y="3537858"/>
            <a:ext cx="1828800" cy="772885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 2 groups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97B86A7-1033-FAE7-D516-C484567EE6FE}"/>
              </a:ext>
            </a:extLst>
          </p:cNvPr>
          <p:cNvCxnSpPr>
            <a:cxnSpLocks/>
          </p:cNvCxnSpPr>
          <p:nvPr/>
        </p:nvCxnSpPr>
        <p:spPr>
          <a:xfrm flipV="1">
            <a:off x="7304308" y="296091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05B48E-646C-67B8-ED96-BC0D6184BE34}"/>
              </a:ext>
            </a:extLst>
          </p:cNvPr>
          <p:cNvCxnSpPr>
            <a:cxnSpLocks/>
          </p:cNvCxnSpPr>
          <p:nvPr/>
        </p:nvCxnSpPr>
        <p:spPr>
          <a:xfrm flipV="1">
            <a:off x="8567050" y="2492828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212AD2-C230-C928-0763-77BABFAEA36C}"/>
              </a:ext>
            </a:extLst>
          </p:cNvPr>
          <p:cNvCxnSpPr>
            <a:cxnSpLocks/>
          </p:cNvCxnSpPr>
          <p:nvPr/>
        </p:nvCxnSpPr>
        <p:spPr>
          <a:xfrm>
            <a:off x="8567050" y="2960914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EB2B145-55D0-4EE5-344F-6D7AABCF340C}"/>
              </a:ext>
            </a:extLst>
          </p:cNvPr>
          <p:cNvCxnSpPr>
            <a:cxnSpLocks/>
          </p:cNvCxnSpPr>
          <p:nvPr/>
        </p:nvCxnSpPr>
        <p:spPr>
          <a:xfrm>
            <a:off x="7304308" y="2960914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A3EC02-9B6F-0A0A-2EFD-0DEFEB69C0BB}"/>
              </a:ext>
            </a:extLst>
          </p:cNvPr>
          <p:cNvCxnSpPr>
            <a:cxnSpLocks/>
          </p:cNvCxnSpPr>
          <p:nvPr/>
        </p:nvCxnSpPr>
        <p:spPr>
          <a:xfrm flipV="1">
            <a:off x="9829792" y="296091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01BE235C-EEC2-D1D6-3B1C-6DC95EAB986B}"/>
              </a:ext>
            </a:extLst>
          </p:cNvPr>
          <p:cNvSpPr/>
          <p:nvPr/>
        </p:nvSpPr>
        <p:spPr>
          <a:xfrm>
            <a:off x="6389908" y="3434441"/>
            <a:ext cx="1828800" cy="772885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Parametric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1C52FA8-C825-134A-6551-25EDDE955FB9}"/>
              </a:ext>
            </a:extLst>
          </p:cNvPr>
          <p:cNvSpPr/>
          <p:nvPr/>
        </p:nvSpPr>
        <p:spPr>
          <a:xfrm>
            <a:off x="8915392" y="3456212"/>
            <a:ext cx="1828800" cy="77288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Non-Parametric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8DF6CDD-B51B-9520-8CE7-156FFC75A21F}"/>
              </a:ext>
            </a:extLst>
          </p:cNvPr>
          <p:cNvCxnSpPr>
            <a:cxnSpLocks/>
          </p:cNvCxnSpPr>
          <p:nvPr/>
        </p:nvCxnSpPr>
        <p:spPr>
          <a:xfrm>
            <a:off x="1698172" y="4250872"/>
            <a:ext cx="0" cy="74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B9D1418-0F73-F57F-E1B9-0B59F42A7617}"/>
              </a:ext>
            </a:extLst>
          </p:cNvPr>
          <p:cNvSpPr/>
          <p:nvPr/>
        </p:nvSpPr>
        <p:spPr>
          <a:xfrm>
            <a:off x="685804" y="4996541"/>
            <a:ext cx="2079138" cy="133891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One-Proportion 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Gene mutation proportion matches expected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CF627AF-C134-87F9-E05D-F9C1141F7DC5}"/>
              </a:ext>
            </a:extLst>
          </p:cNvPr>
          <p:cNvCxnSpPr>
            <a:cxnSpLocks/>
          </p:cNvCxnSpPr>
          <p:nvPr/>
        </p:nvCxnSpPr>
        <p:spPr>
          <a:xfrm>
            <a:off x="4223656" y="4261756"/>
            <a:ext cx="0" cy="74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8A369B4-0D6B-B069-7825-D13C4FC2A472}"/>
              </a:ext>
            </a:extLst>
          </p:cNvPr>
          <p:cNvSpPr/>
          <p:nvPr/>
        </p:nvSpPr>
        <p:spPr>
          <a:xfrm>
            <a:off x="3309256" y="5007426"/>
            <a:ext cx="2079146" cy="1328036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Chi-Squared Goodness of Fit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Codon Frequencies against expected frequencies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EFC23EF-72C9-C3B2-A901-6247B132672D}"/>
              </a:ext>
            </a:extLst>
          </p:cNvPr>
          <p:cNvCxnSpPr>
            <a:cxnSpLocks/>
          </p:cNvCxnSpPr>
          <p:nvPr/>
        </p:nvCxnSpPr>
        <p:spPr>
          <a:xfrm>
            <a:off x="7304308" y="4207326"/>
            <a:ext cx="0" cy="74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321E58A-7A21-29D5-2D88-36BF9E0425DF}"/>
              </a:ext>
            </a:extLst>
          </p:cNvPr>
          <p:cNvSpPr/>
          <p:nvPr/>
        </p:nvSpPr>
        <p:spPr>
          <a:xfrm>
            <a:off x="6357251" y="4980207"/>
            <a:ext cx="2079146" cy="135525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One-Sample Student’s T-test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against known expected expression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7B6A152-5626-A9E9-4DD2-5220140DF351}"/>
              </a:ext>
            </a:extLst>
          </p:cNvPr>
          <p:cNvCxnSpPr>
            <a:cxnSpLocks/>
          </p:cNvCxnSpPr>
          <p:nvPr/>
        </p:nvCxnSpPr>
        <p:spPr>
          <a:xfrm>
            <a:off x="9840671" y="4229097"/>
            <a:ext cx="0" cy="74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A3D5D633-DFA3-0FA8-233F-785EE7B28EE4}"/>
              </a:ext>
            </a:extLst>
          </p:cNvPr>
          <p:cNvSpPr/>
          <p:nvPr/>
        </p:nvSpPr>
        <p:spPr>
          <a:xfrm>
            <a:off x="8801088" y="4963880"/>
            <a:ext cx="2079159" cy="1371597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One-Sample Wilcoxon 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against known expected expression (skewed distribution)</a:t>
            </a:r>
          </a:p>
        </p:txBody>
      </p:sp>
    </p:spTree>
    <p:extLst>
      <p:ext uri="{BB962C8B-B14F-4D97-AF65-F5344CB8AC3E}">
        <p14:creationId xmlns:p14="http://schemas.microsoft.com/office/powerpoint/2010/main" val="53219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F4E47-8718-1A24-1859-25E9A2C5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6AC817D-C8B5-AA1F-F2CB-450CA861A1F3}"/>
              </a:ext>
            </a:extLst>
          </p:cNvPr>
          <p:cNvSpPr/>
          <p:nvPr/>
        </p:nvSpPr>
        <p:spPr>
          <a:xfrm>
            <a:off x="5402034" y="435449"/>
            <a:ext cx="1828800" cy="7728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&gt;2 Variables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E5F91E-F3C9-7F50-790C-E2F83671D64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333750" y="821892"/>
            <a:ext cx="2068284" cy="8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E78D42-6759-FDD1-2135-33C259F3C4AD}"/>
              </a:ext>
            </a:extLst>
          </p:cNvPr>
          <p:cNvCxnSpPr>
            <a:cxnSpLocks/>
          </p:cNvCxnSpPr>
          <p:nvPr/>
        </p:nvCxnSpPr>
        <p:spPr>
          <a:xfrm flipH="1">
            <a:off x="7165516" y="813724"/>
            <a:ext cx="2111829" cy="8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126B7D-A577-547C-1DCB-689F3EB5E1FE}"/>
              </a:ext>
            </a:extLst>
          </p:cNvPr>
          <p:cNvCxnSpPr/>
          <p:nvPr/>
        </p:nvCxnSpPr>
        <p:spPr>
          <a:xfrm>
            <a:off x="9255570" y="810981"/>
            <a:ext cx="0" cy="876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3A4201-661B-C301-44B9-EEE3B5573479}"/>
              </a:ext>
            </a:extLst>
          </p:cNvPr>
          <p:cNvCxnSpPr>
            <a:cxnSpLocks/>
          </p:cNvCxnSpPr>
          <p:nvPr/>
        </p:nvCxnSpPr>
        <p:spPr>
          <a:xfrm>
            <a:off x="3333750" y="825975"/>
            <a:ext cx="0" cy="952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F60C9BA-6554-72B0-49F4-2423EA9DC28A}"/>
              </a:ext>
            </a:extLst>
          </p:cNvPr>
          <p:cNvSpPr/>
          <p:nvPr/>
        </p:nvSpPr>
        <p:spPr>
          <a:xfrm>
            <a:off x="2419350" y="1785256"/>
            <a:ext cx="1828800" cy="7728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Categorical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5361B8-CFA0-9527-9ECB-DBC2510F3957}"/>
              </a:ext>
            </a:extLst>
          </p:cNvPr>
          <p:cNvSpPr/>
          <p:nvPr/>
        </p:nvSpPr>
        <p:spPr>
          <a:xfrm>
            <a:off x="8221430" y="1698174"/>
            <a:ext cx="1926767" cy="772885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Quantitative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888263-276E-EB1F-5C86-C3CE86169E3F}"/>
              </a:ext>
            </a:extLst>
          </p:cNvPr>
          <p:cNvCxnSpPr>
            <a:cxnSpLocks/>
          </p:cNvCxnSpPr>
          <p:nvPr/>
        </p:nvCxnSpPr>
        <p:spPr>
          <a:xfrm flipV="1">
            <a:off x="3309256" y="2569028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79821B6-2894-CD45-D688-A41C5BCCC9A7}"/>
              </a:ext>
            </a:extLst>
          </p:cNvPr>
          <p:cNvCxnSpPr>
            <a:cxnSpLocks/>
          </p:cNvCxnSpPr>
          <p:nvPr/>
        </p:nvCxnSpPr>
        <p:spPr>
          <a:xfrm>
            <a:off x="2071008" y="3037114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296D198-2112-D81F-5D74-CB4712796C5F}"/>
              </a:ext>
            </a:extLst>
          </p:cNvPr>
          <p:cNvCxnSpPr>
            <a:cxnSpLocks/>
          </p:cNvCxnSpPr>
          <p:nvPr/>
        </p:nvCxnSpPr>
        <p:spPr>
          <a:xfrm>
            <a:off x="3309256" y="3037114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1C031E-16D6-246F-E363-3D1E038F8E21}"/>
              </a:ext>
            </a:extLst>
          </p:cNvPr>
          <p:cNvCxnSpPr>
            <a:cxnSpLocks/>
          </p:cNvCxnSpPr>
          <p:nvPr/>
        </p:nvCxnSpPr>
        <p:spPr>
          <a:xfrm flipV="1">
            <a:off x="2071008" y="303711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1476E9C-C04B-1DE4-D960-869A8CC59C48}"/>
              </a:ext>
            </a:extLst>
          </p:cNvPr>
          <p:cNvCxnSpPr>
            <a:cxnSpLocks/>
          </p:cNvCxnSpPr>
          <p:nvPr/>
        </p:nvCxnSpPr>
        <p:spPr>
          <a:xfrm flipV="1">
            <a:off x="4571997" y="303711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1FFFA24-C514-6AEE-4C2C-EF16E173B7ED}"/>
              </a:ext>
            </a:extLst>
          </p:cNvPr>
          <p:cNvSpPr/>
          <p:nvPr/>
        </p:nvSpPr>
        <p:spPr>
          <a:xfrm>
            <a:off x="1129398" y="3537858"/>
            <a:ext cx="1828800" cy="7728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groups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BB2829C-0158-7BED-C75B-C750B93DE84C}"/>
              </a:ext>
            </a:extLst>
          </p:cNvPr>
          <p:cNvSpPr/>
          <p:nvPr/>
        </p:nvSpPr>
        <p:spPr>
          <a:xfrm>
            <a:off x="3624940" y="3537859"/>
            <a:ext cx="1828800" cy="772885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 2 groups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5E44C51-CA67-DE01-ADF8-2EDD7249C727}"/>
              </a:ext>
            </a:extLst>
          </p:cNvPr>
          <p:cNvCxnSpPr>
            <a:cxnSpLocks/>
          </p:cNvCxnSpPr>
          <p:nvPr/>
        </p:nvCxnSpPr>
        <p:spPr>
          <a:xfrm>
            <a:off x="2092780" y="4261756"/>
            <a:ext cx="0" cy="74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B3A47F4-E5B3-D43C-2A4F-FD615D8F62A2}"/>
              </a:ext>
            </a:extLst>
          </p:cNvPr>
          <p:cNvSpPr/>
          <p:nvPr/>
        </p:nvSpPr>
        <p:spPr>
          <a:xfrm>
            <a:off x="1066831" y="4985653"/>
            <a:ext cx="2079138" cy="133891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Binary Logistic Regression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Predicting tumor presence based on gene expression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A1A3033-B402-5526-52B7-DD67F67B3112}"/>
              </a:ext>
            </a:extLst>
          </p:cNvPr>
          <p:cNvCxnSpPr>
            <a:cxnSpLocks/>
          </p:cNvCxnSpPr>
          <p:nvPr/>
        </p:nvCxnSpPr>
        <p:spPr>
          <a:xfrm>
            <a:off x="4582882" y="4261756"/>
            <a:ext cx="0" cy="74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F41884C-7913-E628-3F9F-B45E41FC2F9E}"/>
              </a:ext>
            </a:extLst>
          </p:cNvPr>
          <p:cNvSpPr/>
          <p:nvPr/>
        </p:nvSpPr>
        <p:spPr>
          <a:xfrm>
            <a:off x="3624940" y="5007426"/>
            <a:ext cx="2079146" cy="1328036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Multinomial Logistic Regression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Predicting tumor stage based on gene expression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5E8266A-11E4-31A7-764B-736AEC1E4A5E}"/>
              </a:ext>
            </a:extLst>
          </p:cNvPr>
          <p:cNvCxnSpPr>
            <a:cxnSpLocks/>
          </p:cNvCxnSpPr>
          <p:nvPr/>
        </p:nvCxnSpPr>
        <p:spPr>
          <a:xfrm>
            <a:off x="9288228" y="2476489"/>
            <a:ext cx="0" cy="2503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424D110E-A694-4C7B-2CBC-80309A4F8EE9}"/>
              </a:ext>
            </a:extLst>
          </p:cNvPr>
          <p:cNvSpPr/>
          <p:nvPr/>
        </p:nvSpPr>
        <p:spPr>
          <a:xfrm>
            <a:off x="8248655" y="4993816"/>
            <a:ext cx="2079146" cy="135525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Multiple Linear Regression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Prediction tumor size based on expression of 4 genes</a:t>
            </a:r>
          </a:p>
        </p:txBody>
      </p:sp>
    </p:spTree>
    <p:extLst>
      <p:ext uri="{BB962C8B-B14F-4D97-AF65-F5344CB8AC3E}">
        <p14:creationId xmlns:p14="http://schemas.microsoft.com/office/powerpoint/2010/main" val="363132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3C68A0B-E5E6-117E-4C6B-F881AF3C917B}"/>
              </a:ext>
            </a:extLst>
          </p:cNvPr>
          <p:cNvSpPr/>
          <p:nvPr/>
        </p:nvSpPr>
        <p:spPr>
          <a:xfrm>
            <a:off x="5181599" y="457199"/>
            <a:ext cx="2002971" cy="7728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Quantitative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88C33B-35C8-0350-1DE0-10FCFECCD24C}"/>
              </a:ext>
            </a:extLst>
          </p:cNvPr>
          <p:cNvCxnSpPr>
            <a:cxnSpLocks/>
          </p:cNvCxnSpPr>
          <p:nvPr/>
        </p:nvCxnSpPr>
        <p:spPr>
          <a:xfrm flipH="1">
            <a:off x="3333750" y="821892"/>
            <a:ext cx="2068284" cy="8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E5F971-AA6D-5CC7-CC68-41F01D6CF281}"/>
              </a:ext>
            </a:extLst>
          </p:cNvPr>
          <p:cNvCxnSpPr>
            <a:cxnSpLocks/>
          </p:cNvCxnSpPr>
          <p:nvPr/>
        </p:nvCxnSpPr>
        <p:spPr>
          <a:xfrm>
            <a:off x="3333750" y="825975"/>
            <a:ext cx="0" cy="952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DD10B6-6E42-F492-9C18-9F7BAAEA18B7}"/>
              </a:ext>
            </a:extLst>
          </p:cNvPr>
          <p:cNvCxnSpPr>
            <a:cxnSpLocks/>
          </p:cNvCxnSpPr>
          <p:nvPr/>
        </p:nvCxnSpPr>
        <p:spPr>
          <a:xfrm flipH="1">
            <a:off x="7165516" y="813724"/>
            <a:ext cx="2111829" cy="8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64C753-E72E-2EB6-F6C5-3648E8BF0B7E}"/>
              </a:ext>
            </a:extLst>
          </p:cNvPr>
          <p:cNvCxnSpPr/>
          <p:nvPr/>
        </p:nvCxnSpPr>
        <p:spPr>
          <a:xfrm>
            <a:off x="9255570" y="810981"/>
            <a:ext cx="0" cy="876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F7A8FCD-B6D5-6E68-B36C-F55F97442281}"/>
              </a:ext>
            </a:extLst>
          </p:cNvPr>
          <p:cNvSpPr/>
          <p:nvPr/>
        </p:nvSpPr>
        <p:spPr>
          <a:xfrm>
            <a:off x="2419350" y="1785256"/>
            <a:ext cx="1828800" cy="772885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C9F620-6FB1-FA0F-A95F-2F2885772B64}"/>
              </a:ext>
            </a:extLst>
          </p:cNvPr>
          <p:cNvSpPr/>
          <p:nvPr/>
        </p:nvSpPr>
        <p:spPr>
          <a:xfrm>
            <a:off x="8221430" y="1698174"/>
            <a:ext cx="1926767" cy="77288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Non-Parametric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97BEC2-CEF0-559D-C3E2-66EEC388E3E6}"/>
              </a:ext>
            </a:extLst>
          </p:cNvPr>
          <p:cNvCxnSpPr>
            <a:cxnSpLocks/>
          </p:cNvCxnSpPr>
          <p:nvPr/>
        </p:nvCxnSpPr>
        <p:spPr>
          <a:xfrm>
            <a:off x="3336471" y="2558141"/>
            <a:ext cx="0" cy="952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329611C-9073-E41D-D7A2-C47248A4B5D3}"/>
              </a:ext>
            </a:extLst>
          </p:cNvPr>
          <p:cNvSpPr/>
          <p:nvPr/>
        </p:nvSpPr>
        <p:spPr>
          <a:xfrm>
            <a:off x="2294181" y="3510643"/>
            <a:ext cx="2079138" cy="133891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Pearson Correlation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Co-expression with linear relationship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F51C01-D5C0-E8E5-41EE-17F3795910B1}"/>
              </a:ext>
            </a:extLst>
          </p:cNvPr>
          <p:cNvCxnSpPr>
            <a:cxnSpLocks/>
          </p:cNvCxnSpPr>
          <p:nvPr/>
        </p:nvCxnSpPr>
        <p:spPr>
          <a:xfrm>
            <a:off x="9255570" y="2471059"/>
            <a:ext cx="0" cy="952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73473C-5C33-46BA-CC85-BC8B2A7EE838}"/>
              </a:ext>
            </a:extLst>
          </p:cNvPr>
          <p:cNvSpPr/>
          <p:nvPr/>
        </p:nvSpPr>
        <p:spPr>
          <a:xfrm>
            <a:off x="8145244" y="3423561"/>
            <a:ext cx="2079138" cy="133891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Spearman Correlation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Co-expression with non-linear relationship</a:t>
            </a:r>
          </a:p>
        </p:txBody>
      </p:sp>
    </p:spTree>
    <p:extLst>
      <p:ext uri="{BB962C8B-B14F-4D97-AF65-F5344CB8AC3E}">
        <p14:creationId xmlns:p14="http://schemas.microsoft.com/office/powerpoint/2010/main" val="376700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8AE4-DBDC-88ED-ECB9-54091634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61A6A6-2F3F-64E5-BE54-4B19D23745B0}"/>
              </a:ext>
            </a:extLst>
          </p:cNvPr>
          <p:cNvSpPr/>
          <p:nvPr/>
        </p:nvSpPr>
        <p:spPr>
          <a:xfrm>
            <a:off x="5965377" y="250367"/>
            <a:ext cx="2002971" cy="7728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Qualitative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74EFFF-3804-4423-F34B-0503CF9E20C7}"/>
              </a:ext>
            </a:extLst>
          </p:cNvPr>
          <p:cNvCxnSpPr>
            <a:cxnSpLocks/>
          </p:cNvCxnSpPr>
          <p:nvPr/>
        </p:nvCxnSpPr>
        <p:spPr>
          <a:xfrm flipH="1" flipV="1">
            <a:off x="4449543" y="636809"/>
            <a:ext cx="1491338" cy="8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11AA0F-DACC-C460-21CB-DA50CD5D93EA}"/>
              </a:ext>
            </a:extLst>
          </p:cNvPr>
          <p:cNvCxnSpPr>
            <a:cxnSpLocks/>
          </p:cNvCxnSpPr>
          <p:nvPr/>
        </p:nvCxnSpPr>
        <p:spPr>
          <a:xfrm>
            <a:off x="4449543" y="644976"/>
            <a:ext cx="0" cy="563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446DB4-D9D3-8DBF-A10D-4B6080BB882E}"/>
              </a:ext>
            </a:extLst>
          </p:cNvPr>
          <p:cNvCxnSpPr>
            <a:cxnSpLocks/>
          </p:cNvCxnSpPr>
          <p:nvPr/>
        </p:nvCxnSpPr>
        <p:spPr>
          <a:xfrm flipH="1">
            <a:off x="7998271" y="627289"/>
            <a:ext cx="2245186" cy="17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34930B-0B43-975E-E0A2-C4943B6386E9}"/>
              </a:ext>
            </a:extLst>
          </p:cNvPr>
          <p:cNvCxnSpPr>
            <a:cxnSpLocks/>
          </p:cNvCxnSpPr>
          <p:nvPr/>
        </p:nvCxnSpPr>
        <p:spPr>
          <a:xfrm flipH="1">
            <a:off x="10243456" y="593260"/>
            <a:ext cx="1" cy="74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F59FDB7-D66B-ED23-92E9-AA1F779CC62B}"/>
              </a:ext>
            </a:extLst>
          </p:cNvPr>
          <p:cNvSpPr/>
          <p:nvPr/>
        </p:nvSpPr>
        <p:spPr>
          <a:xfrm>
            <a:off x="3535143" y="1216483"/>
            <a:ext cx="1828800" cy="7728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groups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F68588-56E7-2652-F12A-6529E33515A6}"/>
              </a:ext>
            </a:extLst>
          </p:cNvPr>
          <p:cNvSpPr/>
          <p:nvPr/>
        </p:nvSpPr>
        <p:spPr>
          <a:xfrm>
            <a:off x="9280072" y="1344369"/>
            <a:ext cx="1926767" cy="77288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 2 groups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8247D52-F5DC-72CD-5CA3-C0A8C914575D}"/>
              </a:ext>
            </a:extLst>
          </p:cNvPr>
          <p:cNvCxnSpPr>
            <a:cxnSpLocks/>
          </p:cNvCxnSpPr>
          <p:nvPr/>
        </p:nvCxnSpPr>
        <p:spPr>
          <a:xfrm flipV="1">
            <a:off x="4457722" y="2008408"/>
            <a:ext cx="0" cy="277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BE7FFE-ACB3-E0FD-B22D-A1640C8894D8}"/>
              </a:ext>
            </a:extLst>
          </p:cNvPr>
          <p:cNvCxnSpPr>
            <a:cxnSpLocks/>
          </p:cNvCxnSpPr>
          <p:nvPr/>
        </p:nvCxnSpPr>
        <p:spPr>
          <a:xfrm>
            <a:off x="4457722" y="2296874"/>
            <a:ext cx="26697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164C92-3C3E-FE72-71C4-16225CED1A89}"/>
              </a:ext>
            </a:extLst>
          </p:cNvPr>
          <p:cNvCxnSpPr>
            <a:cxnSpLocks/>
          </p:cNvCxnSpPr>
          <p:nvPr/>
        </p:nvCxnSpPr>
        <p:spPr>
          <a:xfrm>
            <a:off x="3194980" y="2296874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B831E6-DC0F-5BB5-DFEC-E0B359E84EB0}"/>
              </a:ext>
            </a:extLst>
          </p:cNvPr>
          <p:cNvCxnSpPr>
            <a:cxnSpLocks/>
          </p:cNvCxnSpPr>
          <p:nvPr/>
        </p:nvCxnSpPr>
        <p:spPr>
          <a:xfrm flipV="1">
            <a:off x="3194980" y="2296874"/>
            <a:ext cx="0" cy="272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1ADCF56-8C89-7237-1AFE-E59D6CC654CC}"/>
              </a:ext>
            </a:extLst>
          </p:cNvPr>
          <p:cNvSpPr/>
          <p:nvPr/>
        </p:nvSpPr>
        <p:spPr>
          <a:xfrm>
            <a:off x="2280580" y="2603031"/>
            <a:ext cx="1828800" cy="77288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Paired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D4628B-3810-41CC-0D8D-C7D2F15002EC}"/>
              </a:ext>
            </a:extLst>
          </p:cNvPr>
          <p:cNvSpPr/>
          <p:nvPr/>
        </p:nvSpPr>
        <p:spPr>
          <a:xfrm>
            <a:off x="6123289" y="2569028"/>
            <a:ext cx="2002971" cy="77288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Independent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C63488-B4C9-6207-A610-09DDFF89081D}"/>
              </a:ext>
            </a:extLst>
          </p:cNvPr>
          <p:cNvCxnSpPr>
            <a:cxnSpLocks/>
          </p:cNvCxnSpPr>
          <p:nvPr/>
        </p:nvCxnSpPr>
        <p:spPr>
          <a:xfrm flipV="1">
            <a:off x="7124775" y="2286000"/>
            <a:ext cx="0" cy="272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E98824-F414-7615-2610-6273B40254E7}"/>
              </a:ext>
            </a:extLst>
          </p:cNvPr>
          <p:cNvCxnSpPr>
            <a:cxnSpLocks/>
          </p:cNvCxnSpPr>
          <p:nvPr/>
        </p:nvCxnSpPr>
        <p:spPr>
          <a:xfrm flipV="1">
            <a:off x="3194980" y="3375916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281ED6-C256-8062-5153-2F5D78E9EE96}"/>
              </a:ext>
            </a:extLst>
          </p:cNvPr>
          <p:cNvCxnSpPr>
            <a:cxnSpLocks/>
          </p:cNvCxnSpPr>
          <p:nvPr/>
        </p:nvCxnSpPr>
        <p:spPr>
          <a:xfrm>
            <a:off x="2002963" y="3844002"/>
            <a:ext cx="1192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CDB4B9-1C13-CA38-48DA-43569AE5B80B}"/>
              </a:ext>
            </a:extLst>
          </p:cNvPr>
          <p:cNvCxnSpPr>
            <a:cxnSpLocks/>
          </p:cNvCxnSpPr>
          <p:nvPr/>
        </p:nvCxnSpPr>
        <p:spPr>
          <a:xfrm>
            <a:off x="3178676" y="3844002"/>
            <a:ext cx="12654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D218BC-EF3A-FAE9-B7E6-14F431D82D91}"/>
              </a:ext>
            </a:extLst>
          </p:cNvPr>
          <p:cNvCxnSpPr>
            <a:cxnSpLocks/>
          </p:cNvCxnSpPr>
          <p:nvPr/>
        </p:nvCxnSpPr>
        <p:spPr>
          <a:xfrm flipV="1">
            <a:off x="7124774" y="3235752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C2E906-0C8F-49D5-3013-FD8CBFD0E553}"/>
              </a:ext>
            </a:extLst>
          </p:cNvPr>
          <p:cNvCxnSpPr>
            <a:cxnSpLocks/>
          </p:cNvCxnSpPr>
          <p:nvPr/>
        </p:nvCxnSpPr>
        <p:spPr>
          <a:xfrm flipV="1">
            <a:off x="2002963" y="3844002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765331AE-7BB1-70C9-AF4D-413B026481B7}"/>
              </a:ext>
            </a:extLst>
          </p:cNvPr>
          <p:cNvSpPr/>
          <p:nvPr/>
        </p:nvSpPr>
        <p:spPr>
          <a:xfrm>
            <a:off x="1088563" y="4131123"/>
            <a:ext cx="1828800" cy="7728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Paired Samples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1E5C48-33C4-F196-9FBE-F8C4D59C5BA6}"/>
              </a:ext>
            </a:extLst>
          </p:cNvPr>
          <p:cNvSpPr/>
          <p:nvPr/>
        </p:nvSpPr>
        <p:spPr>
          <a:xfrm>
            <a:off x="3529724" y="4131122"/>
            <a:ext cx="1828800" cy="772885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 2 Paired Samples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5335398-B1C9-9386-3199-9D7A185154A8}"/>
              </a:ext>
            </a:extLst>
          </p:cNvPr>
          <p:cNvCxnSpPr>
            <a:cxnSpLocks/>
          </p:cNvCxnSpPr>
          <p:nvPr/>
        </p:nvCxnSpPr>
        <p:spPr>
          <a:xfrm flipV="1">
            <a:off x="4444124" y="3844002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0F2C421-009D-6797-AEDB-1160F495DD91}"/>
              </a:ext>
            </a:extLst>
          </p:cNvPr>
          <p:cNvCxnSpPr>
            <a:cxnSpLocks/>
          </p:cNvCxnSpPr>
          <p:nvPr/>
        </p:nvCxnSpPr>
        <p:spPr>
          <a:xfrm flipH="1">
            <a:off x="2002963" y="4831847"/>
            <a:ext cx="5465" cy="27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C949E0F-EE75-BF0C-B76E-703B4FD5B463}"/>
              </a:ext>
            </a:extLst>
          </p:cNvPr>
          <p:cNvSpPr/>
          <p:nvPr/>
        </p:nvSpPr>
        <p:spPr>
          <a:xfrm>
            <a:off x="963394" y="5113468"/>
            <a:ext cx="2079138" cy="133891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McNemar’s</a:t>
            </a:r>
            <a:r>
              <a:rPr lang="en-US" b="1" dirty="0">
                <a:solidFill>
                  <a:schemeClr val="tx1"/>
                </a:solidFill>
              </a:rPr>
              <a:t> 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Mutation calling differ between 2 different variant callers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F58297D-2445-4E78-5AA8-183F8594862A}"/>
              </a:ext>
            </a:extLst>
          </p:cNvPr>
          <p:cNvCxnSpPr>
            <a:cxnSpLocks/>
          </p:cNvCxnSpPr>
          <p:nvPr/>
        </p:nvCxnSpPr>
        <p:spPr>
          <a:xfrm>
            <a:off x="4463187" y="4831847"/>
            <a:ext cx="0" cy="27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82D8340-CD67-B8F8-8736-DBC94F1A7C13}"/>
              </a:ext>
            </a:extLst>
          </p:cNvPr>
          <p:cNvSpPr/>
          <p:nvPr/>
        </p:nvSpPr>
        <p:spPr>
          <a:xfrm>
            <a:off x="3418153" y="5103991"/>
            <a:ext cx="2079138" cy="133891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Cochran’s Q-Test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Mutation calling differ between &gt;2 different variant callers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44E4D76-72D5-A9D2-9C52-5BFAEB5B7CC6}"/>
              </a:ext>
            </a:extLst>
          </p:cNvPr>
          <p:cNvCxnSpPr>
            <a:cxnSpLocks/>
          </p:cNvCxnSpPr>
          <p:nvPr/>
        </p:nvCxnSpPr>
        <p:spPr>
          <a:xfrm>
            <a:off x="6623973" y="3703838"/>
            <a:ext cx="5334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528924F-750A-8738-A9E4-FD284CCC60E3}"/>
              </a:ext>
            </a:extLst>
          </p:cNvPr>
          <p:cNvCxnSpPr>
            <a:cxnSpLocks/>
          </p:cNvCxnSpPr>
          <p:nvPr/>
        </p:nvCxnSpPr>
        <p:spPr>
          <a:xfrm>
            <a:off x="7124774" y="3703838"/>
            <a:ext cx="19294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14120FA9-C55E-BC2E-AD43-E814A2490AA9}"/>
              </a:ext>
            </a:extLst>
          </p:cNvPr>
          <p:cNvSpPr/>
          <p:nvPr/>
        </p:nvSpPr>
        <p:spPr>
          <a:xfrm>
            <a:off x="5709573" y="4082114"/>
            <a:ext cx="1828800" cy="821893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Expected frequencies &lt; 5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A43847E-B133-A6AC-F066-D297536F212D}"/>
              </a:ext>
            </a:extLst>
          </p:cNvPr>
          <p:cNvCxnSpPr>
            <a:cxnSpLocks/>
          </p:cNvCxnSpPr>
          <p:nvPr/>
        </p:nvCxnSpPr>
        <p:spPr>
          <a:xfrm flipV="1">
            <a:off x="6623973" y="3703838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5286202-7717-70CC-7502-6DE4664A2721}"/>
              </a:ext>
            </a:extLst>
          </p:cNvPr>
          <p:cNvCxnSpPr>
            <a:cxnSpLocks/>
          </p:cNvCxnSpPr>
          <p:nvPr/>
        </p:nvCxnSpPr>
        <p:spPr>
          <a:xfrm>
            <a:off x="6623973" y="4904007"/>
            <a:ext cx="0" cy="217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D57CBF6-E81E-0C85-9EE0-198D70B821AE}"/>
              </a:ext>
            </a:extLst>
          </p:cNvPr>
          <p:cNvSpPr/>
          <p:nvPr/>
        </p:nvSpPr>
        <p:spPr>
          <a:xfrm>
            <a:off x="5722920" y="5121338"/>
            <a:ext cx="2079138" cy="133891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Fisher’s Exact 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Mutation presence associated with drug response? (n &lt; 5)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93DC29A-7456-F109-B04A-556459BAE7B1}"/>
              </a:ext>
            </a:extLst>
          </p:cNvPr>
          <p:cNvSpPr/>
          <p:nvPr/>
        </p:nvSpPr>
        <p:spPr>
          <a:xfrm>
            <a:off x="8112522" y="4099802"/>
            <a:ext cx="1940444" cy="857182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Expected frequencies &lt; 5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AA08502-2E6C-8615-2DEE-8912F7AEC26B}"/>
              </a:ext>
            </a:extLst>
          </p:cNvPr>
          <p:cNvCxnSpPr>
            <a:cxnSpLocks/>
          </p:cNvCxnSpPr>
          <p:nvPr/>
        </p:nvCxnSpPr>
        <p:spPr>
          <a:xfrm flipV="1">
            <a:off x="9054185" y="369973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AD21BAA0-FB9E-83C7-6513-8E4CD1CED871}"/>
              </a:ext>
            </a:extLst>
          </p:cNvPr>
          <p:cNvSpPr/>
          <p:nvPr/>
        </p:nvSpPr>
        <p:spPr>
          <a:xfrm>
            <a:off x="8043175" y="5121338"/>
            <a:ext cx="2079138" cy="133891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Chi-Square Test of Independence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Mutation presence associated with drug response? (n &lt;&gt;5)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BB68303-6C21-92B9-5DB6-56549E748564}"/>
              </a:ext>
            </a:extLst>
          </p:cNvPr>
          <p:cNvCxnSpPr>
            <a:cxnSpLocks/>
          </p:cNvCxnSpPr>
          <p:nvPr/>
        </p:nvCxnSpPr>
        <p:spPr>
          <a:xfrm>
            <a:off x="9040660" y="4904007"/>
            <a:ext cx="0" cy="199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A9A218-EFA2-19DE-703A-10C25A8218D0}"/>
              </a:ext>
            </a:extLst>
          </p:cNvPr>
          <p:cNvCxnSpPr/>
          <p:nvPr/>
        </p:nvCxnSpPr>
        <p:spPr>
          <a:xfrm>
            <a:off x="10243457" y="2155371"/>
            <a:ext cx="0" cy="3690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544F2C2-581F-9FE7-7758-A6F42C5B1F4B}"/>
              </a:ext>
            </a:extLst>
          </p:cNvPr>
          <p:cNvCxnSpPr>
            <a:cxnSpLocks/>
          </p:cNvCxnSpPr>
          <p:nvPr/>
        </p:nvCxnSpPr>
        <p:spPr>
          <a:xfrm flipH="1">
            <a:off x="10093754" y="5845573"/>
            <a:ext cx="149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90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F0DE-24F7-CF9C-7B15-4C2F27B5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C4A79C1-BDD0-29B3-A8A3-956BAD6FBFDC}"/>
              </a:ext>
            </a:extLst>
          </p:cNvPr>
          <p:cNvSpPr/>
          <p:nvPr/>
        </p:nvSpPr>
        <p:spPr>
          <a:xfrm>
            <a:off x="4771390" y="148059"/>
            <a:ext cx="2988051" cy="9353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Quantitative </a:t>
            </a:r>
          </a:p>
          <a:p>
            <a:pPr algn="ctr"/>
            <a:r>
              <a:rPr lang="en-US" dirty="0"/>
              <a:t>1 Qualitative</a:t>
            </a:r>
          </a:p>
          <a:p>
            <a:pPr algn="ctr"/>
            <a:r>
              <a:rPr lang="en-US" dirty="0"/>
              <a:t>2 Groups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7CA311-5501-1A4A-8236-276C0BAADC82}"/>
              </a:ext>
            </a:extLst>
          </p:cNvPr>
          <p:cNvCxnSpPr>
            <a:cxnSpLocks/>
          </p:cNvCxnSpPr>
          <p:nvPr/>
        </p:nvCxnSpPr>
        <p:spPr>
          <a:xfrm flipH="1" flipV="1">
            <a:off x="3603176" y="607557"/>
            <a:ext cx="1491338" cy="8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AC6457-227B-F4B3-CC33-0F0342DB579C}"/>
              </a:ext>
            </a:extLst>
          </p:cNvPr>
          <p:cNvCxnSpPr>
            <a:cxnSpLocks/>
          </p:cNvCxnSpPr>
          <p:nvPr/>
        </p:nvCxnSpPr>
        <p:spPr>
          <a:xfrm>
            <a:off x="3603176" y="607557"/>
            <a:ext cx="0" cy="563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C7FBC0-54AC-2556-059F-E93F9018C1CD}"/>
              </a:ext>
            </a:extLst>
          </p:cNvPr>
          <p:cNvCxnSpPr>
            <a:cxnSpLocks/>
          </p:cNvCxnSpPr>
          <p:nvPr/>
        </p:nvCxnSpPr>
        <p:spPr>
          <a:xfrm flipH="1">
            <a:off x="6772325" y="571498"/>
            <a:ext cx="2245186" cy="17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52C9D4-901B-D161-4381-61136C0BC46C}"/>
              </a:ext>
            </a:extLst>
          </p:cNvPr>
          <p:cNvCxnSpPr>
            <a:cxnSpLocks/>
          </p:cNvCxnSpPr>
          <p:nvPr/>
        </p:nvCxnSpPr>
        <p:spPr>
          <a:xfrm flipH="1">
            <a:off x="9017508" y="571498"/>
            <a:ext cx="1" cy="74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DA1A8CE-8616-D3A8-BEEB-4949C1C1EFC8}"/>
              </a:ext>
            </a:extLst>
          </p:cNvPr>
          <p:cNvSpPr/>
          <p:nvPr/>
        </p:nvSpPr>
        <p:spPr>
          <a:xfrm>
            <a:off x="2620781" y="1184490"/>
            <a:ext cx="2003006" cy="772885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Independent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4C8CA4-C99A-2BB7-3241-E7FF3A77FC8F}"/>
              </a:ext>
            </a:extLst>
          </p:cNvPr>
          <p:cNvSpPr/>
          <p:nvPr/>
        </p:nvSpPr>
        <p:spPr>
          <a:xfrm>
            <a:off x="8054124" y="1314455"/>
            <a:ext cx="1926767" cy="7728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Paired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9EB8A35-8EE1-BDBA-9F7B-026655DE0272}"/>
              </a:ext>
            </a:extLst>
          </p:cNvPr>
          <p:cNvCxnSpPr>
            <a:cxnSpLocks/>
          </p:cNvCxnSpPr>
          <p:nvPr/>
        </p:nvCxnSpPr>
        <p:spPr>
          <a:xfrm flipV="1">
            <a:off x="3603176" y="1948544"/>
            <a:ext cx="0" cy="277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CA3C7F-F8C3-56EB-6E05-C2266FD4D58A}"/>
              </a:ext>
            </a:extLst>
          </p:cNvPr>
          <p:cNvCxnSpPr>
            <a:cxnSpLocks/>
          </p:cNvCxnSpPr>
          <p:nvPr/>
        </p:nvCxnSpPr>
        <p:spPr>
          <a:xfrm>
            <a:off x="3603176" y="2226136"/>
            <a:ext cx="26697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64EF13-3A46-9CD7-160A-8EAEB24F1120}"/>
              </a:ext>
            </a:extLst>
          </p:cNvPr>
          <p:cNvCxnSpPr>
            <a:cxnSpLocks/>
          </p:cNvCxnSpPr>
          <p:nvPr/>
        </p:nvCxnSpPr>
        <p:spPr>
          <a:xfrm>
            <a:off x="2340434" y="2226136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DB5DE2-8C17-DBA2-BC73-7635323A70BD}"/>
              </a:ext>
            </a:extLst>
          </p:cNvPr>
          <p:cNvCxnSpPr>
            <a:cxnSpLocks/>
          </p:cNvCxnSpPr>
          <p:nvPr/>
        </p:nvCxnSpPr>
        <p:spPr>
          <a:xfrm flipV="1">
            <a:off x="2340434" y="2242445"/>
            <a:ext cx="0" cy="272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046C470-5E93-A7B1-4579-31309068FC76}"/>
              </a:ext>
            </a:extLst>
          </p:cNvPr>
          <p:cNvSpPr/>
          <p:nvPr/>
        </p:nvSpPr>
        <p:spPr>
          <a:xfrm>
            <a:off x="1426034" y="2479153"/>
            <a:ext cx="1828800" cy="772885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Parametric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626629-8E96-985F-4CC3-D60C3642E2CB}"/>
              </a:ext>
            </a:extLst>
          </p:cNvPr>
          <p:cNvSpPr/>
          <p:nvPr/>
        </p:nvSpPr>
        <p:spPr>
          <a:xfrm>
            <a:off x="4976161" y="2494170"/>
            <a:ext cx="2393504" cy="77288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Nonparametric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DCC3BF-833F-1974-244C-0689CC262F81}"/>
              </a:ext>
            </a:extLst>
          </p:cNvPr>
          <p:cNvCxnSpPr>
            <a:cxnSpLocks/>
          </p:cNvCxnSpPr>
          <p:nvPr/>
        </p:nvCxnSpPr>
        <p:spPr>
          <a:xfrm flipV="1">
            <a:off x="6272914" y="2226136"/>
            <a:ext cx="0" cy="272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0DADCA-F85A-4A6B-0D6E-9FF0B7D05B21}"/>
              </a:ext>
            </a:extLst>
          </p:cNvPr>
          <p:cNvCxnSpPr>
            <a:cxnSpLocks/>
          </p:cNvCxnSpPr>
          <p:nvPr/>
        </p:nvCxnSpPr>
        <p:spPr>
          <a:xfrm flipV="1">
            <a:off x="2340434" y="3231648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8CF617-BD01-D853-92DD-13131889278E}"/>
              </a:ext>
            </a:extLst>
          </p:cNvPr>
          <p:cNvCxnSpPr>
            <a:cxnSpLocks/>
          </p:cNvCxnSpPr>
          <p:nvPr/>
        </p:nvCxnSpPr>
        <p:spPr>
          <a:xfrm>
            <a:off x="1148417" y="3699734"/>
            <a:ext cx="1192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84F5DD-2154-8E97-C832-D5DEFFC298F8}"/>
              </a:ext>
            </a:extLst>
          </p:cNvPr>
          <p:cNvCxnSpPr>
            <a:cxnSpLocks/>
          </p:cNvCxnSpPr>
          <p:nvPr/>
        </p:nvCxnSpPr>
        <p:spPr>
          <a:xfrm>
            <a:off x="2356836" y="3699734"/>
            <a:ext cx="12654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628DA-74EE-9739-FD9A-456D3E284FDE}"/>
              </a:ext>
            </a:extLst>
          </p:cNvPr>
          <p:cNvCxnSpPr>
            <a:cxnSpLocks/>
          </p:cNvCxnSpPr>
          <p:nvPr/>
        </p:nvCxnSpPr>
        <p:spPr>
          <a:xfrm flipV="1">
            <a:off x="9059702" y="2046513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045D69-BA49-A243-B41E-E3CA17B00782}"/>
              </a:ext>
            </a:extLst>
          </p:cNvPr>
          <p:cNvCxnSpPr>
            <a:cxnSpLocks/>
          </p:cNvCxnSpPr>
          <p:nvPr/>
        </p:nvCxnSpPr>
        <p:spPr>
          <a:xfrm flipV="1">
            <a:off x="1148417" y="369973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6C7C5B77-3689-E5CE-CEA3-79F2CED36680}"/>
              </a:ext>
            </a:extLst>
          </p:cNvPr>
          <p:cNvSpPr/>
          <p:nvPr/>
        </p:nvSpPr>
        <p:spPr>
          <a:xfrm>
            <a:off x="191888" y="4065230"/>
            <a:ext cx="1828800" cy="887706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Equal population variances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28A9BFA-39EA-2818-154D-3436F6CDFD0C}"/>
              </a:ext>
            </a:extLst>
          </p:cNvPr>
          <p:cNvSpPr/>
          <p:nvPr/>
        </p:nvSpPr>
        <p:spPr>
          <a:xfrm>
            <a:off x="2707884" y="4061822"/>
            <a:ext cx="1828800" cy="88770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Unequal population variances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7F5E97B-BC1B-112B-C68E-1738045F42DD}"/>
              </a:ext>
            </a:extLst>
          </p:cNvPr>
          <p:cNvCxnSpPr>
            <a:cxnSpLocks/>
          </p:cNvCxnSpPr>
          <p:nvPr/>
        </p:nvCxnSpPr>
        <p:spPr>
          <a:xfrm flipV="1">
            <a:off x="3622284" y="3698325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86128CC-EDBB-5B67-2E26-AC9139E67D56}"/>
              </a:ext>
            </a:extLst>
          </p:cNvPr>
          <p:cNvCxnSpPr>
            <a:cxnSpLocks/>
          </p:cNvCxnSpPr>
          <p:nvPr/>
        </p:nvCxnSpPr>
        <p:spPr>
          <a:xfrm flipH="1">
            <a:off x="1130795" y="4904007"/>
            <a:ext cx="5465" cy="27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931B192-E2CD-CF5A-E960-28C4BDA16F1B}"/>
              </a:ext>
            </a:extLst>
          </p:cNvPr>
          <p:cNvSpPr/>
          <p:nvPr/>
        </p:nvSpPr>
        <p:spPr>
          <a:xfrm>
            <a:off x="130765" y="5176116"/>
            <a:ext cx="2011304" cy="160828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Student’s t-test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in tumor vs normal samples</a:t>
            </a:r>
          </a:p>
          <a:p>
            <a:pPr algn="ctr"/>
            <a:endParaRPr lang="en-US" sz="14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BD2D5B0-C20C-4D76-78EB-6BBFC9E6B24B}"/>
              </a:ext>
            </a:extLst>
          </p:cNvPr>
          <p:cNvCxnSpPr>
            <a:cxnSpLocks/>
          </p:cNvCxnSpPr>
          <p:nvPr/>
        </p:nvCxnSpPr>
        <p:spPr>
          <a:xfrm>
            <a:off x="3622284" y="4903972"/>
            <a:ext cx="0" cy="27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8C8AACD-75D3-447E-3ADD-BB26D334679A}"/>
              </a:ext>
            </a:extLst>
          </p:cNvPr>
          <p:cNvSpPr/>
          <p:nvPr/>
        </p:nvSpPr>
        <p:spPr>
          <a:xfrm>
            <a:off x="2611434" y="5189102"/>
            <a:ext cx="2079138" cy="162598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Welch’s t-test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in tumor vs normal samples</a:t>
            </a:r>
          </a:p>
          <a:p>
            <a:pPr algn="ctr"/>
            <a:endParaRPr lang="en-US" sz="14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514A775-E3B2-AF3F-FAB8-A350B95797E0}"/>
              </a:ext>
            </a:extLst>
          </p:cNvPr>
          <p:cNvCxnSpPr>
            <a:cxnSpLocks/>
          </p:cNvCxnSpPr>
          <p:nvPr/>
        </p:nvCxnSpPr>
        <p:spPr>
          <a:xfrm>
            <a:off x="8572516" y="2514599"/>
            <a:ext cx="5334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BBB4112-EB6A-1410-1E1B-75920E8F0628}"/>
              </a:ext>
            </a:extLst>
          </p:cNvPr>
          <p:cNvCxnSpPr>
            <a:cxnSpLocks/>
          </p:cNvCxnSpPr>
          <p:nvPr/>
        </p:nvCxnSpPr>
        <p:spPr>
          <a:xfrm>
            <a:off x="9054185" y="2514599"/>
            <a:ext cx="19294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4F587B96-044C-9558-B153-A2C9FFF37A5F}"/>
              </a:ext>
            </a:extLst>
          </p:cNvPr>
          <p:cNvSpPr/>
          <p:nvPr/>
        </p:nvSpPr>
        <p:spPr>
          <a:xfrm>
            <a:off x="7728238" y="2954062"/>
            <a:ext cx="1828800" cy="772885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Parametric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F20C047-2074-C3C8-895F-B0C538DDB8AB}"/>
              </a:ext>
            </a:extLst>
          </p:cNvPr>
          <p:cNvCxnSpPr>
            <a:cxnSpLocks/>
          </p:cNvCxnSpPr>
          <p:nvPr/>
        </p:nvCxnSpPr>
        <p:spPr>
          <a:xfrm flipV="1">
            <a:off x="8572516" y="2514599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D91ED2D3-E33D-24EB-75C9-B2F5C852566F}"/>
              </a:ext>
            </a:extLst>
          </p:cNvPr>
          <p:cNvSpPr/>
          <p:nvPr/>
        </p:nvSpPr>
        <p:spPr>
          <a:xfrm>
            <a:off x="5203318" y="5180201"/>
            <a:ext cx="2124197" cy="162598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Mann-Whitney U 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in tumor vs normal samples (skewed distribution)</a:t>
            </a:r>
          </a:p>
          <a:p>
            <a:pPr algn="ctr"/>
            <a:endParaRPr lang="en-US" sz="14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3C677AC-BE2F-60E9-93AE-191BDA5C5071}"/>
              </a:ext>
            </a:extLst>
          </p:cNvPr>
          <p:cNvSpPr/>
          <p:nvPr/>
        </p:nvSpPr>
        <p:spPr>
          <a:xfrm>
            <a:off x="9851360" y="2967574"/>
            <a:ext cx="2264471" cy="77288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Nonparametric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6BFAD49-11BC-BC6F-90E8-BA74956A16F5}"/>
              </a:ext>
            </a:extLst>
          </p:cNvPr>
          <p:cNvSpPr/>
          <p:nvPr/>
        </p:nvSpPr>
        <p:spPr>
          <a:xfrm>
            <a:off x="7653129" y="5125174"/>
            <a:ext cx="2058078" cy="16592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Paired Student’s t-test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in tumor vs adjacent normal samples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335018F-94A6-A872-7610-B56C256EB29B}"/>
              </a:ext>
            </a:extLst>
          </p:cNvPr>
          <p:cNvCxnSpPr>
            <a:cxnSpLocks/>
          </p:cNvCxnSpPr>
          <p:nvPr/>
        </p:nvCxnSpPr>
        <p:spPr>
          <a:xfrm>
            <a:off x="8621576" y="3698325"/>
            <a:ext cx="21061" cy="1391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55EDCC-2259-4B47-5EE1-A6C1DD442E28}"/>
              </a:ext>
            </a:extLst>
          </p:cNvPr>
          <p:cNvCxnSpPr>
            <a:stCxn id="19" idx="4"/>
          </p:cNvCxnSpPr>
          <p:nvPr/>
        </p:nvCxnSpPr>
        <p:spPr>
          <a:xfrm>
            <a:off x="6172913" y="3267055"/>
            <a:ext cx="0" cy="1909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040DBC-9F5C-CE94-B22F-E327E7582D4E}"/>
              </a:ext>
            </a:extLst>
          </p:cNvPr>
          <p:cNvCxnSpPr>
            <a:cxnSpLocks/>
          </p:cNvCxnSpPr>
          <p:nvPr/>
        </p:nvCxnSpPr>
        <p:spPr>
          <a:xfrm flipV="1">
            <a:off x="10983596" y="2514599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0E4124-C129-2706-EA0D-2B6EAFBC7472}"/>
              </a:ext>
            </a:extLst>
          </p:cNvPr>
          <p:cNvCxnSpPr>
            <a:cxnSpLocks/>
          </p:cNvCxnSpPr>
          <p:nvPr/>
        </p:nvCxnSpPr>
        <p:spPr>
          <a:xfrm>
            <a:off x="10983595" y="3698324"/>
            <a:ext cx="0" cy="1426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267CB23-3327-2729-82D2-ACE78BA1CA18}"/>
              </a:ext>
            </a:extLst>
          </p:cNvPr>
          <p:cNvSpPr/>
          <p:nvPr/>
        </p:nvSpPr>
        <p:spPr>
          <a:xfrm>
            <a:off x="10018890" y="5125173"/>
            <a:ext cx="1956445" cy="1659232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Wilcoxon-Signed rank 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in tumor vs adjacent normal samples</a:t>
            </a:r>
          </a:p>
        </p:txBody>
      </p:sp>
    </p:spTree>
    <p:extLst>
      <p:ext uri="{BB962C8B-B14F-4D97-AF65-F5344CB8AC3E}">
        <p14:creationId xmlns:p14="http://schemas.microsoft.com/office/powerpoint/2010/main" val="134352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C91E-586D-643B-1B29-DE3A30B5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996E2B0-37D7-CED3-0FBC-5069DD0273E7}"/>
              </a:ext>
            </a:extLst>
          </p:cNvPr>
          <p:cNvSpPr/>
          <p:nvPr/>
        </p:nvSpPr>
        <p:spPr>
          <a:xfrm>
            <a:off x="4976162" y="30040"/>
            <a:ext cx="2550010" cy="975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Quantitative 1 Qualitative</a:t>
            </a:r>
          </a:p>
          <a:p>
            <a:pPr algn="ctr"/>
            <a:r>
              <a:rPr lang="en-US" dirty="0"/>
              <a:t>&gt;2 Groups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C2C5C7-5D65-3326-4F63-DD7BBEC024F0}"/>
              </a:ext>
            </a:extLst>
          </p:cNvPr>
          <p:cNvCxnSpPr>
            <a:cxnSpLocks/>
          </p:cNvCxnSpPr>
          <p:nvPr/>
        </p:nvCxnSpPr>
        <p:spPr>
          <a:xfrm flipH="1" flipV="1">
            <a:off x="3603176" y="607557"/>
            <a:ext cx="1491338" cy="8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CE995E-55AB-E201-31AB-0920A0B78045}"/>
              </a:ext>
            </a:extLst>
          </p:cNvPr>
          <p:cNvCxnSpPr>
            <a:cxnSpLocks/>
          </p:cNvCxnSpPr>
          <p:nvPr/>
        </p:nvCxnSpPr>
        <p:spPr>
          <a:xfrm>
            <a:off x="3603176" y="607557"/>
            <a:ext cx="0" cy="563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E9837D-F7D1-2C92-D1BA-3B560EF11E29}"/>
              </a:ext>
            </a:extLst>
          </p:cNvPr>
          <p:cNvCxnSpPr>
            <a:cxnSpLocks/>
          </p:cNvCxnSpPr>
          <p:nvPr/>
        </p:nvCxnSpPr>
        <p:spPr>
          <a:xfrm flipH="1">
            <a:off x="6772325" y="571498"/>
            <a:ext cx="2245186" cy="17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B1DF4E-CC17-C2B4-59EC-70D06BD707D3}"/>
              </a:ext>
            </a:extLst>
          </p:cNvPr>
          <p:cNvCxnSpPr>
            <a:cxnSpLocks/>
          </p:cNvCxnSpPr>
          <p:nvPr/>
        </p:nvCxnSpPr>
        <p:spPr>
          <a:xfrm flipH="1">
            <a:off x="9017508" y="571498"/>
            <a:ext cx="1" cy="74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E0516DB-56DB-8CDC-DB7D-267F3AEAAAC7}"/>
              </a:ext>
            </a:extLst>
          </p:cNvPr>
          <p:cNvSpPr/>
          <p:nvPr/>
        </p:nvSpPr>
        <p:spPr>
          <a:xfrm>
            <a:off x="8054124" y="1314455"/>
            <a:ext cx="1926767" cy="77288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Paired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A756D20-02DA-2705-8DE6-494E754F8755}"/>
              </a:ext>
            </a:extLst>
          </p:cNvPr>
          <p:cNvCxnSpPr>
            <a:cxnSpLocks/>
          </p:cNvCxnSpPr>
          <p:nvPr/>
        </p:nvCxnSpPr>
        <p:spPr>
          <a:xfrm flipV="1">
            <a:off x="3603176" y="1948544"/>
            <a:ext cx="0" cy="277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A4D95E6-EDBD-754D-10B3-3C3440078346}"/>
              </a:ext>
            </a:extLst>
          </p:cNvPr>
          <p:cNvCxnSpPr>
            <a:cxnSpLocks/>
          </p:cNvCxnSpPr>
          <p:nvPr/>
        </p:nvCxnSpPr>
        <p:spPr>
          <a:xfrm>
            <a:off x="3603176" y="2226136"/>
            <a:ext cx="26697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2B902E-8005-F903-7182-3D8C13F7C26C}"/>
              </a:ext>
            </a:extLst>
          </p:cNvPr>
          <p:cNvCxnSpPr>
            <a:cxnSpLocks/>
          </p:cNvCxnSpPr>
          <p:nvPr/>
        </p:nvCxnSpPr>
        <p:spPr>
          <a:xfrm>
            <a:off x="2340434" y="2226136"/>
            <a:ext cx="1262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514A4D-D070-77B0-8609-658DDB661A83}"/>
              </a:ext>
            </a:extLst>
          </p:cNvPr>
          <p:cNvCxnSpPr>
            <a:cxnSpLocks/>
          </p:cNvCxnSpPr>
          <p:nvPr/>
        </p:nvCxnSpPr>
        <p:spPr>
          <a:xfrm flipV="1">
            <a:off x="2340434" y="2242445"/>
            <a:ext cx="0" cy="272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E03326D-DA89-327B-79F9-DCC1D4E19717}"/>
              </a:ext>
            </a:extLst>
          </p:cNvPr>
          <p:cNvSpPr/>
          <p:nvPr/>
        </p:nvSpPr>
        <p:spPr>
          <a:xfrm>
            <a:off x="1426034" y="2479153"/>
            <a:ext cx="1828800" cy="772885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Parametric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A36393B-A767-9887-E640-958C0DF4E341}"/>
              </a:ext>
            </a:extLst>
          </p:cNvPr>
          <p:cNvSpPr/>
          <p:nvPr/>
        </p:nvSpPr>
        <p:spPr>
          <a:xfrm>
            <a:off x="4976161" y="2494170"/>
            <a:ext cx="2393504" cy="77288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Nonparametric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9000BC-9B6B-DB72-BF19-B6B6F3B6725E}"/>
              </a:ext>
            </a:extLst>
          </p:cNvPr>
          <p:cNvCxnSpPr>
            <a:cxnSpLocks/>
          </p:cNvCxnSpPr>
          <p:nvPr/>
        </p:nvCxnSpPr>
        <p:spPr>
          <a:xfrm flipV="1">
            <a:off x="6272914" y="2226136"/>
            <a:ext cx="0" cy="272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7096AE-39DD-A06F-3CC9-CCBC667CE3F6}"/>
              </a:ext>
            </a:extLst>
          </p:cNvPr>
          <p:cNvCxnSpPr>
            <a:cxnSpLocks/>
          </p:cNvCxnSpPr>
          <p:nvPr/>
        </p:nvCxnSpPr>
        <p:spPr>
          <a:xfrm flipV="1">
            <a:off x="2340434" y="3231648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26E5BF-DF1D-56E1-BA3C-EF081533D64D}"/>
              </a:ext>
            </a:extLst>
          </p:cNvPr>
          <p:cNvCxnSpPr>
            <a:cxnSpLocks/>
          </p:cNvCxnSpPr>
          <p:nvPr/>
        </p:nvCxnSpPr>
        <p:spPr>
          <a:xfrm>
            <a:off x="1148417" y="3699734"/>
            <a:ext cx="1192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B0ACF3-F5F4-8FB1-29F4-23BA68DF4DA3}"/>
              </a:ext>
            </a:extLst>
          </p:cNvPr>
          <p:cNvCxnSpPr>
            <a:cxnSpLocks/>
          </p:cNvCxnSpPr>
          <p:nvPr/>
        </p:nvCxnSpPr>
        <p:spPr>
          <a:xfrm>
            <a:off x="2356836" y="3699734"/>
            <a:ext cx="12654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542287-09E6-90A4-A126-97B6EEA408FD}"/>
              </a:ext>
            </a:extLst>
          </p:cNvPr>
          <p:cNvCxnSpPr>
            <a:cxnSpLocks/>
          </p:cNvCxnSpPr>
          <p:nvPr/>
        </p:nvCxnSpPr>
        <p:spPr>
          <a:xfrm flipV="1">
            <a:off x="9059702" y="2046513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D71F4A3-B94C-0DEF-D664-A24D9DDB8E9B}"/>
              </a:ext>
            </a:extLst>
          </p:cNvPr>
          <p:cNvCxnSpPr>
            <a:cxnSpLocks/>
          </p:cNvCxnSpPr>
          <p:nvPr/>
        </p:nvCxnSpPr>
        <p:spPr>
          <a:xfrm flipV="1">
            <a:off x="1148417" y="3699734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099FBBD-F1E5-F3EA-E29F-42068DF5580C}"/>
              </a:ext>
            </a:extLst>
          </p:cNvPr>
          <p:cNvCxnSpPr>
            <a:cxnSpLocks/>
          </p:cNvCxnSpPr>
          <p:nvPr/>
        </p:nvCxnSpPr>
        <p:spPr>
          <a:xfrm flipV="1">
            <a:off x="3622284" y="3698325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755280-4048-3565-A792-D6F4AD9DC2CD}"/>
              </a:ext>
            </a:extLst>
          </p:cNvPr>
          <p:cNvCxnSpPr>
            <a:cxnSpLocks/>
          </p:cNvCxnSpPr>
          <p:nvPr/>
        </p:nvCxnSpPr>
        <p:spPr>
          <a:xfrm flipH="1">
            <a:off x="1130795" y="4904007"/>
            <a:ext cx="5465" cy="27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518835A1-438F-C980-6AA0-19F18CE98A80}"/>
              </a:ext>
            </a:extLst>
          </p:cNvPr>
          <p:cNvSpPr/>
          <p:nvPr/>
        </p:nvSpPr>
        <p:spPr>
          <a:xfrm>
            <a:off x="130764" y="5176116"/>
            <a:ext cx="2154247" cy="1625977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One-way ANOVA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across 3 conditions</a:t>
            </a:r>
          </a:p>
          <a:p>
            <a:pPr algn="ctr"/>
            <a:endParaRPr lang="en-US" sz="14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013DC4D-B57E-E7E9-8EAE-36AA4D092675}"/>
              </a:ext>
            </a:extLst>
          </p:cNvPr>
          <p:cNvCxnSpPr>
            <a:cxnSpLocks/>
          </p:cNvCxnSpPr>
          <p:nvPr/>
        </p:nvCxnSpPr>
        <p:spPr>
          <a:xfrm>
            <a:off x="3622284" y="4903972"/>
            <a:ext cx="0" cy="27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63250D1-66A2-0042-1924-16544E530ADF}"/>
              </a:ext>
            </a:extLst>
          </p:cNvPr>
          <p:cNvSpPr/>
          <p:nvPr/>
        </p:nvSpPr>
        <p:spPr>
          <a:xfrm>
            <a:off x="2725658" y="5180202"/>
            <a:ext cx="2079138" cy="162598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Welch’s ANOVA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across 3 conditions (skewed distribution)</a:t>
            </a:r>
          </a:p>
          <a:p>
            <a:pPr algn="ctr"/>
            <a:endParaRPr lang="en-US" sz="14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2D53B31-4A4E-DE08-FD3D-E0BC95D67851}"/>
              </a:ext>
            </a:extLst>
          </p:cNvPr>
          <p:cNvCxnSpPr>
            <a:cxnSpLocks/>
          </p:cNvCxnSpPr>
          <p:nvPr/>
        </p:nvCxnSpPr>
        <p:spPr>
          <a:xfrm>
            <a:off x="8572516" y="2514599"/>
            <a:ext cx="5334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A67170A-28C3-BB85-93BA-889028378639}"/>
              </a:ext>
            </a:extLst>
          </p:cNvPr>
          <p:cNvCxnSpPr>
            <a:cxnSpLocks/>
          </p:cNvCxnSpPr>
          <p:nvPr/>
        </p:nvCxnSpPr>
        <p:spPr>
          <a:xfrm>
            <a:off x="9054185" y="2514599"/>
            <a:ext cx="19294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F0CCA0A6-B68A-237A-8917-2AA1DF19AD41}"/>
              </a:ext>
            </a:extLst>
          </p:cNvPr>
          <p:cNvSpPr/>
          <p:nvPr/>
        </p:nvSpPr>
        <p:spPr>
          <a:xfrm>
            <a:off x="7728238" y="2954062"/>
            <a:ext cx="1828800" cy="772885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Parametric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54863FD-5523-CF85-4FBF-9B7704F7443A}"/>
              </a:ext>
            </a:extLst>
          </p:cNvPr>
          <p:cNvCxnSpPr>
            <a:cxnSpLocks/>
          </p:cNvCxnSpPr>
          <p:nvPr/>
        </p:nvCxnSpPr>
        <p:spPr>
          <a:xfrm flipV="1">
            <a:off x="8572516" y="2514599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B071DA4-9276-1FBA-B2A0-BE3050DAC82D}"/>
              </a:ext>
            </a:extLst>
          </p:cNvPr>
          <p:cNvSpPr/>
          <p:nvPr/>
        </p:nvSpPr>
        <p:spPr>
          <a:xfrm>
            <a:off x="5203318" y="5180201"/>
            <a:ext cx="2124197" cy="162598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Kruskal-Wallis 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across 3 conditions (skewed distribution)</a:t>
            </a:r>
          </a:p>
          <a:p>
            <a:pPr algn="ctr"/>
            <a:endParaRPr lang="en-US" sz="14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377CB6-327B-C935-AC98-EF42ABD0626A}"/>
              </a:ext>
            </a:extLst>
          </p:cNvPr>
          <p:cNvSpPr/>
          <p:nvPr/>
        </p:nvSpPr>
        <p:spPr>
          <a:xfrm>
            <a:off x="9851360" y="2967574"/>
            <a:ext cx="2264471" cy="77288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Nonparametric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A2C0C05-D673-5BFD-B52C-C13E2579167E}"/>
              </a:ext>
            </a:extLst>
          </p:cNvPr>
          <p:cNvSpPr/>
          <p:nvPr/>
        </p:nvSpPr>
        <p:spPr>
          <a:xfrm>
            <a:off x="7653128" y="5176116"/>
            <a:ext cx="2245183" cy="1608289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Repeated measures ANOVA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in metastatic vs tumor vs adjacent normal samples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35D871-E743-C152-D14A-3928980170A6}"/>
              </a:ext>
            </a:extLst>
          </p:cNvPr>
          <p:cNvCxnSpPr>
            <a:cxnSpLocks/>
          </p:cNvCxnSpPr>
          <p:nvPr/>
        </p:nvCxnSpPr>
        <p:spPr>
          <a:xfrm>
            <a:off x="8621576" y="3698325"/>
            <a:ext cx="21062" cy="1477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17D8A1-6148-EDD0-BAEF-4DABE9920979}"/>
              </a:ext>
            </a:extLst>
          </p:cNvPr>
          <p:cNvCxnSpPr>
            <a:stCxn id="19" idx="4"/>
          </p:cNvCxnSpPr>
          <p:nvPr/>
        </p:nvCxnSpPr>
        <p:spPr>
          <a:xfrm>
            <a:off x="6172913" y="3267055"/>
            <a:ext cx="0" cy="1909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B4F4C5-B060-5141-EDAA-35B155E15406}"/>
              </a:ext>
            </a:extLst>
          </p:cNvPr>
          <p:cNvCxnSpPr>
            <a:cxnSpLocks/>
          </p:cNvCxnSpPr>
          <p:nvPr/>
        </p:nvCxnSpPr>
        <p:spPr>
          <a:xfrm flipV="1">
            <a:off x="10983596" y="2514599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077221-9E09-ED99-0107-9741737AE211}"/>
              </a:ext>
            </a:extLst>
          </p:cNvPr>
          <p:cNvCxnSpPr>
            <a:cxnSpLocks/>
          </p:cNvCxnSpPr>
          <p:nvPr/>
        </p:nvCxnSpPr>
        <p:spPr>
          <a:xfrm>
            <a:off x="10983595" y="3698324"/>
            <a:ext cx="21062" cy="1477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3FA3C0D-7C04-AC6C-06C9-17F137FEC296}"/>
              </a:ext>
            </a:extLst>
          </p:cNvPr>
          <p:cNvSpPr/>
          <p:nvPr/>
        </p:nvSpPr>
        <p:spPr>
          <a:xfrm>
            <a:off x="10018890" y="5185595"/>
            <a:ext cx="2114419" cy="159881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Friedman Test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Example: TP53 expression in metastatic vs tumor vs adjacent normal samples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2CBB3A-8BFA-13F1-DBCE-28A26C61DEF3}"/>
              </a:ext>
            </a:extLst>
          </p:cNvPr>
          <p:cNvSpPr/>
          <p:nvPr/>
        </p:nvSpPr>
        <p:spPr>
          <a:xfrm>
            <a:off x="2620781" y="1193317"/>
            <a:ext cx="2003006" cy="772885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Independent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B936578-DD47-DE62-0701-5DC0250279B1}"/>
              </a:ext>
            </a:extLst>
          </p:cNvPr>
          <p:cNvSpPr/>
          <p:nvPr/>
        </p:nvSpPr>
        <p:spPr>
          <a:xfrm>
            <a:off x="270990" y="4068853"/>
            <a:ext cx="1828800" cy="887706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Equal population variances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6D68DDB-66FF-3921-7725-D7EC83EBBF93}"/>
              </a:ext>
            </a:extLst>
          </p:cNvPr>
          <p:cNvSpPr/>
          <p:nvPr/>
        </p:nvSpPr>
        <p:spPr>
          <a:xfrm>
            <a:off x="2707884" y="4072934"/>
            <a:ext cx="1828800" cy="88770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Unequal population variances</a:t>
            </a:r>
          </a:p>
        </p:txBody>
      </p:sp>
    </p:spTree>
    <p:extLst>
      <p:ext uri="{BB962C8B-B14F-4D97-AF65-F5344CB8AC3E}">
        <p14:creationId xmlns:p14="http://schemas.microsoft.com/office/powerpoint/2010/main" val="2337927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64A2-D519-1B4A-DA4C-4467B36E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95C4F-0D85-9B85-22EC-47D2502E4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A survey of best practices for RNA-seq data analysis</a:t>
            </a:r>
            <a:br>
              <a:rPr lang="en-US" dirty="0"/>
            </a:br>
            <a:r>
              <a:rPr lang="en-US" dirty="0">
                <a:hlinkClick r:id="rId2"/>
              </a:rPr>
              <a:t>https://genomebiology.biomedcentral.com/articles/10.1186/s13059-016-0881-8</a:t>
            </a:r>
            <a:endParaRPr lang="en-US" dirty="0"/>
          </a:p>
          <a:p>
            <a:r>
              <a:rPr lang="en-US" i="1" dirty="0"/>
              <a:t>Considerations for RNA Seq read length and coverage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knowledge.illumina.com</a:t>
            </a:r>
            <a:r>
              <a:rPr lang="en-US" dirty="0"/>
              <a:t>/library-preparation/</a:t>
            </a:r>
            <a:r>
              <a:rPr lang="en-US" dirty="0" err="1"/>
              <a:t>rna</a:t>
            </a:r>
            <a:r>
              <a:rPr lang="en-US" dirty="0"/>
              <a:t>-library-prep/library-preparation-</a:t>
            </a:r>
            <a:r>
              <a:rPr lang="en-US" dirty="0" err="1"/>
              <a:t>rna</a:t>
            </a:r>
            <a:r>
              <a:rPr lang="en-US" dirty="0"/>
              <a:t>-library-prep-</a:t>
            </a:r>
            <a:r>
              <a:rPr lang="en-US" dirty="0" err="1"/>
              <a:t>reference_material</a:t>
            </a:r>
            <a:r>
              <a:rPr lang="en-US" dirty="0"/>
              <a:t>-list/000001243</a:t>
            </a:r>
          </a:p>
          <a:p>
            <a:r>
              <a:rPr lang="en-US" i="1" dirty="0"/>
              <a:t>How should I sequence ATAC-seq libraries?</a:t>
            </a:r>
            <a:br>
              <a:rPr lang="en-US" dirty="0"/>
            </a:br>
            <a:r>
              <a:rPr lang="en-US" dirty="0">
                <a:hlinkClick r:id="rId3"/>
              </a:rPr>
              <a:t>https://dnatech.ucdavis.edu/faqs/how-should-i-sequence-atac-seq-libraries</a:t>
            </a:r>
            <a:endParaRPr lang="en-US" dirty="0"/>
          </a:p>
          <a:p>
            <a:r>
              <a:rPr lang="en-US" i="1" dirty="0"/>
              <a:t>Differential ATAC-seq and </a:t>
            </a:r>
            <a:r>
              <a:rPr lang="en-US" i="1" dirty="0" err="1"/>
              <a:t>ChIP</a:t>
            </a:r>
            <a:r>
              <a:rPr lang="en-US" i="1" dirty="0"/>
              <a:t>-seq peak detection using ROTS</a:t>
            </a:r>
            <a:br>
              <a:rPr lang="en-US" dirty="0"/>
            </a:br>
            <a:r>
              <a:rPr lang="en-US" dirty="0">
                <a:hlinkClick r:id="rId4"/>
              </a:rPr>
              <a:t>https://academic.oup.com/nargab/article/3/3/lqab059/6313252</a:t>
            </a:r>
            <a:endParaRPr lang="en-US" dirty="0"/>
          </a:p>
          <a:p>
            <a:r>
              <a:rPr lang="en-US" i="1" dirty="0"/>
              <a:t>Pipeline and Tools for </a:t>
            </a:r>
            <a:r>
              <a:rPr lang="en-US" i="1" dirty="0" err="1"/>
              <a:t>ChIP</a:t>
            </a:r>
            <a:r>
              <a:rPr lang="en-US" i="1" dirty="0"/>
              <a:t>-Seq Analysis</a:t>
            </a:r>
            <a:br>
              <a:rPr lang="en-US" dirty="0"/>
            </a:br>
            <a:r>
              <a:rPr lang="en-US" dirty="0">
                <a:hlinkClick r:id="rId5"/>
              </a:rPr>
              <a:t>https://www.cd-genomics.com/pipeline-and-tools-comparison-for-chip-seq-analysis.html</a:t>
            </a:r>
            <a:endParaRPr lang="en-US" dirty="0"/>
          </a:p>
          <a:p>
            <a:r>
              <a:rPr lang="en-US" i="1" dirty="0"/>
              <a:t>Chromatin accessibility profiling by ATAC-seq</a:t>
            </a:r>
            <a:br>
              <a:rPr lang="en-US" dirty="0"/>
            </a:br>
            <a:r>
              <a:rPr lang="en-US" dirty="0">
                <a:hlinkClick r:id="rId6"/>
              </a:rPr>
              <a:t>https://www.ncbi.nlm.nih.gov/pmc/articles/PMC9189070/</a:t>
            </a:r>
            <a:endParaRPr lang="en-US" dirty="0"/>
          </a:p>
          <a:p>
            <a:r>
              <a:rPr lang="en-US" i="1" dirty="0"/>
              <a:t>Statistics flow chart</a:t>
            </a:r>
            <a:br>
              <a:rPr lang="en-US" dirty="0"/>
            </a:br>
            <a:r>
              <a:rPr lang="en-US" dirty="0">
                <a:hlinkClick r:id="rId7"/>
              </a:rPr>
              <a:t>https://statsandr.com/blog/what-statistical-test-should-i-do/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20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1053</Words>
  <Application>Microsoft Macintosh PowerPoint</Application>
  <PresentationFormat>Widescreen</PresentationFormat>
  <Paragraphs>215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Rouse</dc:creator>
  <cp:lastModifiedBy>James Rouse</cp:lastModifiedBy>
  <cp:revision>8</cp:revision>
  <dcterms:created xsi:type="dcterms:W3CDTF">2025-02-26T18:36:15Z</dcterms:created>
  <dcterms:modified xsi:type="dcterms:W3CDTF">2025-03-06T17:00:23Z</dcterms:modified>
</cp:coreProperties>
</file>