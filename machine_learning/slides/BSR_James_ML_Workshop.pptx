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notesMasterIdLst>
    <p:notesMasterId r:id="rId35"/>
  </p:notesMasterIdLst>
  <p:sldIdLst>
    <p:sldId id="257" r:id="rId3"/>
    <p:sldId id="268" r:id="rId4"/>
    <p:sldId id="261" r:id="rId5"/>
    <p:sldId id="262" r:id="rId6"/>
    <p:sldId id="263" r:id="rId7"/>
    <p:sldId id="264" r:id="rId8"/>
    <p:sldId id="293" r:id="rId9"/>
    <p:sldId id="266" r:id="rId10"/>
    <p:sldId id="267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7" r:id="rId19"/>
    <p:sldId id="278" r:id="rId20"/>
    <p:sldId id="279" r:id="rId21"/>
    <p:sldId id="281" r:id="rId22"/>
    <p:sldId id="276" r:id="rId23"/>
    <p:sldId id="280" r:id="rId24"/>
    <p:sldId id="282" r:id="rId25"/>
    <p:sldId id="283" r:id="rId26"/>
    <p:sldId id="284" r:id="rId27"/>
    <p:sldId id="285" r:id="rId28"/>
    <p:sldId id="288" r:id="rId29"/>
    <p:sldId id="286" r:id="rId30"/>
    <p:sldId id="289" r:id="rId31"/>
    <p:sldId id="290" r:id="rId32"/>
    <p:sldId id="291" r:id="rId33"/>
    <p:sldId id="292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20"/>
    <p:restoredTop sz="91701"/>
  </p:normalViewPr>
  <p:slideViewPr>
    <p:cSldViewPr snapToGrid="0">
      <p:cViewPr varScale="1">
        <p:scale>
          <a:sx n="115" d="100"/>
          <a:sy n="115" d="100"/>
        </p:scale>
        <p:origin x="3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D4633F-0020-3E47-AE27-E1D9F616F8FF}" type="datetimeFigureOut">
              <a:rPr lang="en-US" smtClean="0"/>
              <a:t>6/30/26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1ECF6F-7866-5447-8AFD-81665D043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488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2D914-48CE-2548-8019-919DEC2D457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38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75116-4872-CE6E-A3DF-50E12245D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511FB7-0412-9DC4-8BA4-83758D407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374E59-57C2-7D4A-7BFE-96737BE7C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9228D-911D-2B75-8427-6BB3E8C9D5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2D914-48CE-2548-8019-919DEC2D457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240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ECF6F-7866-5447-8AFD-81665D0436E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971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ECF6F-7866-5447-8AFD-81665D0436E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535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A0373-A8CF-B03B-4A34-59FF3BB90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96886-77B9-7CFF-105B-7E6F2ACDB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BB44AF-81AC-F23F-0545-4BB9D8D86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9604D-F6F9-C7EE-B89F-2177AEC2E5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2D914-48CE-2548-8019-919DEC2D457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475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18FF3-28F7-1A7D-858A-1FD3F3364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28888-E647-D936-1EAB-1FA0F7542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B8858F-F615-4045-F35F-3519A255D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6699B-4D74-BE2E-799A-A73F8015A1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ECF6F-7866-5447-8AFD-81665D0436E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4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CA230-5B86-5761-9A24-971B70E09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BED759-3BD3-5556-E93F-8CE0C30D1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66C1F1-F4F9-4316-25E9-F51E37A5A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8DFAD-E833-691B-0546-BA593AA65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ECF6F-7866-5447-8AFD-81665D0436E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0442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620FB-3A9C-F526-B0FC-BB110A08C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60A7DA-6B00-58AE-C14D-74F94D776F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25D1F7-4883-AF90-2F58-BF7AAA531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235E8-A7B7-28B5-1E28-E16A8E50F9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2D914-48CE-2548-8019-919DEC2D457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3585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CEEA-CE7E-DA54-C91E-6B284DBBC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BE9243-CCAD-F80F-FA16-E6655C359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DE7EF3-BD51-0EDE-C17A-6C7DBEA4B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B5C14-B47D-B2A1-B28F-790CC6BD3C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ECF6F-7866-5447-8AFD-81665D0436E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685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5CF11-110A-327A-C684-F75FF3BEB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28CFA5-947E-BE9E-A15F-CAD7838CB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7673EC-2A83-1F2E-2505-3413B882C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AEE7F-3F1A-20A8-D7D2-03468CDFA2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ECF6F-7866-5447-8AFD-81665D0436E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5253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5AD02-368A-C037-9817-CC9A81EDC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4D8E6E-82BC-05F0-CAEB-DC6AE9C5A2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029D98-B4EA-A450-C236-755D29B15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9F736-8B3E-D254-AFDF-D5AF3475C3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2D914-48CE-2548-8019-919DEC2D457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3673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ECF6F-7866-5447-8AFD-81665D0436E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889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F4A38-9B04-D6F5-F1C8-948A3DA3C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B6F706-4606-3CA6-AE17-7956B65E04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4ECC3-BAA0-FD0C-06D7-AF79FB5E1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40647-3E3D-C34C-8DE8-D2EE168BA89D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04844-BC68-512B-4DF7-10D3115AD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6D6F1-D511-EC09-B7DF-DA9EE1236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AC0C-8A40-0B41-A5FA-4B4A8F07CA9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4B811A-2B6F-4780-68B0-479FC9F962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7916" y="5735637"/>
            <a:ext cx="1993342" cy="94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10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0A41D-12D1-E88A-2FFF-D9C81453C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CC150-313F-2731-812F-63EF0A535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3ABC5-664B-3A4D-C201-582EEBEB1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40647-3E3D-C34C-8DE8-D2EE168BA89D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8F53A-01E1-EF6E-648F-37079613E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77B8E-9DB1-D275-F03D-C2626EF19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AC0C-8A40-0B41-A5FA-4B4A8F07C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9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78181-AE3D-5F42-D76E-E9B6A1EC8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72F4F-98BB-DE9B-6973-CA22CFA17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06031-9BFF-B925-ECDB-2D596204E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40647-3E3D-C34C-8DE8-D2EE168BA89D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3B81E-F1E9-B03E-FFAE-18A4A12A1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8862-88F1-1E73-C646-A8324B67E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AC0C-8A40-0B41-A5FA-4B4A8F07C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356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7AD91-1132-DDBB-9760-930ED26D0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90423-BFC9-ED53-F0F1-C851FC996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7CDC28-0606-796B-366E-21EC38C69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096BFD-EA7F-4F71-84EE-B5A3F07BC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40647-3E3D-C34C-8DE8-D2EE168BA89D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FE8E1-D667-0046-CC37-793E4D3C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7D3D9-C10A-0298-5A69-FEB3152F3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AC0C-8A40-0B41-A5FA-4B4A8F07C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38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4F0BC-1158-9EEF-BC18-CEAF9E7CA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AF924-4FB3-6CCA-453B-0693CC920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F741A-FE1F-4105-C722-56272669A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C87DB9-4193-EBFC-4915-0BC68798E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A9785D-3386-9C33-782C-E0630B0187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4F3432-A8B6-95A6-AD15-0CF1FC897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40647-3E3D-C34C-8DE8-D2EE168BA89D}" type="datetimeFigureOut">
              <a:rPr lang="en-US" smtClean="0"/>
              <a:t>6/30/26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F4C3FE-E56C-3296-FE55-9E603D681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3FA5A0-C1C1-441E-9C85-667B24B3B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AC0C-8A40-0B41-A5FA-4B4A8F07C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009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41AD9-2DC8-9E89-06CD-82AC8FB5A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4EB2D7-8123-401C-1CF9-CD72C9E06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40647-3E3D-C34C-8DE8-D2EE168BA89D}" type="datetimeFigureOut">
              <a:rPr lang="en-US" smtClean="0"/>
              <a:t>6/30/26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8CCCB2-7D80-CB8A-C586-0D5FD9E69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E2391E-C0AE-E463-CA17-A749420D2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AC0C-8A40-0B41-A5FA-4B4A8F07C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948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9E7545-0D58-3FAF-20AF-E3A4AD417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40647-3E3D-C34C-8DE8-D2EE168BA89D}" type="datetimeFigureOut">
              <a:rPr lang="en-US" smtClean="0"/>
              <a:t>6/30/26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CEE237-9160-8535-D658-15D4BFF2A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54E7A-9F22-0C19-BC5D-FD6D226E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AC0C-8A40-0B41-A5FA-4B4A8F07C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410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0A0B1-8B04-0D78-FC0E-8B63A0693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11A1F-66F8-30F7-8A29-F2C58B28D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4396E1-F24C-9CF0-A0E9-070A50E95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5E0133-3D66-4207-6EA0-50E1FA48A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40647-3E3D-C34C-8DE8-D2EE168BA89D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9D7BB-BBB6-748F-EA25-3C7280744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95A46-E2BF-4994-75FD-F0E0B1964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AC0C-8A40-0B41-A5FA-4B4A8F07C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97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F85-3E18-AB82-CE66-A5F16EB98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E02952-16C2-B93F-AC93-1235E716AD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8E33A5-B4A3-AAF2-2A74-1DB99079F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2A57F9-D436-41AC-8E88-05CEB4484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40647-3E3D-C34C-8DE8-D2EE168BA89D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EE6E0B-8D76-FB37-0585-7668051D8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74BAD-2A6D-7994-5408-C220CAF9A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AC0C-8A40-0B41-A5FA-4B4A8F07C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336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F76E9-6D97-000B-F4DE-DCE7DDACA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E17FF1-060B-D580-2573-4C48FE59C0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AA7A6-5D6A-124B-8B4A-6ABBE3A1B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40647-3E3D-C34C-8DE8-D2EE168BA89D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9D371-704F-86F4-6127-963BEBDF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8CAC2-AF86-9314-27C7-2A7CB2C00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AC0C-8A40-0B41-A5FA-4B4A8F07C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559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286253-2E0D-6D50-B013-91FF3933CB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9B35B-D597-563A-1F7C-1C943CB927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ADA57-1798-231E-B12C-2E4683AC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40647-3E3D-C34C-8DE8-D2EE168BA89D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2C3D9-F913-CDFE-D92A-0457A57F4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A8B3C-1E02-CD68-64F8-4E908BC28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AC0C-8A40-0B41-A5FA-4B4A8F07C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270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14281-16A1-3E9C-A475-ACF872624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098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7D456-92A8-0461-15B3-8272E2297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18CD8-7CBF-DE4E-AF17-4CD7050B675E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9331E-3599-BBCF-FA73-D8D305DF9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E7E3E-F801-754C-7F5D-989744F87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25106-898F-5B4C-A694-3C75A492222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F89F42C7-7B8C-F87F-37A1-69137FC62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38224"/>
            <a:ext cx="5499100" cy="5146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6329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75381-94E5-B6C8-0C95-90E5CCAAC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D9194-8C53-7354-7E59-83AB65CBB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1C924-A63E-A439-8821-E603FCDB0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AC43-1D1D-F84C-A35F-8A902A6AED57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48654-E404-B9B0-E141-2F266E25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09A5F-F299-8E7B-77EA-72DF22277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CB636-EA29-8F46-A44F-EE5429FDB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6327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81AE6-8070-2C57-FF1F-13E0C7CCA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576D2-58B0-353E-A3A8-221244DE8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79796-6F0F-8BCC-E3ED-E0B4AB2E5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AC43-1D1D-F84C-A35F-8A902A6AED57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B9AF7-BFF0-E279-1FFE-EEE250797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466CE-595C-F740-EC27-C08FB731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CB636-EA29-8F46-A44F-EE5429FDB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4840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8B194-6F3F-5082-B7C8-06E45EADB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95CCD-DED9-6159-8C81-21317B4F4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962E4-01A7-9E75-353A-71CF6553B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AC43-1D1D-F84C-A35F-8A902A6AED57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09C5F-30A1-CF9D-30A6-F42E94273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979C8-0FDF-1C9D-D754-482256BDE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CB636-EA29-8F46-A44F-EE5429FDB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524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C69FC-FD15-6552-1DEF-4F218750E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1DDF0-2840-5938-859C-5A72B71E57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CFFD9F-4F9C-8A76-506D-E9F1D4A4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58C302-F3AE-1087-C73F-EA72B2F2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AC43-1D1D-F84C-A35F-8A902A6AED57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F3302-E120-561C-2C80-6822110F2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743027-3EF6-07D5-42BE-E67A3E5D9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CB636-EA29-8F46-A44F-EE5429FDB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8B3F9-0F26-70F1-1275-6377AC11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BE444-DCDA-55D8-9F27-1196EE235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9EAE30-B735-3A77-4578-7CF46308C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B3717B-B750-C8A0-7408-3EFD45CB40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AF0763-3149-2222-15D8-05348477D6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448E17-FA4D-3457-6F5D-641761610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AC43-1D1D-F84C-A35F-8A902A6AED57}" type="datetimeFigureOut">
              <a:rPr lang="en-US" smtClean="0"/>
              <a:t>6/30/26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E6383A-B6E5-FD31-EC15-946301015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8BB52A-2CE2-763B-341D-E9F309124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CB636-EA29-8F46-A44F-EE5429FDB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1721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EC4F2-821C-6323-89A2-EBC593771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7439FB-E166-2DAA-827F-3D9224AB1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AC43-1D1D-F84C-A35F-8A902A6AED57}" type="datetimeFigureOut">
              <a:rPr lang="en-US" smtClean="0"/>
              <a:t>6/30/26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A46861-F95B-A702-9560-E9FF4ECA3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D6E326-481B-0461-A827-3EE221144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CB636-EA29-8F46-A44F-EE5429FDB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5821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A94FB3-F74A-D583-B941-C2876E416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AC43-1D1D-F84C-A35F-8A902A6AED57}" type="datetimeFigureOut">
              <a:rPr lang="en-US" smtClean="0"/>
              <a:t>6/30/26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C46731-53F7-D5CF-D95F-446E66871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4F08E-4B85-0F64-11AE-FEFEF0725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CB636-EA29-8F46-A44F-EE5429FDB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946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68B78-33C3-5543-5C20-C26B62031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2D07A-7579-E917-6229-A3DAE4BF7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9F7235-4F82-79A7-A2F3-7701D20AD3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027C7-C3B5-7C8D-4235-5DBD2C2C7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AC43-1D1D-F84C-A35F-8A902A6AED57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787C2F-8DF2-A255-A955-653FC12ED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D713AF-B38E-4A22-B131-5DD8479EE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CB636-EA29-8F46-A44F-EE5429FDB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2934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3C189-6825-8DCB-5F43-CEAF61D85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D8BB44-D240-CC6A-14D4-AD51856DD8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A3AF99-E660-3EB4-3B6B-16B5105BE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0D330-C94C-AE53-2A3E-CCC6E06A1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AC43-1D1D-F84C-A35F-8A902A6AED57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3D0B5D-2E27-201C-FECB-04696B7C3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A274E4-88A2-31B0-04A7-A5867B7E5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CB636-EA29-8F46-A44F-EE5429FDB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0598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D4330-0F56-A7FB-B97E-5CEF50E3A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2EF28E-73FC-0D80-DA87-0314FCAC0B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851CA-309D-A432-4C86-2ADEB47A1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AC43-1D1D-F84C-A35F-8A902A6AED57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EB90C-3C0B-EAD2-36D6-36B52BC74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26BD9-BE94-0A74-BC5D-DCB594809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CB636-EA29-8F46-A44F-EE5429FDB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3008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E7D988-F57D-2E40-E189-B5AEE3CB9D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AA94E6-A5F2-B83C-E079-C30198BAA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5AD94-115C-341D-C6EF-195C138FB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AC43-1D1D-F84C-A35F-8A902A6AED57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936EE-3B6E-9A24-36FF-3E4A4A75C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57B24-08C4-F775-B9CA-8A22E586E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CB636-EA29-8F46-A44F-EE5429FDB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4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13A214-71CE-C453-3FFA-9F71B1AF1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9F411-B1F6-C2F1-5DB5-4D58E863C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4959C-BAA0-D403-1224-6EBA62ED83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40647-3E3D-C34C-8DE8-D2EE168BA89D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F9F0-A758-6105-2644-BF4C7D4C34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77555-7FDF-B0A5-B1DF-33DCFBE29E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FAC0C-8A40-0B41-A5FA-4B4A8F07CA9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16A9FD-2EC2-3BC5-F326-0746FD4D5C5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957916" y="5735637"/>
            <a:ext cx="1993342" cy="94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452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E776DC-7647-361C-F0D5-1502C44F6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12506-7DA9-B19E-8251-E4F97C5A1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524E6-CDB2-F3D7-78C8-EAFC505A25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8AC43-1D1D-F84C-A35F-8A902A6AED57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0EDE2-7B34-5BCE-1C9D-034C024610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B816F-4395-C868-96C8-B50AAC84A6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CB636-EA29-8F46-A44F-EE5429FDB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227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EF217-DEC8-BC70-7F74-174924D885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78550"/>
            <a:ext cx="9975925" cy="1655762"/>
          </a:xfrm>
        </p:spPr>
        <p:txBody>
          <a:bodyPr>
            <a:normAutofit fontScale="90000"/>
          </a:bodyPr>
          <a:lstStyle/>
          <a:p>
            <a:r>
              <a:rPr lang="en-US" dirty="0"/>
              <a:t>Core Knowledge Series: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Machine Learning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dirty="0"/>
            </a:br>
            <a:r>
              <a:rPr lang="en-US" dirty="0"/>
              <a:t>Session Three: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SVM, Hierarchical Clustering, Random Forest/Decision Trees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6A6DE4-68BF-9117-C7AB-CB2D62FD6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830618"/>
            <a:ext cx="9144000" cy="1655762"/>
          </a:xfrm>
        </p:spPr>
        <p:txBody>
          <a:bodyPr/>
          <a:lstStyle/>
          <a:p>
            <a:r>
              <a:rPr lang="en-US" dirty="0"/>
              <a:t>Bioinformatics Core (BSR)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B196CB-063B-DF56-505F-8C3122C27434}"/>
              </a:ext>
            </a:extLst>
          </p:cNvPr>
          <p:cNvSpPr/>
          <p:nvPr/>
        </p:nvSpPr>
        <p:spPr>
          <a:xfrm>
            <a:off x="289933" y="228600"/>
            <a:ext cx="1137423" cy="6400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35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F939F-45AC-67B1-A193-BAEB04262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5A667-F73E-36A8-0855-2AB42D409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6522" y="1969019"/>
            <a:ext cx="9975925" cy="165576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Support Vector Machines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4F5E2A-638E-F4E6-29AF-C92D81DFA571}"/>
              </a:ext>
            </a:extLst>
          </p:cNvPr>
          <p:cNvSpPr/>
          <p:nvPr/>
        </p:nvSpPr>
        <p:spPr>
          <a:xfrm>
            <a:off x="289933" y="228600"/>
            <a:ext cx="1137423" cy="6400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1386064-19F2-921C-0FFB-6FC9931845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658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E426C-BFA5-7651-93B5-AB492E24F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Support Vector Machines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B6FF2-D220-85D3-FC07-CD2B5329C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7050" y="1104901"/>
            <a:ext cx="7350386" cy="575309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>
                <a:solidFill>
                  <a:schemeClr val="accent1"/>
                </a:solidFill>
              </a:rPr>
              <a:t>SVM</a:t>
            </a:r>
            <a:r>
              <a:rPr lang="en-US" dirty="0"/>
              <a:t> is a </a:t>
            </a:r>
            <a:r>
              <a:rPr lang="en-US" dirty="0">
                <a:solidFill>
                  <a:schemeClr val="accent1"/>
                </a:solidFill>
              </a:rPr>
              <a:t>supervised</a:t>
            </a:r>
            <a:r>
              <a:rPr lang="en-US" dirty="0"/>
              <a:t> ML algorithm used primarily for </a:t>
            </a:r>
            <a:r>
              <a:rPr lang="en-US" dirty="0">
                <a:solidFill>
                  <a:schemeClr val="accent1"/>
                </a:solidFill>
              </a:rPr>
              <a:t>classification</a:t>
            </a:r>
          </a:p>
          <a:p>
            <a:pPr>
              <a:lnSpc>
                <a:spcPct val="110000"/>
              </a:lnSpc>
            </a:pPr>
            <a:r>
              <a:rPr lang="en-US" dirty="0"/>
              <a:t>Finds the best </a:t>
            </a:r>
            <a:r>
              <a:rPr lang="en-US" dirty="0">
                <a:solidFill>
                  <a:schemeClr val="accent1"/>
                </a:solidFill>
              </a:rPr>
              <a:t>boundary</a:t>
            </a:r>
            <a:r>
              <a:rPr lang="en-US" dirty="0"/>
              <a:t>—called a </a:t>
            </a:r>
            <a:r>
              <a:rPr lang="en-US" dirty="0">
                <a:solidFill>
                  <a:schemeClr val="accent1"/>
                </a:solidFill>
              </a:rPr>
              <a:t>hyperplane</a:t>
            </a:r>
            <a:r>
              <a:rPr lang="en-US" dirty="0"/>
              <a:t>—that </a:t>
            </a:r>
            <a:r>
              <a:rPr lang="en-US" dirty="0">
                <a:solidFill>
                  <a:schemeClr val="accent1"/>
                </a:solidFill>
              </a:rPr>
              <a:t>separates different classes </a:t>
            </a:r>
            <a:r>
              <a:rPr lang="en-US" dirty="0"/>
              <a:t>of data in a way that </a:t>
            </a:r>
            <a:r>
              <a:rPr lang="en-US" dirty="0">
                <a:solidFill>
                  <a:schemeClr val="accent1"/>
                </a:solidFill>
              </a:rPr>
              <a:t>maximizes the distance </a:t>
            </a:r>
            <a:r>
              <a:rPr lang="en-US" dirty="0"/>
              <a:t>(margin) between them.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accent1"/>
                </a:solidFill>
              </a:rPr>
              <a:t>Real world example</a:t>
            </a:r>
            <a:r>
              <a:rPr lang="en-US" dirty="0"/>
              <a:t>: Distinguishing between malignant and benign tumors</a:t>
            </a:r>
          </a:p>
          <a:p>
            <a:pPr marL="0" indent="0">
              <a:buNone/>
            </a:pPr>
            <a:endParaRPr lang="en-US" dirty="0"/>
          </a:p>
          <a:p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461C3D-EA1C-796E-C313-9753BF533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436" y="1638897"/>
            <a:ext cx="3955976" cy="395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123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917B-18D6-3F3B-A5FF-9DACD2EDC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Support Vector Machines – Pros and Cons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C5A559-9919-4BF7-0362-B40AFCC17B7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22129073"/>
              </p:ext>
            </p:extLst>
          </p:nvPr>
        </p:nvGraphicFramePr>
        <p:xfrm>
          <a:off x="91888" y="1295895"/>
          <a:ext cx="7814984" cy="3921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7492">
                  <a:extLst>
                    <a:ext uri="{9D8B030D-6E8A-4147-A177-3AD203B41FA5}">
                      <a16:colId xmlns:a16="http://schemas.microsoft.com/office/drawing/2014/main" val="3833671482"/>
                    </a:ext>
                  </a:extLst>
                </a:gridCol>
                <a:gridCol w="3907492">
                  <a:extLst>
                    <a:ext uri="{9D8B030D-6E8A-4147-A177-3AD203B41FA5}">
                      <a16:colId xmlns:a16="http://schemas.microsoft.com/office/drawing/2014/main" val="625284088"/>
                    </a:ext>
                  </a:extLst>
                </a:gridCol>
              </a:tblGrid>
              <a:tr h="784393">
                <a:tc>
                  <a:txBody>
                    <a:bodyPr/>
                    <a:lstStyle/>
                    <a:p>
                      <a:r>
                        <a:rPr lang="en-US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268959"/>
                  </a:ext>
                </a:extLst>
              </a:tr>
              <a:tr h="784393">
                <a:tc>
                  <a:txBody>
                    <a:bodyPr/>
                    <a:lstStyle/>
                    <a:p>
                      <a:r>
                        <a:rPr lang="en-US" dirty="0"/>
                        <a:t>Effective in high-dimensional spaces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Doesn’t scale well to very large datasets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595316"/>
                  </a:ext>
                </a:extLst>
              </a:tr>
              <a:tr h="784393">
                <a:tc>
                  <a:txBody>
                    <a:bodyPr/>
                    <a:lstStyle/>
                    <a:p>
                      <a:r>
                        <a:rPr lang="en-US" dirty="0"/>
                        <a:t>Can handle non-linear decision boundaries/data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Kernel and hyperparameter tuning (C, kernel choice) can be challenging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516697"/>
                  </a:ext>
                </a:extLst>
              </a:tr>
              <a:tr h="784393">
                <a:tc>
                  <a:txBody>
                    <a:bodyPr/>
                    <a:lstStyle/>
                    <a:p>
                      <a:r>
                        <a:rPr lang="en-US" dirty="0"/>
                        <a:t>Memory efficient (only rely on a subset of training points - support vectors)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Outputs are not naturally probabilistic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748887"/>
                  </a:ext>
                </a:extLst>
              </a:tr>
              <a:tr h="784393">
                <a:tc>
                  <a:txBody>
                    <a:bodyPr/>
                    <a:lstStyle/>
                    <a:p>
                      <a:r>
                        <a:rPr lang="en-US" dirty="0"/>
                        <a:t>Tend to generalize well, resisting overfitting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Harder to interpret than other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46258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31FD2A7-C6D1-AA10-DB2B-CBAEEC093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711" y="1807210"/>
            <a:ext cx="3815976" cy="324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674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26C61-01E1-79D4-E230-49D958581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How do SVMS work?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AEE7240-0EB9-88B9-932E-6B4B5453CA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114104" y="1803156"/>
            <a:ext cx="3787514" cy="3077355"/>
          </a:xfr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7F7AEE-492D-488F-47B8-F89D3FE60505}"/>
              </a:ext>
            </a:extLst>
          </p:cNvPr>
          <p:cNvSpPr txBox="1">
            <a:spLocks/>
          </p:cNvSpPr>
          <p:nvPr/>
        </p:nvSpPr>
        <p:spPr>
          <a:xfrm>
            <a:off x="527050" y="1104901"/>
            <a:ext cx="7350386" cy="5753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1"/>
                </a:solidFill>
              </a:rPr>
              <a:t>SVM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searches for a boundary that best separates the data</a:t>
            </a:r>
          </a:p>
          <a:p>
            <a:pPr>
              <a:lnSpc>
                <a:spcPct val="110000"/>
              </a:lnSpc>
            </a:pPr>
            <a:r>
              <a:rPr lang="en-US" dirty="0"/>
              <a:t>SVM selects the one with the </a:t>
            </a:r>
            <a:r>
              <a:rPr lang="en-US" b="1" dirty="0">
                <a:solidFill>
                  <a:schemeClr val="accent1"/>
                </a:solidFill>
              </a:rPr>
              <a:t>largest distance</a:t>
            </a:r>
            <a:r>
              <a:rPr lang="en-US" dirty="0">
                <a:solidFill>
                  <a:schemeClr val="accent1"/>
                </a:solidFill>
              </a:rPr>
              <a:t> </a:t>
            </a:r>
            <a:r>
              <a:rPr lang="en-US" dirty="0"/>
              <a:t>from the nearest points of each class.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accent1"/>
                </a:solidFill>
              </a:rPr>
              <a:t>Larger margin </a:t>
            </a:r>
            <a:r>
              <a:rPr lang="en-US" dirty="0"/>
              <a:t>leaves more room for variation in new data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This reduces the chance that small differences will lead to misclassification.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145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857F4-F56F-7FC2-E3F8-B59DD4A6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Support Vectors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0308A37-BF73-C62C-269A-50E3ED2A715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776699" y="1742128"/>
            <a:ext cx="4415301" cy="3373743"/>
          </a:xfr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41E6B61-9280-9B1F-0997-F6607F64B8F7}"/>
              </a:ext>
            </a:extLst>
          </p:cNvPr>
          <p:cNvSpPr txBox="1">
            <a:spLocks/>
          </p:cNvSpPr>
          <p:nvPr/>
        </p:nvSpPr>
        <p:spPr>
          <a:xfrm>
            <a:off x="344170" y="1190962"/>
            <a:ext cx="7350386" cy="5753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1"/>
                </a:solidFill>
              </a:rPr>
              <a:t>Support vectors </a:t>
            </a:r>
            <a:r>
              <a:rPr lang="en-US" dirty="0"/>
              <a:t>are the data points closest to the initial decision boundary.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accent1"/>
                </a:solidFill>
              </a:rPr>
              <a:t>Final decision boundary </a:t>
            </a:r>
            <a:r>
              <a:rPr lang="en-US" dirty="0"/>
              <a:t>is decided using </a:t>
            </a:r>
            <a:r>
              <a:rPr lang="en-US" dirty="0">
                <a:solidFill>
                  <a:schemeClr val="accent1"/>
                </a:solidFill>
              </a:rPr>
              <a:t>only support vectors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accent1"/>
                </a:solidFill>
              </a:rPr>
              <a:t>Moving other points has little/no effect on the boundary.</a:t>
            </a:r>
          </a:p>
          <a:p>
            <a:pPr>
              <a:lnSpc>
                <a:spcPct val="110000"/>
              </a:lnSpc>
            </a:pPr>
            <a:r>
              <a:rPr lang="en-US" dirty="0"/>
              <a:t>But what happens when the data cannot be perfectly separated by a boundary?</a:t>
            </a:r>
          </a:p>
          <a:p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066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6882B-CECE-5B64-5EA3-B6C5A8724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Soft Margin SVM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320047-35A4-7D9B-5A85-E8E10EE17DE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5533" r="7953"/>
          <a:stretch>
            <a:fillRect/>
          </a:stretch>
        </p:blipFill>
        <p:spPr>
          <a:xfrm>
            <a:off x="7434470" y="1427897"/>
            <a:ext cx="4757530" cy="3666066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5BE2BA3-501B-F8EA-5094-A5A8915A3FBC}"/>
              </a:ext>
            </a:extLst>
          </p:cNvPr>
          <p:cNvSpPr txBox="1">
            <a:spLocks/>
          </p:cNvSpPr>
          <p:nvPr/>
        </p:nvSpPr>
        <p:spPr>
          <a:xfrm>
            <a:off x="344170" y="1190962"/>
            <a:ext cx="7350386" cy="5753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Real-world data </a:t>
            </a:r>
            <a:r>
              <a:rPr lang="en-US" dirty="0"/>
              <a:t>often contains </a:t>
            </a:r>
            <a:r>
              <a:rPr lang="en-US" dirty="0">
                <a:solidFill>
                  <a:schemeClr val="accent1"/>
                </a:solidFill>
              </a:rPr>
              <a:t>noise </a:t>
            </a:r>
            <a:r>
              <a:rPr lang="en-US" dirty="0"/>
              <a:t>and</a:t>
            </a:r>
            <a:r>
              <a:rPr lang="en-US" dirty="0">
                <a:solidFill>
                  <a:schemeClr val="accent1"/>
                </a:solidFill>
              </a:rPr>
              <a:t> outliers</a:t>
            </a:r>
          </a:p>
          <a:p>
            <a:r>
              <a:rPr lang="en-US" dirty="0">
                <a:solidFill>
                  <a:schemeClr val="accent1"/>
                </a:solidFill>
              </a:rPr>
              <a:t>Soft margin SVM </a:t>
            </a:r>
            <a:r>
              <a:rPr lang="en-US" dirty="0"/>
              <a:t>allows some points to fall inside the margin or be misclassified</a:t>
            </a:r>
          </a:p>
          <a:p>
            <a:pPr lvl="1"/>
            <a:r>
              <a:rPr lang="en-US" dirty="0"/>
              <a:t>Maintains a wider, more generalizable boundary</a:t>
            </a:r>
          </a:p>
          <a:p>
            <a:r>
              <a:rPr lang="en-US" dirty="0">
                <a:solidFill>
                  <a:schemeClr val="accent1"/>
                </a:solidFill>
              </a:rPr>
              <a:t>Hard margin SVMs</a:t>
            </a:r>
            <a:r>
              <a:rPr lang="en-US" dirty="0"/>
              <a:t> tend to overfit the data and is strongly affected by outliers</a:t>
            </a:r>
          </a:p>
          <a:p>
            <a:r>
              <a:rPr lang="en-US" b="1" dirty="0">
                <a:solidFill>
                  <a:schemeClr val="accent1"/>
                </a:solidFill>
              </a:rPr>
              <a:t>Goal: Maximize margin while minimizing error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463E4C-A297-E422-7998-32A69B9DB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692" y="5343188"/>
            <a:ext cx="4876800" cy="6477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7E44742-4046-6D55-0250-93F89B63EF33}"/>
              </a:ext>
            </a:extLst>
          </p:cNvPr>
          <p:cNvSpPr/>
          <p:nvPr/>
        </p:nvSpPr>
        <p:spPr>
          <a:xfrm>
            <a:off x="2252546" y="5343188"/>
            <a:ext cx="825191" cy="56695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7BA99B-9A15-4C49-0F15-1C92D0305A05}"/>
              </a:ext>
            </a:extLst>
          </p:cNvPr>
          <p:cNvSpPr/>
          <p:nvPr/>
        </p:nvSpPr>
        <p:spPr>
          <a:xfrm>
            <a:off x="3235371" y="5383559"/>
            <a:ext cx="2860629" cy="56695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119D1C-6A2F-9CF7-F699-094627379A82}"/>
              </a:ext>
            </a:extLst>
          </p:cNvPr>
          <p:cNvSpPr txBox="1"/>
          <p:nvPr/>
        </p:nvSpPr>
        <p:spPr>
          <a:xfrm>
            <a:off x="1752263" y="6352143"/>
            <a:ext cx="1825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Inverse of Margin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F9FB52-CBDA-7824-44B8-FF7230BEEEB0}"/>
              </a:ext>
            </a:extLst>
          </p:cNvPr>
          <p:cNvSpPr txBox="1"/>
          <p:nvPr/>
        </p:nvSpPr>
        <p:spPr>
          <a:xfrm>
            <a:off x="3900731" y="6352143"/>
            <a:ext cx="286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Penalty for misclassifications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84C31C0-B2BF-0FA6-5466-72C800CA71C4}"/>
              </a:ext>
            </a:extLst>
          </p:cNvPr>
          <p:cNvCxnSpPr>
            <a:cxnSpLocks/>
          </p:cNvCxnSpPr>
          <p:nvPr/>
        </p:nvCxnSpPr>
        <p:spPr>
          <a:xfrm flipV="1">
            <a:off x="2548053" y="5990888"/>
            <a:ext cx="0" cy="3901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BB6734-6D19-4736-65B1-E5C43333934B}"/>
              </a:ext>
            </a:extLst>
          </p:cNvPr>
          <p:cNvCxnSpPr>
            <a:cxnSpLocks/>
          </p:cNvCxnSpPr>
          <p:nvPr/>
        </p:nvCxnSpPr>
        <p:spPr>
          <a:xfrm flipV="1">
            <a:off x="4874941" y="6017663"/>
            <a:ext cx="0" cy="3901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312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73774-01C3-2157-425C-C66D190B4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Affect of C Parameter Adjustment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F85D61-B3B3-E81E-F7CC-921AF88E9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498" y="1086677"/>
            <a:ext cx="7883595" cy="4455353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B63D17-7826-B7CB-2B4D-8FF7A8532D27}"/>
              </a:ext>
            </a:extLst>
          </p:cNvPr>
          <p:cNvSpPr txBox="1">
            <a:spLocks/>
          </p:cNvSpPr>
          <p:nvPr/>
        </p:nvSpPr>
        <p:spPr>
          <a:xfrm>
            <a:off x="256907" y="887506"/>
            <a:ext cx="3578473" cy="5753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C Parameter</a:t>
            </a:r>
            <a:r>
              <a:rPr lang="en-US" dirty="0"/>
              <a:t>: Controls how much the SVM penalizes classification errors. </a:t>
            </a:r>
          </a:p>
          <a:p>
            <a:pPr lvl="1"/>
            <a:r>
              <a:rPr lang="en-US" dirty="0"/>
              <a:t>High C: Fewer errors allowed (higher penalty), boundary tries harder to classify all points correctly. </a:t>
            </a:r>
          </a:p>
          <a:p>
            <a:pPr lvl="1"/>
            <a:r>
              <a:rPr lang="en-US" dirty="0"/>
              <a:t>Low C: More errors allowed (lower penalty), wider margin and less sensitivity to outliers.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044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B3236-DC06-9D3F-9AE1-EF945363E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Kernel Trick / Nonlinear SVM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11441D-328F-2720-7840-8DF4BBC7EC7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2066949"/>
            <a:ext cx="5957258" cy="237437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2F31D07-E9BE-0C41-F7DE-CFD3BD4A3DBD}"/>
              </a:ext>
            </a:extLst>
          </p:cNvPr>
          <p:cNvSpPr txBox="1">
            <a:spLocks/>
          </p:cNvSpPr>
          <p:nvPr/>
        </p:nvSpPr>
        <p:spPr>
          <a:xfrm>
            <a:off x="296664" y="1457349"/>
            <a:ext cx="5706571" cy="5753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Not all datasets can be separated by a straight line</a:t>
            </a:r>
          </a:p>
          <a:p>
            <a:r>
              <a:rPr lang="en-US" dirty="0">
                <a:solidFill>
                  <a:schemeClr val="accent1"/>
                </a:solidFill>
              </a:rPr>
              <a:t>Kernels transform </a:t>
            </a:r>
            <a:r>
              <a:rPr lang="en-US" dirty="0"/>
              <a:t>data </a:t>
            </a:r>
            <a:r>
              <a:rPr lang="en-US" dirty="0">
                <a:solidFill>
                  <a:schemeClr val="accent1"/>
                </a:solidFill>
              </a:rPr>
              <a:t>into a higher-dimensional space </a:t>
            </a:r>
          </a:p>
          <a:p>
            <a:r>
              <a:rPr lang="en-US" dirty="0"/>
              <a:t>This allows SVMs to find </a:t>
            </a:r>
            <a:r>
              <a:rPr lang="en-US" dirty="0">
                <a:solidFill>
                  <a:schemeClr val="accent1"/>
                </a:solidFill>
              </a:rPr>
              <a:t>nonlinear decision boundaries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614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5CD54-A71E-1C29-F37E-6CDB82192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EF3C3-DFA0-7E8C-A012-9F9B856F7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6522" y="1969019"/>
            <a:ext cx="9975925" cy="165576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Hierarchical Clustering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585A68-50BF-98F2-255B-F35D4EAFDC8C}"/>
              </a:ext>
            </a:extLst>
          </p:cNvPr>
          <p:cNvSpPr/>
          <p:nvPr/>
        </p:nvSpPr>
        <p:spPr>
          <a:xfrm>
            <a:off x="289933" y="228600"/>
            <a:ext cx="1137423" cy="6400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388C188-E776-78AB-A5BB-9DA474EEB9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850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5575A-3FD6-76A0-03B6-460054320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8A13C-B641-CA05-6AAB-9397B6113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Hierarchical Clustering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1A64C70-3600-DE29-F93D-DC4CB4D6206C}"/>
              </a:ext>
            </a:extLst>
          </p:cNvPr>
          <p:cNvSpPr txBox="1">
            <a:spLocks/>
          </p:cNvSpPr>
          <p:nvPr/>
        </p:nvSpPr>
        <p:spPr>
          <a:xfrm>
            <a:off x="447537" y="1396449"/>
            <a:ext cx="7350386" cy="5753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Unsupervised</a:t>
            </a:r>
            <a:r>
              <a:rPr lang="en-US" dirty="0"/>
              <a:t> machine learning method</a:t>
            </a:r>
          </a:p>
          <a:p>
            <a:r>
              <a:rPr lang="en-US" dirty="0"/>
              <a:t>Groups similar observations into </a:t>
            </a:r>
            <a:r>
              <a:rPr lang="en-US" dirty="0">
                <a:solidFill>
                  <a:schemeClr val="accent1"/>
                </a:solidFill>
              </a:rPr>
              <a:t>clusters</a:t>
            </a:r>
          </a:p>
          <a:p>
            <a:r>
              <a:rPr lang="en-US" dirty="0"/>
              <a:t>Builds a </a:t>
            </a:r>
            <a:r>
              <a:rPr lang="en-US" dirty="0">
                <a:solidFill>
                  <a:schemeClr val="accent1"/>
                </a:solidFill>
              </a:rPr>
              <a:t>hierarchy of relationships </a:t>
            </a:r>
            <a:r>
              <a:rPr lang="en-US" dirty="0"/>
              <a:t>between observations</a:t>
            </a:r>
          </a:p>
          <a:p>
            <a:r>
              <a:rPr lang="en-US" dirty="0"/>
              <a:t>Results are visualized in a </a:t>
            </a:r>
            <a:r>
              <a:rPr lang="en-US" dirty="0">
                <a:solidFill>
                  <a:schemeClr val="accent1"/>
                </a:solidFill>
              </a:rPr>
              <a:t>dendrogram (tree)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8D37A4-7AC3-5388-EC7B-EC8C6DB0A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401" y="1865243"/>
            <a:ext cx="4691270" cy="312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702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DAA99-8A26-39A0-261B-95D1EDCAE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7620D-A779-00A7-1A78-8F5A62CD1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Hierarchical Clustering– Pros and Cons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4C2646-AEC2-422B-D53E-A83E58002C6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61539092"/>
              </p:ext>
            </p:extLst>
          </p:nvPr>
        </p:nvGraphicFramePr>
        <p:xfrm>
          <a:off x="2188508" y="1216381"/>
          <a:ext cx="7814984" cy="3921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7492">
                  <a:extLst>
                    <a:ext uri="{9D8B030D-6E8A-4147-A177-3AD203B41FA5}">
                      <a16:colId xmlns:a16="http://schemas.microsoft.com/office/drawing/2014/main" val="3833671482"/>
                    </a:ext>
                  </a:extLst>
                </a:gridCol>
                <a:gridCol w="3907492">
                  <a:extLst>
                    <a:ext uri="{9D8B030D-6E8A-4147-A177-3AD203B41FA5}">
                      <a16:colId xmlns:a16="http://schemas.microsoft.com/office/drawing/2014/main" val="625284088"/>
                    </a:ext>
                  </a:extLst>
                </a:gridCol>
              </a:tblGrid>
              <a:tr h="784393">
                <a:tc>
                  <a:txBody>
                    <a:bodyPr/>
                    <a:lstStyle/>
                    <a:p>
                      <a:r>
                        <a:rPr lang="en-US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268959"/>
                  </a:ext>
                </a:extLst>
              </a:tr>
              <a:tr h="784393">
                <a:tc>
                  <a:txBody>
                    <a:bodyPr/>
                    <a:lstStyle/>
                    <a:p>
                      <a:r>
                        <a:rPr lang="en-US" dirty="0"/>
                        <a:t>Don’t need to specify number of clusters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Computationally expensive for large datasets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595316"/>
                  </a:ext>
                </a:extLst>
              </a:tr>
              <a:tr h="784393">
                <a:tc>
                  <a:txBody>
                    <a:bodyPr/>
                    <a:lstStyle/>
                    <a:p>
                      <a:r>
                        <a:rPr lang="en-US" dirty="0"/>
                        <a:t>Dendrogram is intuitive and interpretable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Sensitive to hyperparameters chosen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516697"/>
                  </a:ext>
                </a:extLst>
              </a:tr>
              <a:tr h="784393">
                <a:tc>
                  <a:txBody>
                    <a:bodyPr/>
                    <a:lstStyle/>
                    <a:p>
                      <a:r>
                        <a:rPr lang="en-US" dirty="0"/>
                        <a:t>Reveals relationships between both samples and clusters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Heavily affected by noise and outliers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748887"/>
                  </a:ext>
                </a:extLst>
              </a:tr>
              <a:tr h="784393">
                <a:tc>
                  <a:txBody>
                    <a:bodyPr/>
                    <a:lstStyle/>
                    <a:p>
                      <a:r>
                        <a:rPr lang="en-US" dirty="0"/>
                        <a:t>Commonly used for gene expression and genomic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objective “best” number of clusters is reported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462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0661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C3731-CF95-EE87-7B68-A8A39C473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C4C0D-7932-5C85-83FF-86C11E873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96" y="229289"/>
            <a:ext cx="7350386" cy="75098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Hierarchical Clustering – How it works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914BDAE-F656-6EF8-D764-10300C66DD04}"/>
              </a:ext>
            </a:extLst>
          </p:cNvPr>
          <p:cNvSpPr txBox="1">
            <a:spLocks/>
          </p:cNvSpPr>
          <p:nvPr/>
        </p:nvSpPr>
        <p:spPr>
          <a:xfrm>
            <a:off x="447537" y="1396449"/>
            <a:ext cx="7350386" cy="5753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Start with each observation as its own cluster</a:t>
            </a:r>
          </a:p>
          <a:p>
            <a:pPr lvl="1"/>
            <a:r>
              <a:rPr lang="en-US" dirty="0"/>
              <a:t>Every sample begins in a separate cluster.</a:t>
            </a:r>
          </a:p>
          <a:p>
            <a:r>
              <a:rPr lang="en-US" dirty="0">
                <a:solidFill>
                  <a:schemeClr val="accent1"/>
                </a:solidFill>
              </a:rPr>
              <a:t>Calculate distances between all clusters</a:t>
            </a:r>
          </a:p>
          <a:p>
            <a:pPr lvl="1"/>
            <a:r>
              <a:rPr lang="en-US" dirty="0"/>
              <a:t>Similarity is measured using a distance metric (e.g., Euclidean distance).</a:t>
            </a:r>
          </a:p>
          <a:p>
            <a:r>
              <a:rPr lang="en-US" dirty="0">
                <a:solidFill>
                  <a:schemeClr val="accent1"/>
                </a:solidFill>
              </a:rPr>
              <a:t>Merge the two closest clusters</a:t>
            </a:r>
          </a:p>
          <a:p>
            <a:pPr lvl="1"/>
            <a:r>
              <a:rPr lang="en-US" dirty="0"/>
              <a:t>The most similar clusters are combined into a larger cluster.</a:t>
            </a:r>
          </a:p>
          <a:p>
            <a:r>
              <a:rPr lang="en-US" dirty="0">
                <a:solidFill>
                  <a:schemeClr val="accent1"/>
                </a:solidFill>
              </a:rPr>
              <a:t>Repeat until all observations are grouped</a:t>
            </a:r>
          </a:p>
          <a:p>
            <a:pPr lvl="1"/>
            <a:r>
              <a:rPr lang="en-US" dirty="0"/>
              <a:t>Distances are recalculated after each merge until a single cluster remains.</a:t>
            </a:r>
          </a:p>
          <a:p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E8CA01-065E-7681-07D0-B1E2664029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524"/>
          <a:stretch>
            <a:fillRect/>
          </a:stretch>
        </p:blipFill>
        <p:spPr>
          <a:xfrm>
            <a:off x="8073768" y="2968590"/>
            <a:ext cx="3351818" cy="26088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C0ABEC-BBB2-2927-DE6E-8E96D54AD2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177"/>
          <a:stretch>
            <a:fillRect/>
          </a:stretch>
        </p:blipFill>
        <p:spPr>
          <a:xfrm>
            <a:off x="8188586" y="1"/>
            <a:ext cx="3122183" cy="2888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51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4C546-518C-71A5-080A-8497F06D3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Distance Calculation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D4C70-DBD7-25CE-9FDE-A175473F1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104485"/>
            <a:ext cx="5499100" cy="5146675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Euclidian Distance</a:t>
            </a:r>
          </a:p>
          <a:p>
            <a:pPr lvl="1"/>
            <a:r>
              <a:rPr lang="en-US" dirty="0"/>
              <a:t>Measures the straight-line distance between two measurements</a:t>
            </a:r>
          </a:p>
          <a:p>
            <a:r>
              <a:rPr lang="en-US" dirty="0">
                <a:solidFill>
                  <a:schemeClr val="accent1"/>
                </a:solidFill>
              </a:rPr>
              <a:t>Manhattan Distance </a:t>
            </a:r>
          </a:p>
          <a:p>
            <a:pPr lvl="1"/>
            <a:r>
              <a:rPr lang="en-US" dirty="0"/>
              <a:t>Measures distance traveled across a grid</a:t>
            </a:r>
          </a:p>
          <a:p>
            <a:r>
              <a:rPr lang="en-US" dirty="0">
                <a:solidFill>
                  <a:schemeClr val="accent1"/>
                </a:solidFill>
              </a:rPr>
              <a:t>Other distance metrics</a:t>
            </a:r>
          </a:p>
          <a:p>
            <a:pPr lvl="1"/>
            <a:r>
              <a:rPr lang="en-US" dirty="0"/>
              <a:t>Correlation Distance (Patterns)</a:t>
            </a:r>
          </a:p>
          <a:p>
            <a:pPr lvl="1"/>
            <a:r>
              <a:rPr lang="en-US" dirty="0"/>
              <a:t>Cosine Distance (Similarity in direction)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00B467-6916-0A66-347F-E5969B9CF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297" y="1654865"/>
            <a:ext cx="5166416" cy="28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337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673AC-A0A2-D440-DAE8-374E217C3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Linkage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215C4-13FB-5165-021D-5A9ACFFF51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6900" y="1159678"/>
            <a:ext cx="6638787" cy="5146675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Linkage</a:t>
            </a:r>
            <a:r>
              <a:rPr lang="en-US" dirty="0"/>
              <a:t> determines how the distance between clusters is calculated.</a:t>
            </a:r>
          </a:p>
          <a:p>
            <a:pPr lvl="1"/>
            <a:r>
              <a:rPr lang="en-US" dirty="0"/>
              <a:t>When clusters contain multiple samples, there is no single distance between them.</a:t>
            </a:r>
          </a:p>
          <a:p>
            <a:r>
              <a:rPr lang="en-US" dirty="0">
                <a:solidFill>
                  <a:schemeClr val="accent1"/>
                </a:solidFill>
              </a:rPr>
              <a:t>Single Linkage</a:t>
            </a:r>
          </a:p>
          <a:p>
            <a:pPr lvl="1"/>
            <a:r>
              <a:rPr lang="en-US" dirty="0"/>
              <a:t>Uses the closest points between clusters.</a:t>
            </a:r>
          </a:p>
          <a:p>
            <a:r>
              <a:rPr lang="en-US" dirty="0">
                <a:solidFill>
                  <a:schemeClr val="accent1"/>
                </a:solidFill>
              </a:rPr>
              <a:t>Complete Linkage</a:t>
            </a:r>
          </a:p>
          <a:p>
            <a:pPr lvl="1"/>
            <a:r>
              <a:rPr lang="en-US" dirty="0"/>
              <a:t>Uses the farthest points between clusters.</a:t>
            </a:r>
          </a:p>
          <a:p>
            <a:r>
              <a:rPr lang="en-US" dirty="0">
                <a:solidFill>
                  <a:schemeClr val="accent1"/>
                </a:solidFill>
              </a:rPr>
              <a:t>Average Linkage</a:t>
            </a:r>
          </a:p>
          <a:p>
            <a:pPr lvl="1"/>
            <a:r>
              <a:rPr lang="en-US" dirty="0"/>
              <a:t>Uses the average distance between all points.</a:t>
            </a:r>
          </a:p>
          <a:p>
            <a:r>
              <a:rPr lang="en-US" dirty="0">
                <a:solidFill>
                  <a:schemeClr val="accent1"/>
                </a:solidFill>
              </a:rPr>
              <a:t>Ward’s Linkage</a:t>
            </a:r>
          </a:p>
          <a:p>
            <a:pPr lvl="1"/>
            <a:r>
              <a:rPr lang="en-US" dirty="0"/>
              <a:t>Merges clusters that result in the smallest increase in cluster variance.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80258B-641D-5715-D719-0AEA1C4A2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295" y="887506"/>
            <a:ext cx="4458805" cy="481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25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C724F-44A7-8EAD-5B3A-92A2F323E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Determining Clusters from Dendrogram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774FA-815D-436C-DE9D-E64AB1EE9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6900" y="1117737"/>
            <a:ext cx="5499100" cy="5146675"/>
          </a:xfrm>
        </p:spPr>
        <p:txBody>
          <a:bodyPr>
            <a:normAutofit/>
          </a:bodyPr>
          <a:lstStyle/>
          <a:p>
            <a:r>
              <a:rPr lang="en-US" dirty="0"/>
              <a:t>Hierarchical clustering does not require a predefined number of clusters.</a:t>
            </a:r>
          </a:p>
          <a:p>
            <a:r>
              <a:rPr lang="en-US" dirty="0"/>
              <a:t>Clusters are determined by selecting a </a:t>
            </a:r>
            <a:r>
              <a:rPr lang="en-US" dirty="0">
                <a:solidFill>
                  <a:schemeClr val="accent1"/>
                </a:solidFill>
              </a:rPr>
              <a:t>cut height </a:t>
            </a:r>
            <a:r>
              <a:rPr lang="en-US" dirty="0"/>
              <a:t>on the dendrogram.</a:t>
            </a:r>
          </a:p>
          <a:p>
            <a:r>
              <a:rPr lang="en-US" b="1" dirty="0">
                <a:solidFill>
                  <a:schemeClr val="accent1"/>
                </a:solidFill>
              </a:rPr>
              <a:t>Effect of Cut Height</a:t>
            </a:r>
          </a:p>
          <a:p>
            <a:pPr lvl="1"/>
            <a:r>
              <a:rPr lang="en-US" b="1" dirty="0"/>
              <a:t>Higher cut:</a:t>
            </a:r>
            <a:r>
              <a:rPr lang="en-US" dirty="0"/>
              <a:t> Fewer, larger clusters</a:t>
            </a:r>
          </a:p>
          <a:p>
            <a:pPr lvl="1"/>
            <a:r>
              <a:rPr lang="en-US" b="1" dirty="0"/>
              <a:t>Lower cut:</a:t>
            </a:r>
            <a:r>
              <a:rPr lang="en-US" dirty="0"/>
              <a:t> More, smaller clusters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3F42DA-8A47-9B07-ED81-164FBA5CF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394" y="1914834"/>
            <a:ext cx="5533249" cy="302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529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65DB4-1211-6D35-D0B2-E8C294E77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AC986-E0B9-8800-D20C-C737CC4C9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6522" y="1969019"/>
            <a:ext cx="9975925" cy="165576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Decision Tree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6CBE91-D4CC-0227-A10C-CF96389358B5}"/>
              </a:ext>
            </a:extLst>
          </p:cNvPr>
          <p:cNvSpPr/>
          <p:nvPr/>
        </p:nvSpPr>
        <p:spPr>
          <a:xfrm>
            <a:off x="289933" y="228600"/>
            <a:ext cx="1137423" cy="6400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3588715-61D2-A005-4ED5-D31A5712FF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420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08058-5580-8727-DE71-35D9D2789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D05BB-12AD-5616-A668-08FBDB39B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Decision Tree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1E02839-4E12-A3BF-2557-355F84F8EBA1}"/>
              </a:ext>
            </a:extLst>
          </p:cNvPr>
          <p:cNvSpPr txBox="1">
            <a:spLocks/>
          </p:cNvSpPr>
          <p:nvPr/>
        </p:nvSpPr>
        <p:spPr>
          <a:xfrm>
            <a:off x="447537" y="1396449"/>
            <a:ext cx="7350386" cy="5753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Supervised</a:t>
            </a:r>
            <a:r>
              <a:rPr lang="en-US" dirty="0"/>
              <a:t> machine learning method</a:t>
            </a:r>
          </a:p>
          <a:p>
            <a:r>
              <a:rPr lang="en-US" dirty="0"/>
              <a:t>Uses a </a:t>
            </a:r>
            <a:r>
              <a:rPr lang="en-US" dirty="0">
                <a:solidFill>
                  <a:schemeClr val="accent1"/>
                </a:solidFill>
              </a:rPr>
              <a:t>series of decision </a:t>
            </a:r>
            <a:r>
              <a:rPr lang="en-US" dirty="0"/>
              <a:t>rules to make predictions</a:t>
            </a:r>
          </a:p>
          <a:p>
            <a:r>
              <a:rPr lang="en-US" dirty="0"/>
              <a:t>Can be used for </a:t>
            </a:r>
            <a:r>
              <a:rPr lang="en-US" dirty="0">
                <a:solidFill>
                  <a:schemeClr val="accent1"/>
                </a:solidFill>
              </a:rPr>
              <a:t>classification and regression</a:t>
            </a:r>
          </a:p>
          <a:p>
            <a:r>
              <a:rPr lang="en-US" dirty="0"/>
              <a:t>Easy to interpret and visualize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73DD64-D050-98CD-96A5-5EAE4C75A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2433" y="1510748"/>
            <a:ext cx="5115342" cy="287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370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BD175-3AD3-FD6C-9958-E07405696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EC026-B0CC-5F2E-CA74-3EE4C42FB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Decision Tree – Pros and Cons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60C41D-9E18-0086-4972-884040DEE8C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71261823"/>
              </p:ext>
            </p:extLst>
          </p:nvPr>
        </p:nvGraphicFramePr>
        <p:xfrm>
          <a:off x="2188508" y="1216381"/>
          <a:ext cx="7814984" cy="3921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7492">
                  <a:extLst>
                    <a:ext uri="{9D8B030D-6E8A-4147-A177-3AD203B41FA5}">
                      <a16:colId xmlns:a16="http://schemas.microsoft.com/office/drawing/2014/main" val="3833671482"/>
                    </a:ext>
                  </a:extLst>
                </a:gridCol>
                <a:gridCol w="3907492">
                  <a:extLst>
                    <a:ext uri="{9D8B030D-6E8A-4147-A177-3AD203B41FA5}">
                      <a16:colId xmlns:a16="http://schemas.microsoft.com/office/drawing/2014/main" val="625284088"/>
                    </a:ext>
                  </a:extLst>
                </a:gridCol>
              </a:tblGrid>
              <a:tr h="784393">
                <a:tc>
                  <a:txBody>
                    <a:bodyPr/>
                    <a:lstStyle/>
                    <a:p>
                      <a:r>
                        <a:rPr lang="en-US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268959"/>
                  </a:ext>
                </a:extLst>
              </a:tr>
              <a:tr h="784393">
                <a:tc>
                  <a:txBody>
                    <a:bodyPr/>
                    <a:lstStyle/>
                    <a:p>
                      <a:r>
                        <a:rPr lang="en-US" dirty="0"/>
                        <a:t>Easy to interpret and explain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Prone to overfitting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595316"/>
                  </a:ext>
                </a:extLst>
              </a:tr>
              <a:tr h="784393">
                <a:tc>
                  <a:txBody>
                    <a:bodyPr/>
                    <a:lstStyle/>
                    <a:p>
                      <a:r>
                        <a:rPr lang="en-US" dirty="0"/>
                        <a:t>Handles numeric and categorical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Small data changes can cause large structural alterations in the tree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516697"/>
                  </a:ext>
                </a:extLst>
              </a:tr>
              <a:tr h="784393">
                <a:tc>
                  <a:txBody>
                    <a:bodyPr/>
                    <a:lstStyle/>
                    <a:p>
                      <a:r>
                        <a:rPr lang="en-US" dirty="0"/>
                        <a:t>No feature scaling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Biased toward dominant features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748887"/>
                  </a:ext>
                </a:extLst>
              </a:tr>
              <a:tr h="784393">
                <a:tc>
                  <a:txBody>
                    <a:bodyPr/>
                    <a:lstStyle/>
                    <a:p>
                      <a:r>
                        <a:rPr lang="en-US" dirty="0"/>
                        <a:t>Provides easy to follow decision 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Often less accurate than ensemble methods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462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19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B8174-8D22-A9C0-1AFF-222CC83C8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407F1-9F14-1A00-592A-5AFE64D7E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Decision Tree Structure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57C6E2B-E704-4D2B-BD37-86AF9291A82D}"/>
              </a:ext>
            </a:extLst>
          </p:cNvPr>
          <p:cNvSpPr txBox="1">
            <a:spLocks/>
          </p:cNvSpPr>
          <p:nvPr/>
        </p:nvSpPr>
        <p:spPr>
          <a:xfrm>
            <a:off x="447537" y="1396449"/>
            <a:ext cx="7350386" cy="5753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Root Node</a:t>
            </a:r>
          </a:p>
          <a:p>
            <a:pPr lvl="1"/>
            <a:r>
              <a:rPr lang="en-US" dirty="0"/>
              <a:t>First decision in the tree</a:t>
            </a:r>
          </a:p>
          <a:p>
            <a:r>
              <a:rPr lang="en-US" dirty="0">
                <a:solidFill>
                  <a:schemeClr val="accent1"/>
                </a:solidFill>
              </a:rPr>
              <a:t>Internal Nodes</a:t>
            </a:r>
          </a:p>
          <a:p>
            <a:pPr lvl="1"/>
            <a:r>
              <a:rPr lang="en-US" dirty="0"/>
              <a:t>Intermediate decision nodes</a:t>
            </a:r>
          </a:p>
          <a:p>
            <a:r>
              <a:rPr lang="en-US" dirty="0">
                <a:solidFill>
                  <a:schemeClr val="accent1"/>
                </a:solidFill>
              </a:rPr>
              <a:t>Branches</a:t>
            </a:r>
          </a:p>
          <a:p>
            <a:pPr lvl="1"/>
            <a:r>
              <a:rPr lang="en-US" dirty="0"/>
              <a:t>Outcomes of decision rules</a:t>
            </a:r>
          </a:p>
          <a:p>
            <a:pPr lvl="1"/>
            <a:r>
              <a:rPr lang="en-US" dirty="0"/>
              <a:t>Connect parent and child nodes</a:t>
            </a:r>
          </a:p>
          <a:p>
            <a:r>
              <a:rPr lang="en-US" dirty="0">
                <a:solidFill>
                  <a:schemeClr val="accent1"/>
                </a:solidFill>
              </a:rPr>
              <a:t>Leaf Nodes</a:t>
            </a:r>
          </a:p>
          <a:p>
            <a:pPr lvl="1"/>
            <a:r>
              <a:rPr lang="en-US" dirty="0"/>
              <a:t>Terminal nodes that make the final prediction</a:t>
            </a:r>
          </a:p>
          <a:p>
            <a:pPr lvl="1"/>
            <a:r>
              <a:rPr lang="en-US" dirty="0"/>
              <a:t>Take majority class as prediction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46CFCD-C3E1-337B-F625-D27C8C3BE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121" y="1524000"/>
            <a:ext cx="5115342" cy="287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6048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EED0C-45CD-46FC-DD4F-155DB6815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How do Decision Trees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5FE0D-505A-CCAD-B451-D8494393F1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6900" y="1144242"/>
            <a:ext cx="5499100" cy="5146675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Start</a:t>
            </a:r>
            <a:r>
              <a:rPr lang="en-US" dirty="0"/>
              <a:t> with </a:t>
            </a:r>
            <a:r>
              <a:rPr lang="en-US" dirty="0">
                <a:solidFill>
                  <a:schemeClr val="accent1"/>
                </a:solidFill>
              </a:rPr>
              <a:t>all observations </a:t>
            </a:r>
            <a:r>
              <a:rPr lang="en-US" dirty="0"/>
              <a:t>in </a:t>
            </a:r>
            <a:r>
              <a:rPr lang="en-US" dirty="0">
                <a:solidFill>
                  <a:schemeClr val="accent1"/>
                </a:solidFill>
              </a:rPr>
              <a:t>one group.</a:t>
            </a:r>
          </a:p>
          <a:p>
            <a:r>
              <a:rPr lang="en-US" dirty="0">
                <a:solidFill>
                  <a:schemeClr val="accent1"/>
                </a:solidFill>
              </a:rPr>
              <a:t>Find </a:t>
            </a:r>
            <a:r>
              <a:rPr lang="en-US" dirty="0"/>
              <a:t>the </a:t>
            </a:r>
            <a:r>
              <a:rPr lang="en-US" dirty="0">
                <a:solidFill>
                  <a:schemeClr val="accent1"/>
                </a:solidFill>
              </a:rPr>
              <a:t>best feature </a:t>
            </a:r>
            <a:r>
              <a:rPr lang="en-US" dirty="0"/>
              <a:t>and </a:t>
            </a:r>
            <a:r>
              <a:rPr lang="en-US" dirty="0">
                <a:solidFill>
                  <a:schemeClr val="accent1"/>
                </a:solidFill>
              </a:rPr>
              <a:t>threshold</a:t>
            </a:r>
            <a:r>
              <a:rPr lang="en-US" dirty="0"/>
              <a:t> to cleanly separate the data.</a:t>
            </a:r>
          </a:p>
          <a:p>
            <a:r>
              <a:rPr lang="en-US" dirty="0">
                <a:solidFill>
                  <a:schemeClr val="accent1"/>
                </a:solidFill>
              </a:rPr>
              <a:t>Partition</a:t>
            </a:r>
            <a:r>
              <a:rPr lang="en-US" dirty="0"/>
              <a:t> observations</a:t>
            </a:r>
            <a:r>
              <a:rPr lang="en-US" dirty="0">
                <a:solidFill>
                  <a:schemeClr val="accent1"/>
                </a:solidFill>
              </a:rPr>
              <a:t> into child nodes</a:t>
            </a:r>
            <a:r>
              <a:rPr lang="en-US" dirty="0"/>
              <a:t> based on the split rule and </a:t>
            </a:r>
            <a:r>
              <a:rPr lang="en-US" dirty="0">
                <a:solidFill>
                  <a:schemeClr val="accent1"/>
                </a:solidFill>
              </a:rPr>
              <a:t>recursively evaluate additional splits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chemeClr val="accent1"/>
                </a:solidFill>
              </a:rPr>
              <a:t>Stop</a:t>
            </a:r>
            <a:r>
              <a:rPr lang="en-US" dirty="0"/>
              <a:t> when a </a:t>
            </a:r>
            <a:r>
              <a:rPr lang="en-US" dirty="0">
                <a:solidFill>
                  <a:schemeClr val="accent1"/>
                </a:solidFill>
              </a:rPr>
              <a:t>stopping criterion </a:t>
            </a:r>
            <a:r>
              <a:rPr lang="en-US" dirty="0"/>
              <a:t>is reached and assign a prediction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AAEAE5-9185-1E99-545D-C6B226907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9864" y="1417981"/>
            <a:ext cx="4505236" cy="360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08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613ED-685C-BA62-6585-31BF7431F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Choosing the best split at decision 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01E55-236B-EB8F-CA1F-789079647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6900" y="1117737"/>
            <a:ext cx="5499100" cy="5146675"/>
          </a:xfrm>
        </p:spPr>
        <p:txBody>
          <a:bodyPr/>
          <a:lstStyle/>
          <a:p>
            <a:r>
              <a:rPr lang="en-US" dirty="0"/>
              <a:t>Multiple features and thresholds are evaluated at each node.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chemeClr val="accent1"/>
                </a:solidFill>
              </a:rPr>
              <a:t>best split </a:t>
            </a:r>
            <a:r>
              <a:rPr lang="en-US" dirty="0"/>
              <a:t>is the one that </a:t>
            </a:r>
            <a:r>
              <a:rPr lang="en-US" dirty="0">
                <a:solidFill>
                  <a:schemeClr val="accent1"/>
                </a:solidFill>
              </a:rPr>
              <a:t>separates the classes most effectively.</a:t>
            </a:r>
          </a:p>
          <a:p>
            <a:r>
              <a:rPr lang="en-US" dirty="0">
                <a:solidFill>
                  <a:schemeClr val="accent1"/>
                </a:solidFill>
              </a:rPr>
              <a:t>Gini Impurity </a:t>
            </a:r>
            <a:r>
              <a:rPr lang="en-US" dirty="0"/>
              <a:t>is the most common method used to evaluate the quality of a split.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Measures how mixed the classes are within a node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98F1FA-10B0-30F1-4496-CE7897A27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67819"/>
            <a:ext cx="5906420" cy="3322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9428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2A83F-3147-0EE9-1F16-E013177AF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Controlling Tree Growth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C6E89-EA16-12BD-169C-F41CC87A66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6899" y="1051476"/>
            <a:ext cx="8202543" cy="5146675"/>
          </a:xfrm>
        </p:spPr>
        <p:txBody>
          <a:bodyPr>
            <a:normAutofit/>
          </a:bodyPr>
          <a:lstStyle/>
          <a:p>
            <a:r>
              <a:rPr lang="en-US" dirty="0"/>
              <a:t>Decision trees</a:t>
            </a:r>
            <a:r>
              <a:rPr lang="en-US" dirty="0">
                <a:solidFill>
                  <a:schemeClr val="accent1"/>
                </a:solidFill>
              </a:rPr>
              <a:t> continue splitting until a stopping criterion</a:t>
            </a:r>
            <a:r>
              <a:rPr lang="en-US" dirty="0"/>
              <a:t> is reached.</a:t>
            </a:r>
          </a:p>
          <a:p>
            <a:r>
              <a:rPr lang="en-US" dirty="0">
                <a:solidFill>
                  <a:schemeClr val="accent1"/>
                </a:solidFill>
              </a:rPr>
              <a:t>Limiting tree growth </a:t>
            </a:r>
            <a:r>
              <a:rPr lang="en-US" dirty="0"/>
              <a:t>can </a:t>
            </a:r>
            <a:r>
              <a:rPr lang="en-US" dirty="0">
                <a:solidFill>
                  <a:schemeClr val="accent1"/>
                </a:solidFill>
              </a:rPr>
              <a:t>reduce overfitting </a:t>
            </a:r>
            <a:r>
              <a:rPr lang="en-US" dirty="0"/>
              <a:t>and </a:t>
            </a:r>
            <a:r>
              <a:rPr lang="en-US" dirty="0">
                <a:solidFill>
                  <a:schemeClr val="accent1"/>
                </a:solidFill>
              </a:rPr>
              <a:t>improve generalization</a:t>
            </a:r>
            <a:r>
              <a:rPr lang="en-US" dirty="0"/>
              <a:t>.</a:t>
            </a:r>
          </a:p>
          <a:p>
            <a:r>
              <a:rPr lang="en-US" dirty="0"/>
              <a:t>Several hyperparameters control when the tree stops splitting.</a:t>
            </a:r>
          </a:p>
          <a:p>
            <a:pPr lvl="1"/>
            <a:r>
              <a:rPr lang="en-US" dirty="0" err="1">
                <a:solidFill>
                  <a:schemeClr val="accent1"/>
                </a:solidFill>
              </a:rPr>
              <a:t>Max_depth</a:t>
            </a:r>
            <a:r>
              <a:rPr lang="en-US" dirty="0"/>
              <a:t>: Maximum number of levels in the tree</a:t>
            </a:r>
          </a:p>
          <a:p>
            <a:pPr lvl="1"/>
            <a:r>
              <a:rPr lang="en-US" dirty="0" err="1">
                <a:solidFill>
                  <a:schemeClr val="accent1"/>
                </a:solidFill>
              </a:rPr>
              <a:t>Min_samples_split</a:t>
            </a:r>
            <a:r>
              <a:rPr lang="en-US" dirty="0"/>
              <a:t>: Minimum number of observations required to split a node.</a:t>
            </a:r>
          </a:p>
          <a:p>
            <a:pPr lvl="1"/>
            <a:r>
              <a:rPr lang="en-US" dirty="0" err="1">
                <a:solidFill>
                  <a:schemeClr val="accent1"/>
                </a:solidFill>
              </a:rPr>
              <a:t>Min_samples_leaf</a:t>
            </a:r>
            <a:r>
              <a:rPr lang="en-US" dirty="0"/>
              <a:t>: Minimum number of observations required in a leaf node.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6CE163-D568-C0C8-8C6C-2065E7D0E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4336" y="1051476"/>
            <a:ext cx="2514815" cy="19421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428C68-56F4-0920-F8B4-F4BACCD55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4915" y="3429000"/>
            <a:ext cx="3793659" cy="176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395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3F30A-5A89-C103-EC75-66C0D0062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Limitations of a single 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48F2D-D33C-688E-F2EC-71ED2DEA1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197250"/>
            <a:ext cx="5499100" cy="51466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Decision trees are </a:t>
            </a:r>
            <a:r>
              <a:rPr lang="en-US" dirty="0">
                <a:solidFill>
                  <a:schemeClr val="accent1"/>
                </a:solidFill>
              </a:rPr>
              <a:t>highly sensitive </a:t>
            </a:r>
            <a:r>
              <a:rPr lang="en-US" dirty="0"/>
              <a:t>to the training data.</a:t>
            </a:r>
          </a:p>
          <a:p>
            <a:r>
              <a:rPr lang="en-US" dirty="0"/>
              <a:t>Small changes in the data can produce very different trees.</a:t>
            </a:r>
          </a:p>
          <a:p>
            <a:r>
              <a:rPr lang="en-US" dirty="0">
                <a:solidFill>
                  <a:schemeClr val="accent1"/>
                </a:solidFill>
              </a:rPr>
              <a:t>Deep trees </a:t>
            </a:r>
            <a:r>
              <a:rPr lang="en-US" dirty="0"/>
              <a:t>may </a:t>
            </a:r>
            <a:r>
              <a:rPr lang="en-US" dirty="0">
                <a:solidFill>
                  <a:schemeClr val="accent1"/>
                </a:solidFill>
              </a:rPr>
              <a:t>overfit</a:t>
            </a:r>
            <a:r>
              <a:rPr lang="en-US" dirty="0"/>
              <a:t> and memorize training examples.</a:t>
            </a:r>
          </a:p>
          <a:p>
            <a:r>
              <a:rPr lang="en-US" dirty="0">
                <a:solidFill>
                  <a:schemeClr val="accent1"/>
                </a:solidFill>
              </a:rPr>
              <a:t>Predictions</a:t>
            </a:r>
            <a:r>
              <a:rPr lang="en-US" dirty="0"/>
              <a:t> from a single tree can be </a:t>
            </a:r>
            <a:r>
              <a:rPr lang="en-US" dirty="0">
                <a:solidFill>
                  <a:schemeClr val="accent1"/>
                </a:solidFill>
              </a:rPr>
              <a:t>unstable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1"/>
                </a:solidFill>
              </a:rPr>
              <a:t>How can we maintain the interpretability of decision trees while reducing overfitting and improving prediction accuracy?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C7CB33-AF9B-CB71-E14B-5464BC70D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596" y="1652312"/>
            <a:ext cx="5335273" cy="355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8150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E5ED8-1524-E260-4ECB-0C10900C6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70242-2FD4-EECF-FCD2-EDC7C788E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6522" y="1969019"/>
            <a:ext cx="9975925" cy="165576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Random Forest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3FDA7C-DB35-2FC9-FD90-636651D76E70}"/>
              </a:ext>
            </a:extLst>
          </p:cNvPr>
          <p:cNvSpPr/>
          <p:nvPr/>
        </p:nvSpPr>
        <p:spPr>
          <a:xfrm>
            <a:off x="289933" y="228600"/>
            <a:ext cx="1137423" cy="6400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A9F945C-0F8A-85DE-BFA4-B8C724E6D4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9532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B681A-1A1E-CC0A-D4B7-64764F4FC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A29E5-67F1-9D5D-7854-F91197E34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99922" cy="4351338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A Random Forest is a collection of decision trees that work together to make predictions.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/>
              <a:t>Each tree is </a:t>
            </a:r>
            <a:r>
              <a:rPr lang="en-US" dirty="0">
                <a:solidFill>
                  <a:schemeClr val="accent1"/>
                </a:solidFill>
              </a:rPr>
              <a:t>trained</a:t>
            </a:r>
            <a:r>
              <a:rPr lang="en-US" dirty="0"/>
              <a:t> on a </a:t>
            </a:r>
            <a:r>
              <a:rPr lang="en-US" dirty="0">
                <a:solidFill>
                  <a:schemeClr val="accent1"/>
                </a:solidFill>
              </a:rPr>
              <a:t>slightly different dataset.</a:t>
            </a:r>
          </a:p>
          <a:p>
            <a:r>
              <a:rPr lang="en-US" dirty="0"/>
              <a:t>Predictions from all trees are combined.</a:t>
            </a:r>
          </a:p>
          <a:p>
            <a:r>
              <a:rPr lang="en-US" dirty="0">
                <a:solidFill>
                  <a:schemeClr val="accent1"/>
                </a:solidFill>
              </a:rPr>
              <a:t>Reduces overfitting and improves model stability.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8629A0-B75D-041D-3A4B-D50818D1F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122" y="2159000"/>
            <a:ext cx="508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1506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C87ED-A383-1104-2E78-D6636178B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9D33C-7D63-8D40-AA1A-51B95CDF1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Random Forest– Pros and Cons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6396F5-2694-2FDA-B7EE-15A382EE31D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19213771"/>
              </p:ext>
            </p:extLst>
          </p:nvPr>
        </p:nvGraphicFramePr>
        <p:xfrm>
          <a:off x="2188508" y="1216381"/>
          <a:ext cx="7814984" cy="3921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7492">
                  <a:extLst>
                    <a:ext uri="{9D8B030D-6E8A-4147-A177-3AD203B41FA5}">
                      <a16:colId xmlns:a16="http://schemas.microsoft.com/office/drawing/2014/main" val="3833671482"/>
                    </a:ext>
                  </a:extLst>
                </a:gridCol>
                <a:gridCol w="3907492">
                  <a:extLst>
                    <a:ext uri="{9D8B030D-6E8A-4147-A177-3AD203B41FA5}">
                      <a16:colId xmlns:a16="http://schemas.microsoft.com/office/drawing/2014/main" val="625284088"/>
                    </a:ext>
                  </a:extLst>
                </a:gridCol>
              </a:tblGrid>
              <a:tr h="784393">
                <a:tc>
                  <a:txBody>
                    <a:bodyPr/>
                    <a:lstStyle/>
                    <a:p>
                      <a:r>
                        <a:rPr lang="en-US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268959"/>
                  </a:ext>
                </a:extLst>
              </a:tr>
              <a:tr h="784393">
                <a:tc>
                  <a:txBody>
                    <a:bodyPr/>
                    <a:lstStyle/>
                    <a:p>
                      <a:r>
                        <a:rPr lang="en-US" dirty="0"/>
                        <a:t>More accurate than a single 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Less interpretable than a single decision tree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595316"/>
                  </a:ext>
                </a:extLst>
              </a:tr>
              <a:tr h="784393">
                <a:tc>
                  <a:txBody>
                    <a:bodyPr/>
                    <a:lstStyle/>
                    <a:p>
                      <a:r>
                        <a:rPr lang="en-US" dirty="0"/>
                        <a:t>Less prone to overfitting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More computationally expensive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516697"/>
                  </a:ext>
                </a:extLst>
              </a:tr>
              <a:tr h="784393">
                <a:tc>
                  <a:txBody>
                    <a:bodyPr/>
                    <a:lstStyle/>
                    <a:p>
                      <a:r>
                        <a:rPr lang="en-US" dirty="0"/>
                        <a:t>Robust to noise and outliers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Larger memory footprint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748887"/>
                  </a:ext>
                </a:extLst>
              </a:tr>
              <a:tr h="784393">
                <a:tc>
                  <a:txBody>
                    <a:bodyPr/>
                    <a:lstStyle/>
                    <a:p>
                      <a:r>
                        <a:rPr lang="en-US" dirty="0"/>
                        <a:t>Handles high-dimensional data 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Requires more hyperparameter tuning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462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47533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2D0B5-90A3-635E-67B2-772EE6043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How Random Forest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62A48-AA41-44B9-F835-7C64D10C1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09591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Create multiple random training datasets by </a:t>
            </a:r>
            <a:r>
              <a:rPr lang="en-US" dirty="0">
                <a:solidFill>
                  <a:schemeClr val="accent1"/>
                </a:solidFill>
              </a:rPr>
              <a:t>sampling observations with replacement</a:t>
            </a:r>
          </a:p>
          <a:p>
            <a:r>
              <a:rPr lang="en-US" dirty="0">
                <a:solidFill>
                  <a:schemeClr val="accent1"/>
                </a:solidFill>
              </a:rPr>
              <a:t>Train</a:t>
            </a:r>
            <a:r>
              <a:rPr lang="en-US" dirty="0"/>
              <a:t> a separate </a:t>
            </a:r>
            <a:r>
              <a:rPr lang="en-US" dirty="0">
                <a:solidFill>
                  <a:schemeClr val="accent1"/>
                </a:solidFill>
              </a:rPr>
              <a:t>decision tree </a:t>
            </a:r>
            <a:r>
              <a:rPr lang="en-US" dirty="0"/>
              <a:t>on each </a:t>
            </a:r>
            <a:r>
              <a:rPr lang="en-US" dirty="0">
                <a:solidFill>
                  <a:schemeClr val="accent1"/>
                </a:solidFill>
              </a:rPr>
              <a:t>bootstrapped dataset</a:t>
            </a:r>
            <a:endParaRPr lang="en-US" dirty="0"/>
          </a:p>
          <a:p>
            <a:r>
              <a:rPr lang="en-US" dirty="0"/>
              <a:t>At each split, evaluate only a </a:t>
            </a:r>
            <a:r>
              <a:rPr lang="en-US" dirty="0">
                <a:solidFill>
                  <a:schemeClr val="accent1"/>
                </a:solidFill>
              </a:rPr>
              <a:t>random subset of features.</a:t>
            </a:r>
          </a:p>
          <a:p>
            <a:pPr lvl="1"/>
            <a:r>
              <a:rPr lang="en-US" dirty="0"/>
              <a:t>Different trees learn different patterns</a:t>
            </a:r>
          </a:p>
          <a:p>
            <a:r>
              <a:rPr lang="en-US" dirty="0"/>
              <a:t>Combine predictions from all trees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Majority vote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E84C64-EE86-1A23-F4D0-9E1EC1F9B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887" y="2107923"/>
            <a:ext cx="4890052" cy="310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2085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E812B-3BAA-B47A-13D9-FFEB1D0B1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How many trees to build in the forest?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A6F75-A444-5799-97CC-093A35F7A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Number of Trees (</a:t>
            </a:r>
            <a:r>
              <a:rPr lang="en-US" b="1" dirty="0" err="1">
                <a:solidFill>
                  <a:schemeClr val="accent1"/>
                </a:solidFill>
              </a:rPr>
              <a:t>n_estimators</a:t>
            </a:r>
            <a:r>
              <a:rPr lang="en-US" b="1" dirty="0">
                <a:solidFill>
                  <a:schemeClr val="accent1"/>
                </a:solidFill>
              </a:rPr>
              <a:t>)</a:t>
            </a:r>
          </a:p>
          <a:p>
            <a:pPr lvl="1"/>
            <a:r>
              <a:rPr lang="en-US" dirty="0"/>
              <a:t>Controls how many decision trees are included in the forest.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More trees </a:t>
            </a:r>
            <a:r>
              <a:rPr lang="en-US" dirty="0"/>
              <a:t>generally </a:t>
            </a:r>
            <a:r>
              <a:rPr lang="en-US" dirty="0">
                <a:solidFill>
                  <a:schemeClr val="accent1"/>
                </a:solidFill>
              </a:rPr>
              <a:t>improve model stability </a:t>
            </a:r>
            <a:r>
              <a:rPr lang="en-US" dirty="0"/>
              <a:t>and performance.</a:t>
            </a:r>
          </a:p>
          <a:p>
            <a:pPr lvl="1"/>
            <a:r>
              <a:rPr lang="en-US" dirty="0"/>
              <a:t>Performance gains eventually plateau.</a:t>
            </a:r>
          </a:p>
          <a:p>
            <a:pPr lvl="1"/>
            <a:r>
              <a:rPr lang="en-US" dirty="0"/>
              <a:t>More trees increase training time and memory usage.</a:t>
            </a:r>
          </a:p>
          <a:p>
            <a:r>
              <a:rPr lang="en-US" b="1" dirty="0">
                <a:solidFill>
                  <a:schemeClr val="accent1"/>
                </a:solidFill>
              </a:rPr>
              <a:t>Number of random features (</a:t>
            </a:r>
            <a:r>
              <a:rPr lang="en-US" b="1" dirty="0" err="1">
                <a:solidFill>
                  <a:schemeClr val="accent1"/>
                </a:solidFill>
              </a:rPr>
              <a:t>max_features</a:t>
            </a:r>
            <a:r>
              <a:rPr lang="en-US" b="1" dirty="0">
                <a:solidFill>
                  <a:schemeClr val="accent1"/>
                </a:solidFill>
              </a:rPr>
              <a:t>)</a:t>
            </a:r>
          </a:p>
          <a:p>
            <a:pPr lvl="1"/>
            <a:r>
              <a:rPr lang="en-US" dirty="0"/>
              <a:t>Smaller values increase tree diversity</a:t>
            </a:r>
          </a:p>
          <a:p>
            <a:pPr lvl="1"/>
            <a:r>
              <a:rPr lang="en-US" dirty="0"/>
              <a:t>Larger values make trees more similar</a:t>
            </a:r>
          </a:p>
          <a:p>
            <a:pPr lvl="1"/>
            <a:r>
              <a:rPr lang="en-US" dirty="0"/>
              <a:t>Typically set to the square root of the total number of features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0458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B93DF-68CD-27C4-E0F8-AB3F12C60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100"/>
            <a:ext cx="10515600" cy="1325563"/>
          </a:xfrm>
        </p:spPr>
        <p:txBody>
          <a:bodyPr/>
          <a:lstStyle/>
          <a:p>
            <a:r>
              <a:rPr lang="en-US" sz="3200" dirty="0">
                <a:solidFill>
                  <a:schemeClr val="accent1"/>
                </a:solidFill>
              </a:rPr>
              <a:t>Choosing a machine learning model</a:t>
            </a:r>
          </a:p>
        </p:txBody>
      </p:sp>
      <p:cxnSp>
        <p:nvCxnSpPr>
          <p:cNvPr id="200" name="ML guide connector known"/>
          <p:cNvCxnSpPr/>
          <p:nvPr/>
        </p:nvCxnSpPr>
        <p:spPr>
          <a:xfrm flipH="1">
            <a:off x="2926080" y="1993392"/>
            <a:ext cx="3154680" cy="640079"/>
          </a:xfrm>
          <a:prstGeom prst="straightConnector1">
            <a:avLst/>
          </a:prstGeom>
          <a:ln w="25400" cap="rnd">
            <a:solidFill>
              <a:srgbClr val="B8C2CC"/>
            </a:solidFill>
            <a:tailEnd type="triangle" w="sm" len="sm"/>
          </a:ln>
        </p:spPr>
      </p:cxnSp>
      <p:cxnSp>
        <p:nvCxnSpPr>
          <p:cNvPr id="201" name="ML guide connector unknown"/>
          <p:cNvCxnSpPr/>
          <p:nvPr/>
        </p:nvCxnSpPr>
        <p:spPr>
          <a:xfrm>
            <a:off x="6080760" y="1993392"/>
            <a:ext cx="3154679" cy="640079"/>
          </a:xfrm>
          <a:prstGeom prst="straightConnector1">
            <a:avLst/>
          </a:prstGeom>
          <a:ln w="25400" cap="rnd">
            <a:solidFill>
              <a:srgbClr val="B8C2CC"/>
            </a:solidFill>
            <a:tailEnd type="triangle" w="sm" len="sm"/>
          </a:ln>
        </p:spPr>
      </p:cxnSp>
      <p:cxnSp>
        <p:nvCxnSpPr>
          <p:cNvPr id="202" name="ML guide connector regression"/>
          <p:cNvCxnSpPr/>
          <p:nvPr/>
        </p:nvCxnSpPr>
        <p:spPr>
          <a:xfrm flipH="1">
            <a:off x="1261872" y="3255264"/>
            <a:ext cx="1664208" cy="786383"/>
          </a:xfrm>
          <a:prstGeom prst="straightConnector1">
            <a:avLst/>
          </a:prstGeom>
          <a:ln w="25400" cap="rnd">
            <a:solidFill>
              <a:srgbClr val="B8C2CC"/>
            </a:solidFill>
            <a:tailEnd type="triangle" w="sm" len="sm"/>
          </a:ln>
        </p:spPr>
      </p:cxnSp>
      <p:cxnSp>
        <p:nvCxnSpPr>
          <p:cNvPr id="203" name="ML guide connector classification"/>
          <p:cNvCxnSpPr/>
          <p:nvPr/>
        </p:nvCxnSpPr>
        <p:spPr>
          <a:xfrm>
            <a:off x="2926080" y="3255264"/>
            <a:ext cx="987552" cy="786383"/>
          </a:xfrm>
          <a:prstGeom prst="straightConnector1">
            <a:avLst/>
          </a:prstGeom>
          <a:ln w="25400" cap="rnd">
            <a:solidFill>
              <a:srgbClr val="B8C2CC"/>
            </a:solidFill>
            <a:tailEnd type="triangle" w="sm" len="sm"/>
          </a:ln>
        </p:spPr>
      </p:cxnSp>
      <p:cxnSp>
        <p:nvCxnSpPr>
          <p:cNvPr id="204" name="ML guide connector explainable"/>
          <p:cNvCxnSpPr/>
          <p:nvPr/>
        </p:nvCxnSpPr>
        <p:spPr>
          <a:xfrm>
            <a:off x="2926080" y="3255264"/>
            <a:ext cx="3639311" cy="786383"/>
          </a:xfrm>
          <a:prstGeom prst="straightConnector1">
            <a:avLst/>
          </a:prstGeom>
          <a:ln w="25400" cap="rnd">
            <a:solidFill>
              <a:srgbClr val="B8C2CC"/>
            </a:solidFill>
            <a:tailEnd type="triangle" w="sm" len="sm"/>
          </a:ln>
        </p:spPr>
      </p:cxnSp>
      <p:cxnSp>
        <p:nvCxnSpPr>
          <p:cNvPr id="205" name="ML guide connector pattern"/>
          <p:cNvCxnSpPr/>
          <p:nvPr/>
        </p:nvCxnSpPr>
        <p:spPr>
          <a:xfrm>
            <a:off x="9235440" y="3255264"/>
            <a:ext cx="274320" cy="786383"/>
          </a:xfrm>
          <a:prstGeom prst="straightConnector1">
            <a:avLst/>
          </a:prstGeom>
          <a:ln w="25400" cap="rnd">
            <a:solidFill>
              <a:srgbClr val="B8C2CC"/>
            </a:solidFill>
            <a:tailEnd type="triangle" w="sm" len="sm"/>
          </a:ln>
        </p:spPr>
      </p:cxnSp>
      <p:sp>
        <p:nvSpPr>
          <p:cNvPr id="210" name="ML guide root"/>
          <p:cNvSpPr/>
          <p:nvPr/>
        </p:nvSpPr>
        <p:spPr>
          <a:xfrm>
            <a:off x="3858768" y="1225296"/>
            <a:ext cx="4462272" cy="82296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5B8DB8"/>
            </a:solidFill>
          </a:ln>
        </p:spPr>
        <p:txBody>
          <a:bodyPr wrap="square" lIns="85000" tIns="55000" rIns="85000" bIns="55000" anchor="t"/>
          <a:lstStyle/>
          <a:p>
            <a:pPr algn="ctr">
              <a:buNone/>
            </a:pPr>
            <a:r>
              <a:rPr lang="en-US" b="1">
                <a:solidFill>
                  <a:srgbClr val="1F2937"/>
                </a:solidFill>
              </a:rPr>
              <a:t>Are you predicting an existing answer or finding new patterns?</a:t>
            </a:r>
            <a:endParaRPr lang="en-US" sz="1800" b="1" dirty="0">
              <a:solidFill>
                <a:srgbClr val="1F2937"/>
              </a:solidFill>
            </a:endParaRPr>
          </a:p>
        </p:txBody>
      </p:sp>
      <p:sp>
        <p:nvSpPr>
          <p:cNvPr id="211" name="ML guide known"/>
          <p:cNvSpPr/>
          <p:nvPr/>
        </p:nvSpPr>
        <p:spPr>
          <a:xfrm>
            <a:off x="932688" y="2542032"/>
            <a:ext cx="3977639" cy="8046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86A85D"/>
            </a:solidFill>
          </a:ln>
        </p:spPr>
        <p:txBody>
          <a:bodyPr wrap="square" lIns="85000" tIns="55000" rIns="85000" bIns="55000" anchor="t"/>
          <a:lstStyle/>
          <a:p>
            <a:pPr algn="ctr">
              <a:buNone/>
            </a:pPr>
            <a:r>
              <a:rPr lang="en-US" sz="1650" b="1" dirty="0">
                <a:solidFill>
                  <a:srgbClr val="1F2937"/>
                </a:solidFill>
              </a:rPr>
              <a:t>Known Label</a:t>
            </a:r>
          </a:p>
          <a:p>
            <a:pPr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Supervised Learning</a:t>
            </a:r>
          </a:p>
          <a:p>
            <a:pPr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Build a prediction model</a:t>
            </a:r>
          </a:p>
        </p:txBody>
      </p:sp>
      <p:sp>
        <p:nvSpPr>
          <p:cNvPr id="212" name="ML guide unknown"/>
          <p:cNvSpPr/>
          <p:nvPr/>
        </p:nvSpPr>
        <p:spPr>
          <a:xfrm>
            <a:off x="7242048" y="2542032"/>
            <a:ext cx="3977639" cy="8046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5A391"/>
            </a:solidFill>
          </a:ln>
        </p:spPr>
        <p:txBody>
          <a:bodyPr wrap="square" lIns="85000" tIns="55000" rIns="85000" bIns="55000" anchor="t"/>
          <a:lstStyle/>
          <a:p>
            <a:pPr algn="ctr">
              <a:buNone/>
            </a:pPr>
            <a:r>
              <a:rPr lang="en-US" sz="1650" b="1" dirty="0">
                <a:solidFill>
                  <a:srgbClr val="1F2937"/>
                </a:solidFill>
              </a:rPr>
              <a:t>Unknown Label</a:t>
            </a:r>
          </a:p>
          <a:p>
            <a:pPr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Unsupervised Learning</a:t>
            </a:r>
          </a:p>
          <a:p>
            <a:pPr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Look for structure</a:t>
            </a:r>
          </a:p>
        </p:txBody>
      </p:sp>
      <p:sp>
        <p:nvSpPr>
          <p:cNvPr id="220" name="ML guide regression node"/>
          <p:cNvSpPr/>
          <p:nvPr/>
        </p:nvSpPr>
        <p:spPr>
          <a:xfrm>
            <a:off x="256032" y="3913632"/>
            <a:ext cx="2286000" cy="932688"/>
          </a:xfrm>
          <a:prstGeom prst="roundRect">
            <a:avLst/>
          </a:prstGeom>
          <a:solidFill>
            <a:srgbClr val="F2F7EA"/>
          </a:solidFill>
          <a:ln w="12700">
            <a:solidFill>
              <a:srgbClr val="86A85D"/>
            </a:solidFill>
          </a:ln>
        </p:spPr>
        <p:txBody>
          <a:bodyPr wrap="square" lIns="85000" tIns="55000" rIns="85000" bIns="55000" anchor="t"/>
          <a:lstStyle/>
          <a:p>
            <a:pPr algn="ctr">
              <a:buNone/>
            </a:pPr>
            <a:r>
              <a:rPr lang="en-US" sz="1950" b="1" dirty="0">
                <a:solidFill>
                  <a:srgbClr val="1F2937"/>
                </a:solidFill>
              </a:rPr>
              <a:t>Regression</a:t>
            </a:r>
          </a:p>
          <a:p>
            <a:pPr algn="ctr">
              <a:buNone/>
            </a:pPr>
            <a:r>
              <a:rPr lang="en-US" sz="1130" dirty="0">
                <a:solidFill>
                  <a:srgbClr val="4B5563"/>
                </a:solidFill>
              </a:rPr>
              <a:t>Predict a number</a:t>
            </a:r>
          </a:p>
        </p:txBody>
      </p:sp>
      <p:sp>
        <p:nvSpPr>
          <p:cNvPr id="221" name="ML guide classification node"/>
          <p:cNvSpPr/>
          <p:nvPr/>
        </p:nvSpPr>
        <p:spPr>
          <a:xfrm>
            <a:off x="2852928" y="3913632"/>
            <a:ext cx="2377440" cy="932688"/>
          </a:xfrm>
          <a:prstGeom prst="roundRect">
            <a:avLst/>
          </a:prstGeom>
          <a:solidFill>
            <a:srgbClr val="FDF1E7"/>
          </a:solidFill>
          <a:ln w="12700">
            <a:solidFill>
              <a:srgbClr val="D08A45"/>
            </a:solidFill>
          </a:ln>
        </p:spPr>
        <p:txBody>
          <a:bodyPr wrap="square" lIns="85000" tIns="55000" rIns="85000" bIns="55000" anchor="t"/>
          <a:lstStyle/>
          <a:p>
            <a:pPr algn="ctr">
              <a:buNone/>
            </a:pPr>
            <a:r>
              <a:rPr lang="en-US" sz="1750" b="1" dirty="0">
                <a:solidFill>
                  <a:srgbClr val="1F2937"/>
                </a:solidFill>
              </a:rPr>
              <a:t>Classification</a:t>
            </a:r>
          </a:p>
          <a:p>
            <a:pPr algn="ctr">
              <a:buNone/>
            </a:pPr>
            <a:r>
              <a:rPr lang="en-US" sz="1130" dirty="0">
                <a:solidFill>
                  <a:srgbClr val="4B5563"/>
                </a:solidFill>
              </a:rPr>
              <a:t>Predict a group</a:t>
            </a:r>
          </a:p>
        </p:txBody>
      </p:sp>
      <p:sp>
        <p:nvSpPr>
          <p:cNvPr id="222" name="ML guide explainable node"/>
          <p:cNvSpPr/>
          <p:nvPr/>
        </p:nvSpPr>
        <p:spPr>
          <a:xfrm>
            <a:off x="5522976" y="3913632"/>
            <a:ext cx="2331720" cy="932688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9A6BB0"/>
            </a:solidFill>
          </a:ln>
        </p:spPr>
        <p:txBody>
          <a:bodyPr wrap="square" lIns="85000" tIns="55000" rIns="85000" bIns="55000" anchor="t"/>
          <a:lstStyle/>
          <a:p>
            <a:pPr algn="ctr">
              <a:buNone/>
            </a:pPr>
            <a:r>
              <a:rPr lang="en-US" sz="1850" b="1" dirty="0">
                <a:solidFill>
                  <a:srgbClr val="1F2937"/>
                </a:solidFill>
              </a:rPr>
              <a:t>Explainable</a:t>
            </a:r>
          </a:p>
          <a:p>
            <a:pPr algn="ctr">
              <a:buNone/>
            </a:pPr>
            <a:r>
              <a:rPr lang="en-US" sz="1130" dirty="0">
                <a:solidFill>
                  <a:srgbClr val="4B5563"/>
                </a:solidFill>
              </a:rPr>
              <a:t>Interpretable/understandable models</a:t>
            </a:r>
          </a:p>
        </p:txBody>
      </p:sp>
      <p:sp>
        <p:nvSpPr>
          <p:cNvPr id="223" name="ML guide pattern node"/>
          <p:cNvSpPr/>
          <p:nvPr/>
        </p:nvSpPr>
        <p:spPr>
          <a:xfrm>
            <a:off x="8193024" y="3913632"/>
            <a:ext cx="2743200" cy="932688"/>
          </a:xfrm>
          <a:prstGeom prst="roundRect">
            <a:avLst/>
          </a:prstGeom>
          <a:solidFill>
            <a:srgbClr val="EAF7F4"/>
          </a:solidFill>
          <a:ln w="12700">
            <a:solidFill>
              <a:srgbClr val="55A391"/>
            </a:solidFill>
          </a:ln>
        </p:spPr>
        <p:txBody>
          <a:bodyPr wrap="square" lIns="85000" tIns="55000" rIns="85000" bIns="55000" anchor="t"/>
          <a:lstStyle/>
          <a:p>
            <a:pPr algn="ctr">
              <a:buNone/>
            </a:pPr>
            <a:r>
              <a:rPr lang="en-US" sz="1750" b="1" dirty="0">
                <a:solidFill>
                  <a:srgbClr val="1F2937"/>
                </a:solidFill>
              </a:rPr>
              <a:t>Pattern finding</a:t>
            </a:r>
          </a:p>
          <a:p>
            <a:pPr algn="ctr">
              <a:buNone/>
            </a:pPr>
            <a:r>
              <a:rPr lang="en-US" sz="1130" dirty="0">
                <a:solidFill>
                  <a:srgbClr val="4B5563"/>
                </a:solidFill>
              </a:rPr>
              <a:t>Find natural groups</a:t>
            </a:r>
          </a:p>
        </p:txBody>
      </p:sp>
      <p:sp>
        <p:nvSpPr>
          <p:cNvPr id="230" name="ML guide chip linear regression"/>
          <p:cNvSpPr/>
          <p:nvPr/>
        </p:nvSpPr>
        <p:spPr>
          <a:xfrm>
            <a:off x="384048" y="5074919"/>
            <a:ext cx="950976" cy="55778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55000" tIns="35000" rIns="55000" bIns="35000" anchor="t"/>
          <a:lstStyle/>
          <a:p>
            <a:pPr algn="ctr">
              <a:buNone/>
            </a:pPr>
            <a:r>
              <a:rPr lang="en-US" sz="1050" b="1" dirty="0">
                <a:solidFill>
                  <a:srgbClr val="374151"/>
                </a:solidFill>
              </a:rPr>
              <a:t>Linear Regression</a:t>
            </a:r>
          </a:p>
        </p:txBody>
      </p:sp>
      <p:sp>
        <p:nvSpPr>
          <p:cNvPr id="231" name="ML guide chip rf regression"/>
          <p:cNvSpPr/>
          <p:nvPr/>
        </p:nvSpPr>
        <p:spPr>
          <a:xfrm>
            <a:off x="1426464" y="5074920"/>
            <a:ext cx="960120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55000" tIns="35000" rIns="55000" bIns="35000" anchor="t"/>
          <a:lstStyle/>
          <a:p>
            <a:pPr algn="ctr">
              <a:buNone/>
            </a:pPr>
            <a:r>
              <a:rPr lang="en-US" sz="1050" b="1" dirty="0">
                <a:solidFill>
                  <a:srgbClr val="374151"/>
                </a:solidFill>
              </a:rPr>
              <a:t>Random Forest</a:t>
            </a:r>
          </a:p>
        </p:txBody>
      </p:sp>
      <p:sp>
        <p:nvSpPr>
          <p:cNvPr id="232" name="ML guide chip logistic"/>
          <p:cNvSpPr/>
          <p:nvPr/>
        </p:nvSpPr>
        <p:spPr>
          <a:xfrm>
            <a:off x="2907792" y="5074920"/>
            <a:ext cx="950976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55000" tIns="35000" rIns="55000" bIns="35000" anchor="t"/>
          <a:lstStyle/>
          <a:p>
            <a:pPr algn="ctr">
              <a:buNone/>
            </a:pPr>
            <a:r>
              <a:rPr lang="en-US" sz="1050" b="1" dirty="0">
                <a:solidFill>
                  <a:srgbClr val="374151"/>
                </a:solidFill>
              </a:rPr>
              <a:t>Logistic Regression</a:t>
            </a:r>
          </a:p>
        </p:txBody>
      </p:sp>
      <p:sp>
        <p:nvSpPr>
          <p:cNvPr id="233" name="ML guide chip svm"/>
          <p:cNvSpPr/>
          <p:nvPr/>
        </p:nvSpPr>
        <p:spPr>
          <a:xfrm>
            <a:off x="4023359" y="5074920"/>
            <a:ext cx="1005839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55000" tIns="35000" rIns="55000" bIns="35000" anchor="t"/>
          <a:lstStyle/>
          <a:p>
            <a:pPr algn="ctr">
              <a:buNone/>
            </a:pPr>
            <a:r>
              <a:rPr lang="en-US" sz="1050" b="1">
                <a:solidFill>
                  <a:srgbClr val="374151"/>
                </a:solidFill>
              </a:rPr>
              <a:t>SVM</a:t>
            </a:r>
          </a:p>
        </p:txBody>
      </p:sp>
      <p:sp>
        <p:nvSpPr>
          <p:cNvPr id="234" name="ML guide chip decision tree"/>
          <p:cNvSpPr/>
          <p:nvPr/>
        </p:nvSpPr>
        <p:spPr>
          <a:xfrm>
            <a:off x="5650992" y="5074920"/>
            <a:ext cx="960120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55000" tIns="35000" rIns="55000" bIns="35000" anchor="t"/>
          <a:lstStyle/>
          <a:p>
            <a:pPr algn="ctr">
              <a:buNone/>
            </a:pPr>
            <a:r>
              <a:rPr lang="en-US" sz="1050" b="1" dirty="0">
                <a:solidFill>
                  <a:srgbClr val="374151"/>
                </a:solidFill>
              </a:rPr>
              <a:t>Decision Tree</a:t>
            </a:r>
          </a:p>
        </p:txBody>
      </p:sp>
      <p:sp>
        <p:nvSpPr>
          <p:cNvPr id="235" name="ML guide chip coefficients"/>
          <p:cNvSpPr/>
          <p:nvPr/>
        </p:nvSpPr>
        <p:spPr>
          <a:xfrm>
            <a:off x="6675120" y="5074920"/>
            <a:ext cx="1051560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55000" tIns="35000" rIns="55000" bIns="35000" anchor="t"/>
          <a:lstStyle/>
          <a:p>
            <a:pPr algn="ctr">
              <a:buNone/>
            </a:pPr>
            <a:r>
              <a:rPr lang="en-US" sz="1050" b="1" dirty="0">
                <a:solidFill>
                  <a:srgbClr val="374151"/>
                </a:solidFill>
              </a:rPr>
              <a:t>Linear/logistic regression</a:t>
            </a:r>
          </a:p>
        </p:txBody>
      </p:sp>
      <p:sp>
        <p:nvSpPr>
          <p:cNvPr id="236" name="ML guide chip hierarchical"/>
          <p:cNvSpPr/>
          <p:nvPr/>
        </p:nvSpPr>
        <p:spPr>
          <a:xfrm>
            <a:off x="8321040" y="5074920"/>
            <a:ext cx="1188720" cy="645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55000" tIns="35000" rIns="55000" bIns="35000" anchor="t"/>
          <a:lstStyle/>
          <a:p>
            <a:pPr algn="ctr">
              <a:buNone/>
            </a:pPr>
            <a:r>
              <a:rPr lang="en-US" sz="1050" b="1" dirty="0">
                <a:solidFill>
                  <a:srgbClr val="374151"/>
                </a:solidFill>
              </a:rPr>
              <a:t>Hierarchical clustering/K-means</a:t>
            </a:r>
          </a:p>
        </p:txBody>
      </p:sp>
      <p:sp>
        <p:nvSpPr>
          <p:cNvPr id="237" name="ML guide chip pca"/>
          <p:cNvSpPr/>
          <p:nvPr/>
        </p:nvSpPr>
        <p:spPr>
          <a:xfrm>
            <a:off x="9564624" y="5074919"/>
            <a:ext cx="1143000" cy="6456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55000" tIns="35000" rIns="55000" bIns="35000" anchor="t"/>
          <a:lstStyle/>
          <a:p>
            <a:pPr algn="ctr">
              <a:buNone/>
            </a:pPr>
            <a:r>
              <a:rPr lang="en-US" sz="1050" b="1" dirty="0">
                <a:solidFill>
                  <a:srgbClr val="374151"/>
                </a:solidFill>
              </a:rPr>
              <a:t>PCA/UMAP</a:t>
            </a:r>
          </a:p>
        </p:txBody>
      </p:sp>
    </p:spTree>
    <p:extLst>
      <p:ext uri="{BB962C8B-B14F-4D97-AF65-F5344CB8AC3E}">
        <p14:creationId xmlns:p14="http://schemas.microsoft.com/office/powerpoint/2010/main" val="14432298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9A67E-94AA-0DED-82AB-6E3BAEBA0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F4460-3900-F2C0-D19B-052546E8E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Additional Models Not Covered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F66CF-C1B0-FA90-CC12-791B5E668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Gradient Boosting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Combines many simple models to make stronger predictions</a:t>
            </a:r>
          </a:p>
          <a:p>
            <a:pPr lvl="1"/>
            <a:r>
              <a:rPr lang="en-US" dirty="0"/>
              <a:t>Each model fixes the mistakes of the previous ones</a:t>
            </a:r>
          </a:p>
          <a:p>
            <a:r>
              <a:rPr lang="en-US" b="1" dirty="0">
                <a:solidFill>
                  <a:schemeClr val="accent1"/>
                </a:solidFill>
              </a:rPr>
              <a:t>Neural Networks</a:t>
            </a:r>
            <a:r>
              <a:rPr lang="en-US" dirty="0">
                <a:solidFill>
                  <a:schemeClr val="accent1"/>
                </a:solidFill>
              </a:rPr>
              <a:t>: </a:t>
            </a:r>
          </a:p>
          <a:p>
            <a:pPr lvl="1"/>
            <a:r>
              <a:rPr lang="en-US" dirty="0"/>
              <a:t>Learns complex patterns from large datasets </a:t>
            </a:r>
            <a:r>
              <a:rPr lang="en-US"/>
              <a:t>using artificial </a:t>
            </a:r>
            <a:r>
              <a:rPr lang="en-US" dirty="0"/>
              <a:t>neurons</a:t>
            </a:r>
          </a:p>
          <a:p>
            <a:r>
              <a:rPr lang="en-US" b="1" dirty="0">
                <a:solidFill>
                  <a:schemeClr val="accent1"/>
                </a:solidFill>
              </a:rPr>
              <a:t>Deep Learning</a:t>
            </a:r>
            <a:r>
              <a:rPr lang="en-US" dirty="0">
                <a:solidFill>
                  <a:schemeClr val="accent1"/>
                </a:solidFill>
              </a:rPr>
              <a:t>: </a:t>
            </a:r>
          </a:p>
          <a:p>
            <a:pPr lvl="1"/>
            <a:r>
              <a:rPr lang="en-US" dirty="0"/>
              <a:t>Uses larger neural networks for complex data</a:t>
            </a:r>
          </a:p>
        </p:txBody>
      </p:sp>
    </p:spTree>
    <p:extLst>
      <p:ext uri="{BB962C8B-B14F-4D97-AF65-F5344CB8AC3E}">
        <p14:creationId xmlns:p14="http://schemas.microsoft.com/office/powerpoint/2010/main" val="35721450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C4FDBE2-32F7-4AC4-A40C-C51C65B1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E2B33195-5BCA-4BB7-A82D-67395226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604789">
            <a:off x="675639" y="775849"/>
            <a:ext cx="2987899" cy="2987899"/>
          </a:xfrm>
          <a:prstGeom prst="arc">
            <a:avLst>
              <a:gd name="adj1" fmla="val 14455503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7FFEF3-5230-94AF-4504-3A9C7DD75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3567" y="3916629"/>
            <a:ext cx="3828239" cy="1723629"/>
          </a:xfrm>
        </p:spPr>
        <p:txBody>
          <a:bodyPr>
            <a:noAutofit/>
          </a:bodyPr>
          <a:lstStyle/>
          <a:p>
            <a:pPr algn="l"/>
            <a:r>
              <a:rPr lang="en-US" sz="2800" b="1" i="0" dirty="0">
                <a:solidFill>
                  <a:schemeClr val="accent4"/>
                </a:solidFill>
                <a:effectLst/>
              </a:rPr>
              <a:t>Your feedback ensures we provide you with the best </a:t>
            </a:r>
            <a:r>
              <a:rPr lang="en-US" sz="2800" b="1" dirty="0">
                <a:solidFill>
                  <a:schemeClr val="accent4"/>
                </a:solidFill>
              </a:rPr>
              <a:t>content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F8AD9F3-9AF6-494F-83A3-2F6775639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5976" y="2130090"/>
            <a:ext cx="457824" cy="4454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1156773-3FB3-46D9-9F87-821287404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13872" y="3116072"/>
            <a:ext cx="4378128" cy="3741928"/>
          </a:xfrm>
          <a:custGeom>
            <a:avLst/>
            <a:gdLst>
              <a:gd name="connsiteX0" fmla="*/ 2605183 w 4378128"/>
              <a:gd name="connsiteY0" fmla="*/ 0 h 3741928"/>
              <a:gd name="connsiteX1" fmla="*/ 4262321 w 4378128"/>
              <a:gd name="connsiteY1" fmla="*/ 594897 h 3741928"/>
              <a:gd name="connsiteX2" fmla="*/ 4378128 w 4378128"/>
              <a:gd name="connsiteY2" fmla="*/ 700149 h 3741928"/>
              <a:gd name="connsiteX3" fmla="*/ 4378128 w 4378128"/>
              <a:gd name="connsiteY3" fmla="*/ 3741928 h 3741928"/>
              <a:gd name="connsiteX4" fmla="*/ 263831 w 4378128"/>
              <a:gd name="connsiteY4" fmla="*/ 3741928 h 3741928"/>
              <a:gd name="connsiteX5" fmla="*/ 204729 w 4378128"/>
              <a:gd name="connsiteY5" fmla="*/ 3619238 h 3741928"/>
              <a:gd name="connsiteX6" fmla="*/ 0 w 4378128"/>
              <a:gd name="connsiteY6" fmla="*/ 2605183 h 3741928"/>
              <a:gd name="connsiteX7" fmla="*/ 2605183 w 4378128"/>
              <a:gd name="connsiteY7" fmla="*/ 0 h 3741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8128" h="3741928">
                <a:moveTo>
                  <a:pt x="2605183" y="0"/>
                </a:moveTo>
                <a:cubicBezTo>
                  <a:pt x="3234659" y="0"/>
                  <a:pt x="3811992" y="223253"/>
                  <a:pt x="4262321" y="594897"/>
                </a:cubicBezTo>
                <a:lnTo>
                  <a:pt x="4378128" y="700149"/>
                </a:lnTo>
                <a:lnTo>
                  <a:pt x="4378128" y="3741928"/>
                </a:lnTo>
                <a:lnTo>
                  <a:pt x="263831" y="3741928"/>
                </a:lnTo>
                <a:lnTo>
                  <a:pt x="204729" y="3619238"/>
                </a:lnTo>
                <a:cubicBezTo>
                  <a:pt x="72899" y="3307558"/>
                  <a:pt x="0" y="2964884"/>
                  <a:pt x="0" y="2605183"/>
                </a:cubicBezTo>
                <a:cubicBezTo>
                  <a:pt x="0" y="1166380"/>
                  <a:pt x="1166380" y="0"/>
                  <a:pt x="260518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8EA24D0-C854-4AA8-B8FD-D252660D8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99731" y="1"/>
            <a:ext cx="4208478" cy="3678281"/>
          </a:xfrm>
          <a:custGeom>
            <a:avLst/>
            <a:gdLst>
              <a:gd name="connsiteX0" fmla="*/ 711074 w 4208478"/>
              <a:gd name="connsiteY0" fmla="*/ 0 h 3678281"/>
              <a:gd name="connsiteX1" fmla="*/ 3497404 w 4208478"/>
              <a:gd name="connsiteY1" fmla="*/ 0 h 3678281"/>
              <a:gd name="connsiteX2" fmla="*/ 3592161 w 4208478"/>
              <a:gd name="connsiteY2" fmla="*/ 86120 h 3678281"/>
              <a:gd name="connsiteX3" fmla="*/ 4208478 w 4208478"/>
              <a:gd name="connsiteY3" fmla="*/ 1574042 h 3678281"/>
              <a:gd name="connsiteX4" fmla="*/ 2104239 w 4208478"/>
              <a:gd name="connsiteY4" fmla="*/ 3678281 h 3678281"/>
              <a:gd name="connsiteX5" fmla="*/ 0 w 4208478"/>
              <a:gd name="connsiteY5" fmla="*/ 1574042 h 3678281"/>
              <a:gd name="connsiteX6" fmla="*/ 616318 w 4208478"/>
              <a:gd name="connsiteY6" fmla="*/ 86120 h 3678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08478" h="3678281">
                <a:moveTo>
                  <a:pt x="711074" y="0"/>
                </a:moveTo>
                <a:lnTo>
                  <a:pt x="3497404" y="0"/>
                </a:lnTo>
                <a:lnTo>
                  <a:pt x="3592161" y="86120"/>
                </a:lnTo>
                <a:cubicBezTo>
                  <a:pt x="3972953" y="466913"/>
                  <a:pt x="4208478" y="992973"/>
                  <a:pt x="4208478" y="1574042"/>
                </a:cubicBezTo>
                <a:cubicBezTo>
                  <a:pt x="4208478" y="2736181"/>
                  <a:pt x="3266378" y="3678281"/>
                  <a:pt x="2104239" y="3678281"/>
                </a:cubicBezTo>
                <a:cubicBezTo>
                  <a:pt x="942100" y="3678281"/>
                  <a:pt x="0" y="2736181"/>
                  <a:pt x="0" y="1574042"/>
                </a:cubicBezTo>
                <a:cubicBezTo>
                  <a:pt x="0" y="992973"/>
                  <a:pt x="235525" y="466913"/>
                  <a:pt x="616318" y="861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5230F5-F8A1-0ABF-BB95-A654A12059C2}"/>
              </a:ext>
            </a:extLst>
          </p:cNvPr>
          <p:cNvSpPr txBox="1"/>
          <p:nvPr/>
        </p:nvSpPr>
        <p:spPr>
          <a:xfrm>
            <a:off x="1423568" y="2238908"/>
            <a:ext cx="38282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Please scan the QR code to take our 1-minute survey!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48689053-6B73-F031-20E0-B634F8EAABC2}"/>
              </a:ext>
            </a:extLst>
          </p:cNvPr>
          <p:cNvSpPr/>
          <p:nvPr/>
        </p:nvSpPr>
        <p:spPr>
          <a:xfrm rot="5400000">
            <a:off x="2659222" y="370080"/>
            <a:ext cx="1060704" cy="91440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Graphic 20" descr="Idea outline">
            <a:extLst>
              <a:ext uri="{FF2B5EF4-FFF2-40B4-BE49-F238E27FC236}">
                <a16:creationId xmlns:a16="http://schemas.microsoft.com/office/drawing/2014/main" id="{CCC82D9D-4D7D-96C8-2CBC-9104B966C2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3431495" y="5186853"/>
            <a:ext cx="475441" cy="475441"/>
          </a:xfrm>
          <a:prstGeom prst="rect">
            <a:avLst/>
          </a:prstGeom>
        </p:spPr>
      </p:pic>
      <p:pic>
        <p:nvPicPr>
          <p:cNvPr id="11" name="Picture 10" descr="A blue circular pattern on a black background&#10;&#10;AI-generated content may be incorrect.">
            <a:extLst>
              <a:ext uri="{FF2B5EF4-FFF2-40B4-BE49-F238E27FC236}">
                <a16:creationId xmlns:a16="http://schemas.microsoft.com/office/drawing/2014/main" id="{EA5D7BAB-06E7-9A2D-26F7-BDC8A2129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7608" y="3916629"/>
            <a:ext cx="2743200" cy="2667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824177-5FBD-9A2A-0116-1206CCFC1A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4594" y="177201"/>
            <a:ext cx="2738752" cy="2761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692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Custom 22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4982"/>
      </a:accent2>
      <a:accent3>
        <a:srgbClr val="FFFFFF"/>
      </a:accent3>
      <a:accent4>
        <a:srgbClr val="FFFFFF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2258</TotalTime>
  <Words>1444</Words>
  <Application>Microsoft Macintosh PowerPoint</Application>
  <PresentationFormat>Widescreen</PresentationFormat>
  <Paragraphs>228</Paragraphs>
  <Slides>32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Office Theme</vt:lpstr>
      <vt:lpstr>1_Office Theme</vt:lpstr>
      <vt:lpstr>Core Knowledge Series: Machine Learning  Session Three: SVM, Hierarchical Clustering, Random Forest/Decision Trees</vt:lpstr>
      <vt:lpstr>Support Vector Machines</vt:lpstr>
      <vt:lpstr>Support Vector Machines</vt:lpstr>
      <vt:lpstr>Support Vector Machines – Pros and Cons</vt:lpstr>
      <vt:lpstr>How do SVMS work?</vt:lpstr>
      <vt:lpstr>Support Vectors</vt:lpstr>
      <vt:lpstr>Soft Margin SVM</vt:lpstr>
      <vt:lpstr>Affect of C Parameter Adjustment</vt:lpstr>
      <vt:lpstr>Kernel Trick / Nonlinear SVM</vt:lpstr>
      <vt:lpstr>Hierarchical Clustering</vt:lpstr>
      <vt:lpstr>Hierarchical Clustering</vt:lpstr>
      <vt:lpstr>Hierarchical Clustering– Pros and Cons</vt:lpstr>
      <vt:lpstr>Hierarchical Clustering – How it works</vt:lpstr>
      <vt:lpstr>Distance Calculation Methods</vt:lpstr>
      <vt:lpstr>Linkage</vt:lpstr>
      <vt:lpstr>Determining Clusters from Dendrogram</vt:lpstr>
      <vt:lpstr>Decision Tree</vt:lpstr>
      <vt:lpstr>Decision Tree</vt:lpstr>
      <vt:lpstr>Decision Tree – Pros and Cons</vt:lpstr>
      <vt:lpstr>Decision Tree Structure</vt:lpstr>
      <vt:lpstr>How do Decision Trees work?</vt:lpstr>
      <vt:lpstr>Choosing the best split at decision nodes</vt:lpstr>
      <vt:lpstr>Controlling Tree Growth</vt:lpstr>
      <vt:lpstr>Limitations of a single decision tree</vt:lpstr>
      <vt:lpstr>Random Forest</vt:lpstr>
      <vt:lpstr>Random Forest</vt:lpstr>
      <vt:lpstr>Random Forest– Pros and Cons</vt:lpstr>
      <vt:lpstr>How Random Forest Works</vt:lpstr>
      <vt:lpstr>How many trees to build in the forest?</vt:lpstr>
      <vt:lpstr>Choosing a machine learning model</vt:lpstr>
      <vt:lpstr>Additional Models Not Covered</vt:lpstr>
      <vt:lpstr>Your feedback ensures we provide you with the best 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Rouse</dc:creator>
  <cp:lastModifiedBy>James Rouse</cp:lastModifiedBy>
  <cp:revision>15</cp:revision>
  <dcterms:created xsi:type="dcterms:W3CDTF">2026-06-09T19:43:42Z</dcterms:created>
  <dcterms:modified xsi:type="dcterms:W3CDTF">2026-06-30T19:02:57Z</dcterms:modified>
</cp:coreProperties>
</file>