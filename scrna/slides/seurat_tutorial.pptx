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39"/>
  </p:notesMasterIdLst>
  <p:sldIdLst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94" r:id="rId32"/>
    <p:sldId id="289" r:id="rId33"/>
    <p:sldId id="290" r:id="rId34"/>
    <p:sldId id="292" r:id="rId35"/>
    <p:sldId id="291" r:id="rId36"/>
    <p:sldId id="293" r:id="rId37"/>
    <p:sldId id="296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78"/>
    <p:restoredTop sz="94722"/>
  </p:normalViewPr>
  <p:slideViewPr>
    <p:cSldViewPr snapToGrid="0">
      <p:cViewPr varScale="1">
        <p:scale>
          <a:sx n="108" d="100"/>
          <a:sy n="108" d="100"/>
        </p:scale>
        <p:origin x="21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6A4DA-DF32-E741-AEC2-A0C6C62BA51C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E6085-16CD-3143-9522-647E280B67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733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2D914-48CE-2548-8019-919DEC2D457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38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62D914-48CE-2548-8019-919DEC2D457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266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501A0-43E9-F2FD-A4CD-D059FB123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A72170-3D94-882B-6019-9B3C10C37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87C17-0E33-11E5-87B2-99555944C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B168A-8C20-304C-9D61-162C9FE7146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69557-9B1F-5998-E0FB-E1D64C6C1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80452-076B-71B6-D34A-245A6830B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2746-786F-9C41-A6D7-81026D091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07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52F35-386E-2E2F-4512-ADE3E88BF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E71B2-1780-68D8-5B0D-730ADC22D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F8D1A1-F624-C645-522B-EA43D9173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B168A-8C20-304C-9D61-162C9FE7146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BD6F2-8987-4021-4EBA-4FC448969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21AD7-5D62-13C5-6DD7-C3D689B6F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2746-786F-9C41-A6D7-81026D091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9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FBF3F-207B-A8B9-066B-4ECBF2E1D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BC987-0994-9C68-3B58-604CF790A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18D36-6574-D763-34EA-A5FD3ED8D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B168A-8C20-304C-9D61-162C9FE7146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506E07-F508-E695-0E5F-5F595564B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B6D5F-DF47-3B6E-357D-163FCCE51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2746-786F-9C41-A6D7-81026D091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593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44E94-7B8B-644E-684A-E11E3E67F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E55E7-BDCC-3712-F663-5F7BD3E5AB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C2264F-5F73-94E9-29F3-1ECBF45BD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3DEA56-D9DD-4F5B-C466-779F0BC61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B168A-8C20-304C-9D61-162C9FE7146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9FCA2-8303-B324-06B6-7AB3C91F5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483BC-5FA9-46FF-B361-EC38CF44C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2746-786F-9C41-A6D7-81026D091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111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51591-6FB7-8077-6F2F-3CFB67FDD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E82BD-DABA-30F7-3A90-7E3433ED7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B96E3-24B1-E06D-CF86-D8133DE6A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D4C29-8176-52A9-E443-D02350A8AA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AFD09-A34B-2694-B6D8-5C9BEB1672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9705D5-656C-0371-5F69-88FE956D0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B168A-8C20-304C-9D61-162C9FE7146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4D1C1C-3D63-A3E0-FDAA-F87CF259A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3AED71-0E58-DBA4-0931-3ADB5C4C4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2746-786F-9C41-A6D7-81026D091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086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3E0C2-3E73-C78D-A749-3D63E1164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6CC7D5-60AC-4EB6-6D05-BDC978157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B168A-8C20-304C-9D61-162C9FE7146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760049-8FD7-09B5-C640-17A1D7BC8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3571B7-C886-BFBA-0FDA-AC2F30E15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2746-786F-9C41-A6D7-81026D091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446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A97B02-F4E4-0207-8711-A374BBEE1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B168A-8C20-304C-9D61-162C9FE7146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10260-5511-F157-AFCD-5A35397F3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854AF-3939-576B-37F1-23C3200A4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2746-786F-9C41-A6D7-81026D091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39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055CF-B937-1BA9-74E5-AF6EF36AB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2957D-AB39-BFEA-8150-565C66235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01F9B-AB4E-A2D7-766B-1B17B2D44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78D2C-44CF-4051-9437-B0CDAF42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B168A-8C20-304C-9D61-162C9FE7146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9B4BD-C8A5-0F9F-2F03-74323B579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110DD-2B36-9458-C459-56DF9E7AF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2746-786F-9C41-A6D7-81026D091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22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C5F44-8459-E2E7-F546-7EC1E532E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A641CE-2607-F14F-6E2B-11FFD056B4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1C94DF-63DE-5BDB-FBFC-DBAA91FA4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1768F-8AC6-0763-4D37-3D844FDCF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B168A-8C20-304C-9D61-162C9FE7146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921117-CAA1-41A9-0F30-8CB07DCFF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D3A174-80CB-E6FC-A50D-064F55616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2746-786F-9C41-A6D7-81026D091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401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5319D-BDA2-9451-E9F5-D7A9E257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004555-9B71-0505-061B-98F202E14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1B424-A70F-4974-3B7F-959CFA4EE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B168A-8C20-304C-9D61-162C9FE7146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02F4C-180D-D992-6D00-7E60A5FC9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67D19-7F55-61DA-14B8-121CF3570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2746-786F-9C41-A6D7-81026D091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143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1F31F6-321B-7613-C414-3614603FE5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725221-3CEA-2560-8E9B-9D71B1F72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FF49C-CD64-C6C6-191C-60FA7BCD7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B168A-8C20-304C-9D61-162C9FE7146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2F350-062C-1C7F-11A4-1A561F6AD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67EC5-390F-24EE-756A-C01A90A85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2746-786F-9C41-A6D7-81026D091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962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14281-16A1-3E9C-A475-ACF872624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098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7D456-92A8-0461-15B3-8272E2297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18CD8-7CBF-DE4E-AF17-4CD7050B675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9331E-3599-BBCF-FA73-D8D305DF9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E7E3E-F801-754C-7F5D-989744F87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25106-898F-5B4C-A694-3C75A492222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F89F42C7-7B8C-F87F-37A1-69137FC62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38224"/>
            <a:ext cx="5499100" cy="5146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5117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75381-94E5-B6C8-0C95-90E5CCAAC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D9194-8C53-7354-7E59-83AB65CBB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1C924-A63E-A439-8821-E603FCDB0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AC43-1D1D-F84C-A35F-8A902A6AED57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48654-E404-B9B0-E141-2F266E255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09A5F-F299-8E7B-77EA-72DF22277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CB636-EA29-8F46-A44F-EE5429FDB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4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1AE6-8070-2C57-FF1F-13E0C7CCA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576D2-58B0-353E-A3A8-221244DE8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79796-6F0F-8BCC-E3ED-E0B4AB2E5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AC43-1D1D-F84C-A35F-8A902A6AED57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B9AF7-BFF0-E279-1FFE-EEE250797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466CE-595C-F740-EC27-C08FB731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CB636-EA29-8F46-A44F-EE5429FDB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2451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8B194-6F3F-5082-B7C8-06E45EADB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95CCD-DED9-6159-8C81-21317B4F4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962E4-01A7-9E75-353A-71CF6553B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AC43-1D1D-F84C-A35F-8A902A6AED57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09C5F-30A1-CF9D-30A6-F42E94273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979C8-0FDF-1C9D-D754-482256BDE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CB636-EA29-8F46-A44F-EE5429FDB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72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C69FC-FD15-6552-1DEF-4F218750E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1DDF0-2840-5938-859C-5A72B71E5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CFFD9F-4F9C-8A76-506D-E9F1D4A4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8C302-F3AE-1087-C73F-EA72B2F2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AC43-1D1D-F84C-A35F-8A902A6AED57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F3302-E120-561C-2C80-6822110F2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743027-3EF6-07D5-42BE-E67A3E5D9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CB636-EA29-8F46-A44F-EE5429FDB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106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8B3F9-0F26-70F1-1275-6377AC11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BE444-DCDA-55D8-9F27-1196EE235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9EAE30-B735-3A77-4578-7CF46308C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B3717B-B750-C8A0-7408-3EFD45CB40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AF0763-3149-2222-15D8-05348477D6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448E17-FA4D-3457-6F5D-641761610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AC43-1D1D-F84C-A35F-8A902A6AED57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E6383A-B6E5-FD31-EC15-946301015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8BB52A-2CE2-763B-341D-E9F309124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CB636-EA29-8F46-A44F-EE5429FDB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3119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EC4F2-821C-6323-89A2-EBC593771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7439FB-E166-2DAA-827F-3D9224AB1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AC43-1D1D-F84C-A35F-8A902A6AED57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A46861-F95B-A702-9560-E9FF4ECA3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D6E326-481B-0461-A827-3EE221144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CB636-EA29-8F46-A44F-EE5429FDB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949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A94FB3-F74A-D583-B941-C2876E416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AC43-1D1D-F84C-A35F-8A902A6AED57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C46731-53F7-D5CF-D95F-446E66871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4F08E-4B85-0F64-11AE-FEFEF0725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CB636-EA29-8F46-A44F-EE5429FDB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438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68B78-33C3-5543-5C20-C26B62031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2D07A-7579-E917-6229-A3DAE4BF7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F7235-4F82-79A7-A2F3-7701D20AD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027C7-C3B5-7C8D-4235-5DBD2C2C7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AC43-1D1D-F84C-A35F-8A902A6AED57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87C2F-8DF2-A255-A955-653FC12ED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D713AF-B38E-4A22-B131-5DD8479EE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CB636-EA29-8F46-A44F-EE5429FDB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337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3C189-6825-8DCB-5F43-CEAF61D85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D8BB44-D240-CC6A-14D4-AD51856DD8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A3AF99-E660-3EB4-3B6B-16B5105BE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0D330-C94C-AE53-2A3E-CCC6E06A1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AC43-1D1D-F84C-A35F-8A902A6AED57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D0B5D-2E27-201C-FECB-04696B7C3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A274E4-88A2-31B0-04A7-A5867B7E5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CB636-EA29-8F46-A44F-EE5429FDB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3759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D4330-0F56-A7FB-B97E-5CEF50E3A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2EF28E-73FC-0D80-DA87-0314FCAC0B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851CA-309D-A432-4C86-2ADEB47A1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AC43-1D1D-F84C-A35F-8A902A6AED57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EB90C-3C0B-EAD2-36D6-36B52BC74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26BD9-BE94-0A74-BC5D-DCB594809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CB636-EA29-8F46-A44F-EE5429FDB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779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E7D988-F57D-2E40-E189-B5AEE3CB9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AA94E6-A5F2-B83C-E079-C30198BAA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5AD94-115C-341D-C6EF-195C138FB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8AC43-1D1D-F84C-A35F-8A902A6AED57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936EE-3B6E-9A24-36FF-3E4A4A75C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57B24-08C4-F775-B9CA-8A22E586E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CB636-EA29-8F46-A44F-EE5429FDB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044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CCF996-819E-4BB3-6E3B-E0623DF46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DD0B0-5778-4269-7E87-036542DF4B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61F45-32E7-1A39-DFF5-BD047009B8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B168A-8C20-304C-9D61-162C9FE7146D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07584-A956-BE10-D57C-350C40BB64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8762F-CBFB-7B94-C5BB-B948E8BC6B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B2746-786F-9C41-A6D7-81026D091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63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E776DC-7647-361C-F0D5-1502C44F6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12506-7DA9-B19E-8251-E4F97C5A1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524E6-CDB2-F3D7-78C8-EAFC505A25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8AC43-1D1D-F84C-A35F-8A902A6AED57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D0EDE2-7B34-5BCE-1C9D-034C024610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B816F-4395-C868-96C8-B50AAC84A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FCB636-EA29-8F46-A44F-EE5429FDB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35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mailto:pbmc@active.ident" TargetMode="Externa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EF217-DEC8-BC70-7F74-174924D88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65364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US" dirty="0"/>
              <a:t>Core Knowledge Series: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Hands-On with Seurat</a:t>
            </a:r>
            <a:br>
              <a:rPr lang="en-US" b="1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dirty="0"/>
            </a:b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6A6DE4-68BF-9117-C7AB-CB2D62FD6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9153" y="3692535"/>
            <a:ext cx="9144000" cy="1655762"/>
          </a:xfrm>
        </p:spPr>
        <p:txBody>
          <a:bodyPr/>
          <a:lstStyle/>
          <a:p>
            <a:r>
              <a:rPr lang="en-US" dirty="0"/>
              <a:t>Bioinformatics Core (BSR)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B196CB-063B-DF56-505F-8C3122C27434}"/>
              </a:ext>
            </a:extLst>
          </p:cNvPr>
          <p:cNvSpPr/>
          <p:nvPr/>
        </p:nvSpPr>
        <p:spPr>
          <a:xfrm>
            <a:off x="289933" y="228600"/>
            <a:ext cx="1137423" cy="6400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35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E426C-BFA5-7651-93B5-AB492E24F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>
                <a:solidFill>
                  <a:schemeClr val="accent1">
                    <a:lumMod val="75000"/>
                  </a:schemeClr>
                </a:solidFill>
              </a:rPr>
              <a:t>R Studio and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B6FF2-D220-85D3-FC07-CD2B5329C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7050" y="755185"/>
            <a:ext cx="11137900" cy="57530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R is a powerful open-source programming language specifically designed for statistical computing, data analysis, and visualization. Many bioinformatics tools are developed in R.</a:t>
            </a:r>
          </a:p>
          <a:p>
            <a:r>
              <a:rPr lang="en-US" dirty="0"/>
              <a:t>RStudio is user-friendly and makes coding in R easier with features like debugging, plotting, and environment.  </a:t>
            </a:r>
          </a:p>
          <a:p>
            <a:r>
              <a:rPr lang="en-US" dirty="0"/>
              <a:t>Packages native to R</a:t>
            </a:r>
          </a:p>
          <a:p>
            <a:pPr lvl="1"/>
            <a:r>
              <a:rPr lang="en-US" dirty="0"/>
              <a:t>Bioinformatics tools:</a:t>
            </a:r>
          </a:p>
          <a:p>
            <a:pPr lvl="2"/>
            <a:r>
              <a:rPr lang="en-US" dirty="0"/>
              <a:t>DESeq2 for RNA-Seq </a:t>
            </a:r>
          </a:p>
          <a:p>
            <a:pPr lvl="2"/>
            <a:r>
              <a:rPr lang="en-US" dirty="0"/>
              <a:t>Seurat for single-cell</a:t>
            </a:r>
          </a:p>
          <a:p>
            <a:pPr lvl="2"/>
            <a:r>
              <a:rPr lang="en-US" dirty="0" err="1"/>
              <a:t>Diffbind</a:t>
            </a:r>
            <a:r>
              <a:rPr lang="en-US" dirty="0"/>
              <a:t> for </a:t>
            </a:r>
            <a:r>
              <a:rPr lang="en-US" dirty="0" err="1"/>
              <a:t>ChIP</a:t>
            </a:r>
            <a:r>
              <a:rPr lang="en-US" dirty="0"/>
              <a:t> and ATAC-seq</a:t>
            </a:r>
          </a:p>
          <a:p>
            <a:pPr lvl="1"/>
            <a:r>
              <a:rPr lang="en-US" dirty="0"/>
              <a:t>Data Manipulation </a:t>
            </a:r>
          </a:p>
          <a:p>
            <a:pPr lvl="2"/>
            <a:r>
              <a:rPr lang="en-US" dirty="0" err="1"/>
              <a:t>dplyr</a:t>
            </a:r>
            <a:r>
              <a:rPr lang="en-US" dirty="0"/>
              <a:t>, </a:t>
            </a:r>
            <a:r>
              <a:rPr lang="en-US" dirty="0" err="1"/>
              <a:t>tibble</a:t>
            </a:r>
            <a:r>
              <a:rPr lang="en-US" dirty="0"/>
              <a:t>, </a:t>
            </a:r>
            <a:r>
              <a:rPr lang="en-US" dirty="0" err="1"/>
              <a:t>tidyr</a:t>
            </a:r>
            <a:r>
              <a:rPr lang="en-US" dirty="0"/>
              <a:t>, </a:t>
            </a:r>
            <a:r>
              <a:rPr lang="en-US" dirty="0" err="1"/>
              <a:t>tidyverse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78123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D7CB0-29A7-D0C3-7915-AB9AA30A5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08125" y="108691"/>
            <a:ext cx="10515600" cy="750981"/>
          </a:xfrm>
        </p:spPr>
        <p:txBody>
          <a:bodyPr/>
          <a:lstStyle/>
          <a:p>
            <a:pPr algn="ctr"/>
            <a:r>
              <a:rPr lang="en-US" u="sng" dirty="0">
                <a:solidFill>
                  <a:schemeClr val="accent1"/>
                </a:solidFill>
              </a:rPr>
              <a:t>R Studio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CBAD99B-0275-88B6-138A-34C351404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31100" y="263479"/>
            <a:ext cx="4305300" cy="5375306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accent1"/>
                </a:solidFill>
              </a:rPr>
              <a:t>Source Editor (Top-Left)</a:t>
            </a:r>
          </a:p>
          <a:p>
            <a:pPr lvl="1"/>
            <a:r>
              <a:rPr lang="en-US" dirty="0"/>
              <a:t>Writing/editing R and </a:t>
            </a:r>
            <a:r>
              <a:rPr lang="en-US" dirty="0" err="1"/>
              <a:t>Rmd</a:t>
            </a:r>
            <a:r>
              <a:rPr lang="en-US" dirty="0"/>
              <a:t> scripts</a:t>
            </a:r>
          </a:p>
          <a:p>
            <a:r>
              <a:rPr lang="en-US" dirty="0">
                <a:solidFill>
                  <a:schemeClr val="accent1"/>
                </a:solidFill>
              </a:rPr>
              <a:t>Environment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(Top-Right)</a:t>
            </a:r>
          </a:p>
          <a:p>
            <a:pPr lvl="1"/>
            <a:r>
              <a:rPr lang="en-US" dirty="0"/>
              <a:t>Stores all created variables</a:t>
            </a:r>
          </a:p>
          <a:p>
            <a:r>
              <a:rPr lang="en-US" dirty="0">
                <a:solidFill>
                  <a:schemeClr val="accent1"/>
                </a:solidFill>
              </a:rPr>
              <a:t>Console/Terminal (Bottom-Left)</a:t>
            </a:r>
          </a:p>
          <a:p>
            <a:pPr lvl="1"/>
            <a:r>
              <a:rPr lang="en-US" dirty="0"/>
              <a:t>Console: Executes R commands</a:t>
            </a:r>
          </a:p>
          <a:p>
            <a:pPr lvl="1"/>
            <a:r>
              <a:rPr lang="en-US" dirty="0"/>
              <a:t>Terminal: Navigate through files</a:t>
            </a:r>
          </a:p>
          <a:p>
            <a:r>
              <a:rPr lang="en-US" dirty="0">
                <a:solidFill>
                  <a:schemeClr val="accent1"/>
                </a:solidFill>
              </a:rPr>
              <a:t>Files/Plots/Help (Bottom-right)</a:t>
            </a:r>
          </a:p>
          <a:p>
            <a:pPr lvl="1"/>
            <a:r>
              <a:rPr lang="en-US" dirty="0"/>
              <a:t>Mainly used for plot viewing. Can also navigate files and display help for functions.	</a:t>
            </a:r>
          </a:p>
          <a:p>
            <a:pPr lvl="1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ECFCFD-2A00-4DCD-4D44-B1823E83D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" y="1038224"/>
            <a:ext cx="7143750" cy="560381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1F2C669-0ADA-8595-1752-2F49F448C74A}"/>
              </a:ext>
            </a:extLst>
          </p:cNvPr>
          <p:cNvSpPr/>
          <p:nvPr/>
        </p:nvSpPr>
        <p:spPr>
          <a:xfrm>
            <a:off x="749300" y="3352772"/>
            <a:ext cx="1612900" cy="487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Source Editor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1288E1-E2FC-E19E-1DD9-FBCFD5072BCD}"/>
              </a:ext>
            </a:extLst>
          </p:cNvPr>
          <p:cNvSpPr/>
          <p:nvPr/>
        </p:nvSpPr>
        <p:spPr>
          <a:xfrm>
            <a:off x="5067300" y="2463772"/>
            <a:ext cx="1612900" cy="487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Environment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79CFD2-F051-4254-9F24-99EE8623A169}"/>
              </a:ext>
            </a:extLst>
          </p:cNvPr>
          <p:cNvSpPr/>
          <p:nvPr/>
        </p:nvSpPr>
        <p:spPr>
          <a:xfrm>
            <a:off x="1028700" y="4997406"/>
            <a:ext cx="1612900" cy="487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Console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865EC9-DBF1-287D-737D-4355EE4E65DE}"/>
              </a:ext>
            </a:extLst>
          </p:cNvPr>
          <p:cNvSpPr/>
          <p:nvPr/>
        </p:nvSpPr>
        <p:spPr>
          <a:xfrm>
            <a:off x="5067300" y="4309226"/>
            <a:ext cx="1612900" cy="487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Plot viewer</a:t>
            </a:r>
          </a:p>
        </p:txBody>
      </p:sp>
    </p:spTree>
    <p:extLst>
      <p:ext uri="{BB962C8B-B14F-4D97-AF65-F5344CB8AC3E}">
        <p14:creationId xmlns:p14="http://schemas.microsoft.com/office/powerpoint/2010/main" val="3007187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AE456-D46A-4FF6-CC57-1B7C22FD3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F379A-D695-957B-4BB5-3B594E37F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719" y="287243"/>
            <a:ext cx="10515600" cy="750981"/>
          </a:xfrm>
        </p:spPr>
        <p:txBody>
          <a:bodyPr/>
          <a:lstStyle/>
          <a:p>
            <a:r>
              <a:rPr lang="en-US" u="sng" dirty="0">
                <a:solidFill>
                  <a:schemeClr val="accent1"/>
                </a:solidFill>
              </a:rPr>
              <a:t>Libraries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EE7A6-1757-AD3E-E696-3F238697E0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Libraries</a:t>
            </a:r>
            <a:r>
              <a:rPr lang="en-US" dirty="0"/>
              <a:t> in R are collections of functions, datasets, and documentation that extend R's capabilities.</a:t>
            </a:r>
          </a:p>
          <a:p>
            <a:r>
              <a:rPr lang="en-US" dirty="0"/>
              <a:t>Libraries must be </a:t>
            </a:r>
            <a:r>
              <a:rPr lang="en-US" b="1" dirty="0"/>
              <a:t>installed</a:t>
            </a:r>
            <a:r>
              <a:rPr lang="en-US" dirty="0"/>
              <a:t> and </a:t>
            </a:r>
            <a:r>
              <a:rPr lang="en-US" b="1" dirty="0"/>
              <a:t>loaded</a:t>
            </a:r>
            <a:r>
              <a:rPr lang="en-US" dirty="0"/>
              <a:t> before use</a:t>
            </a:r>
            <a:endParaRPr lang="en-US" b="1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5978068-9876-5BFA-093F-DFEF4D45000B}"/>
              </a:ext>
            </a:extLst>
          </p:cNvPr>
          <p:cNvCxnSpPr>
            <a:cxnSpLocks/>
          </p:cNvCxnSpPr>
          <p:nvPr/>
        </p:nvCxnSpPr>
        <p:spPr>
          <a:xfrm flipV="1">
            <a:off x="5850108" y="1030683"/>
            <a:ext cx="0" cy="530661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79A72A7-AEBB-A34C-AD54-EFE1DE54C8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95"/>
          <a:stretch>
            <a:fillRect/>
          </a:stretch>
        </p:blipFill>
        <p:spPr>
          <a:xfrm>
            <a:off x="195287" y="2410691"/>
            <a:ext cx="5191285" cy="1141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76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26E5C-41EA-0D6A-29F8-111B053D7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1"/>
                </a:solidFill>
              </a:rPr>
              <a:t>Basic syntax – Variables and Functions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D6B18E-2731-D33B-E8D6-690E1ADF82C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1844" t="7800"/>
          <a:stretch>
            <a:fillRect/>
          </a:stretch>
        </p:blipFill>
        <p:spPr>
          <a:xfrm>
            <a:off x="651164" y="2245659"/>
            <a:ext cx="4360017" cy="1465728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8A32250-99E5-8625-EF9E-789397EA70B6}"/>
              </a:ext>
            </a:extLst>
          </p:cNvPr>
          <p:cNvSpPr txBox="1">
            <a:spLocks/>
          </p:cNvSpPr>
          <p:nvPr/>
        </p:nvSpPr>
        <p:spPr>
          <a:xfrm>
            <a:off x="6172200" y="1038224"/>
            <a:ext cx="5499100" cy="514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Object – </a:t>
            </a:r>
            <a:r>
              <a:rPr lang="en-US" dirty="0"/>
              <a:t>Fundamental data structure</a:t>
            </a:r>
          </a:p>
          <a:p>
            <a:pPr lvl="1"/>
            <a:r>
              <a:rPr lang="en-US" dirty="0"/>
              <a:t>Example: List/vector of numbers</a:t>
            </a:r>
          </a:p>
          <a:p>
            <a:r>
              <a:rPr lang="en-US" b="1" dirty="0"/>
              <a:t>Variable – </a:t>
            </a:r>
            <a:r>
              <a:rPr lang="en-US" dirty="0"/>
              <a:t>Name to store fundamental data structure</a:t>
            </a:r>
          </a:p>
          <a:p>
            <a:pPr lvl="1"/>
            <a:r>
              <a:rPr lang="en-US" dirty="0"/>
              <a:t>Example: “numbers” variable</a:t>
            </a:r>
          </a:p>
          <a:p>
            <a:r>
              <a:rPr lang="en-US" b="1" dirty="0"/>
              <a:t>Function</a:t>
            </a:r>
            <a:r>
              <a:rPr lang="en-US" dirty="0"/>
              <a:t> – Takes in input, performs operation(s), produces output</a:t>
            </a:r>
          </a:p>
          <a:p>
            <a:pPr lvl="1"/>
            <a:r>
              <a:rPr lang="en-US" dirty="0"/>
              <a:t>Sum function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026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383A7-AF56-30F1-191D-352B4D638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CED1B-C815-894D-B3CC-38D234B95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1"/>
                </a:solidFill>
              </a:rPr>
              <a:t>Basic syntax – Variables and Functions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1998E4-1B21-40A2-C4EC-944636AEA1A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t="7800"/>
          <a:stretch>
            <a:fillRect/>
          </a:stretch>
        </p:blipFill>
        <p:spPr>
          <a:xfrm>
            <a:off x="569258" y="2245659"/>
            <a:ext cx="4441923" cy="1465728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121C90-5D8F-EA86-6469-B20E6749DF87}"/>
              </a:ext>
            </a:extLst>
          </p:cNvPr>
          <p:cNvSpPr txBox="1">
            <a:spLocks/>
          </p:cNvSpPr>
          <p:nvPr/>
        </p:nvSpPr>
        <p:spPr>
          <a:xfrm>
            <a:off x="6172200" y="1038224"/>
            <a:ext cx="5499100" cy="514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Variables are assigned using “&lt;-” in R</a:t>
            </a:r>
          </a:p>
          <a:p>
            <a:r>
              <a:rPr lang="en-US" dirty="0"/>
              <a:t>Functions often come before parenthesis with </a:t>
            </a:r>
            <a:r>
              <a:rPr lang="en-US" b="1" dirty="0"/>
              <a:t>arguments</a:t>
            </a:r>
            <a:r>
              <a:rPr lang="en-US" dirty="0"/>
              <a:t> inside</a:t>
            </a:r>
          </a:p>
          <a:p>
            <a:pPr lvl="1"/>
            <a:r>
              <a:rPr lang="en-US" dirty="0"/>
              <a:t>Inputs to a function that tell provide specifications for the function to perform its task</a:t>
            </a:r>
          </a:p>
          <a:p>
            <a:r>
              <a:rPr lang="en-US" dirty="0"/>
              <a:t>sum(numbers)</a:t>
            </a:r>
          </a:p>
          <a:p>
            <a:pPr lvl="1"/>
            <a:r>
              <a:rPr lang="en-US" dirty="0"/>
              <a:t>Numbers is the argument to the sum function.</a:t>
            </a:r>
          </a:p>
          <a:p>
            <a:r>
              <a:rPr lang="en-US" dirty="0"/>
              <a:t>How can we see what arguments a function takes? 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335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8E3C3-5AFF-B6BB-623E-63B348CC0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1"/>
                </a:solidFill>
              </a:rPr>
              <a:t>Using the help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7A72A-68DA-4341-B0D1-486813BCF6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92900" y="911143"/>
            <a:ext cx="5499100" cy="51466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help operator ”?” can be placed in front of a function to open documentation for that function</a:t>
            </a:r>
          </a:p>
          <a:p>
            <a:pPr lvl="1"/>
            <a:r>
              <a:rPr lang="en-US" dirty="0"/>
              <a:t>Example: ?sum</a:t>
            </a:r>
          </a:p>
          <a:p>
            <a:r>
              <a:rPr lang="en-US" dirty="0"/>
              <a:t>Note: The sum function has an optional parameter </a:t>
            </a:r>
            <a:r>
              <a:rPr lang="en-US" dirty="0" err="1"/>
              <a:t>na.rm</a:t>
            </a:r>
            <a:r>
              <a:rPr lang="en-US" dirty="0"/>
              <a:t> that will remove NA values if you specify TRUE</a:t>
            </a:r>
          </a:p>
          <a:p>
            <a:pPr lvl="1"/>
            <a:r>
              <a:rPr lang="en-US" dirty="0"/>
              <a:t>Default is </a:t>
            </a:r>
            <a:r>
              <a:rPr lang="en-US" dirty="0" err="1"/>
              <a:t>na.rm</a:t>
            </a:r>
            <a:r>
              <a:rPr lang="en-US" dirty="0"/>
              <a:t> = FALSE</a:t>
            </a:r>
          </a:p>
          <a:p>
            <a:r>
              <a:rPr lang="en-US" dirty="0"/>
              <a:t>The ? operator is very helpful for Seurat functions</a:t>
            </a:r>
          </a:p>
          <a:p>
            <a:pPr lvl="1"/>
            <a:r>
              <a:rPr lang="en-US" dirty="0"/>
              <a:t>Well documented and often have many arguments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AE4943-2B15-5E95-0961-C9DF455D7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87" y="911143"/>
            <a:ext cx="1671171" cy="9115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C720D8-CF7D-C810-148B-54E1F01DE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87" y="1973409"/>
            <a:ext cx="5934061" cy="448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526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F1B8-9CCD-7E52-7F32-71710006D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1"/>
                </a:solidFill>
              </a:rPr>
              <a:t>Seurat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5BBD8-5A92-66E6-8AED-B7D7BD14ED7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Seurat</a:t>
            </a:r>
            <a:r>
              <a:rPr lang="en-US" dirty="0"/>
              <a:t> is an R package for analyzing single-cell RNA-seq data. </a:t>
            </a:r>
          </a:p>
          <a:p>
            <a:r>
              <a:rPr lang="en-US" dirty="0"/>
              <a:t>It provides functions for normalization, clustering, plotting, differential analysis, integration, 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0AB913-5EAC-03F4-5114-B095FDF56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36" y="2336800"/>
            <a:ext cx="5879565" cy="127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868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077F4-F23B-12FB-AC5D-AD194DB63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1"/>
                </a:solidFill>
              </a:rPr>
              <a:t>Seurat Object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E5AEE1F-B156-4C61-2EAC-59BDA4BF762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07542" y="998269"/>
            <a:ext cx="9776916" cy="5499514"/>
          </a:xfrm>
        </p:spPr>
      </p:pic>
    </p:spTree>
    <p:extLst>
      <p:ext uri="{BB962C8B-B14F-4D97-AF65-F5344CB8AC3E}">
        <p14:creationId xmlns:p14="http://schemas.microsoft.com/office/powerpoint/2010/main" val="1040502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72A3F-309D-4E27-67A7-5C8129887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1"/>
                </a:solidFill>
              </a:rPr>
              <a:t>Our PBMC Seurat Object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BC08C9-574A-281E-E9AE-2903746F62A6}"/>
              </a:ext>
            </a:extLst>
          </p:cNvPr>
          <p:cNvSpPr txBox="1">
            <a:spLocks/>
          </p:cNvSpPr>
          <p:nvPr/>
        </p:nvSpPr>
        <p:spPr>
          <a:xfrm>
            <a:off x="6449290" y="1052078"/>
            <a:ext cx="5499100" cy="514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Seurat</a:t>
            </a:r>
            <a:r>
              <a:rPr lang="en-US" dirty="0"/>
              <a:t> objects contain </a:t>
            </a:r>
            <a:r>
              <a:rPr lang="en-US" dirty="0">
                <a:solidFill>
                  <a:schemeClr val="accent1"/>
                </a:solidFill>
              </a:rPr>
              <a:t>slots</a:t>
            </a:r>
            <a:r>
              <a:rPr lang="en-US" dirty="0"/>
              <a:t>. Think of them as compartments of the object. </a:t>
            </a:r>
          </a:p>
          <a:p>
            <a:pPr lvl="1"/>
            <a:r>
              <a:rPr lang="en-US" dirty="0"/>
              <a:t>Assays: Holds expression data</a:t>
            </a:r>
          </a:p>
          <a:p>
            <a:pPr lvl="2"/>
            <a:r>
              <a:rPr lang="en-US" dirty="0"/>
              <a:t>counts</a:t>
            </a:r>
          </a:p>
          <a:p>
            <a:pPr lvl="2"/>
            <a:r>
              <a:rPr lang="en-US" dirty="0"/>
              <a:t>data</a:t>
            </a:r>
          </a:p>
          <a:p>
            <a:pPr lvl="2"/>
            <a:r>
              <a:rPr lang="en-US" dirty="0" err="1"/>
              <a:t>scale.data</a:t>
            </a:r>
            <a:endParaRPr lang="en-US" dirty="0"/>
          </a:p>
          <a:p>
            <a:pPr lvl="1"/>
            <a:r>
              <a:rPr lang="en-US" dirty="0" err="1"/>
              <a:t>meta.data</a:t>
            </a:r>
            <a:r>
              <a:rPr lang="en-US" dirty="0"/>
              <a:t>: Per-cell metadata</a:t>
            </a:r>
          </a:p>
          <a:p>
            <a:pPr lvl="1"/>
            <a:r>
              <a:rPr lang="en-US" dirty="0" err="1"/>
              <a:t>active.ident</a:t>
            </a:r>
            <a:r>
              <a:rPr lang="en-US" dirty="0"/>
              <a:t>: Current identity of cells</a:t>
            </a:r>
          </a:p>
          <a:p>
            <a:pPr lvl="2"/>
            <a:r>
              <a:rPr lang="en-US" dirty="0"/>
              <a:t>Usually cluster number or cell type</a:t>
            </a:r>
          </a:p>
          <a:p>
            <a:pPr lvl="1"/>
            <a:r>
              <a:rPr lang="en-US" dirty="0"/>
              <a:t>reductions: Dimensionality reductions</a:t>
            </a:r>
          </a:p>
          <a:p>
            <a:pPr lvl="2"/>
            <a:r>
              <a:rPr lang="en-US" dirty="0"/>
              <a:t>PCA, </a:t>
            </a:r>
            <a:r>
              <a:rPr lang="en-US" dirty="0" err="1"/>
              <a:t>tSNE</a:t>
            </a:r>
            <a:r>
              <a:rPr lang="en-US" dirty="0"/>
              <a:t>, UMAP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662A045-5127-42BC-3FDC-65DC8A18166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1163608"/>
            <a:ext cx="6185710" cy="4322792"/>
          </a:xfrm>
        </p:spPr>
      </p:pic>
    </p:spTree>
    <p:extLst>
      <p:ext uri="{BB962C8B-B14F-4D97-AF65-F5344CB8AC3E}">
        <p14:creationId xmlns:p14="http://schemas.microsoft.com/office/powerpoint/2010/main" val="402877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D291C-657F-4A0B-840C-A31F0E679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1"/>
                </a:solidFill>
              </a:rPr>
              <a:t>R syntax with Seurat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8BB82-D190-FB79-215A-0BA5E5AC5E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$</a:t>
            </a:r>
            <a:r>
              <a:rPr lang="en-US" dirty="0"/>
              <a:t> operator is used to access metadata.</a:t>
            </a:r>
          </a:p>
          <a:p>
            <a:r>
              <a:rPr lang="en-US" dirty="0">
                <a:solidFill>
                  <a:schemeClr val="accent1"/>
                </a:solidFill>
              </a:rPr>
              <a:t>@ </a:t>
            </a:r>
            <a:r>
              <a:rPr lang="en-US" dirty="0"/>
              <a:t>operator is used to access other slots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876575-8E1D-0244-87DD-E679924BE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09" y="1982894"/>
            <a:ext cx="6030191" cy="16286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3B553C-30D7-624F-60B8-31BA387B1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83061"/>
            <a:ext cx="7772400" cy="6326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12B05B-A50F-BF38-4C57-9A544EDD6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93319"/>
            <a:ext cx="54991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646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157ED-9C96-03CC-4B6D-1FF001F8C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1"/>
                </a:solidFill>
              </a:rPr>
              <a:t>Seurat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2AA64-6829-790A-879E-737DBC00D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68555" y="1190625"/>
            <a:ext cx="5499100" cy="5146675"/>
          </a:xfrm>
        </p:spPr>
        <p:txBody>
          <a:bodyPr>
            <a:normAutofit/>
          </a:bodyPr>
          <a:lstStyle/>
          <a:p>
            <a:r>
              <a:rPr lang="en-US" dirty="0"/>
              <a:t>Create object </a:t>
            </a:r>
            <a:r>
              <a:rPr lang="en-US" sz="1800" dirty="0"/>
              <a:t>– Read10X, </a:t>
            </a:r>
            <a:r>
              <a:rPr lang="en-US" sz="1800" dirty="0" err="1"/>
              <a:t>CreateSeuratObject</a:t>
            </a:r>
            <a:r>
              <a:rPr lang="en-US" sz="1800" dirty="0"/>
              <a:t> QC &amp; filter – % </a:t>
            </a:r>
            <a:r>
              <a:rPr lang="en-US" sz="1800" dirty="0" err="1"/>
              <a:t>mito</a:t>
            </a:r>
            <a:r>
              <a:rPr lang="en-US" sz="1800" dirty="0"/>
              <a:t>, </a:t>
            </a:r>
            <a:r>
              <a:rPr lang="en-US" sz="1800" dirty="0" err="1"/>
              <a:t>nFeature</a:t>
            </a:r>
            <a:r>
              <a:rPr lang="en-US" sz="1800" dirty="0"/>
              <a:t>/</a:t>
            </a:r>
            <a:r>
              <a:rPr lang="en-US" sz="1800" dirty="0" err="1"/>
              <a:t>nCount</a:t>
            </a:r>
            <a:r>
              <a:rPr lang="en-US" sz="1800" dirty="0"/>
              <a:t>, subset</a:t>
            </a:r>
          </a:p>
          <a:p>
            <a:r>
              <a:rPr lang="en-US" dirty="0"/>
              <a:t>Normalize – </a:t>
            </a:r>
            <a:r>
              <a:rPr lang="en-US" sz="1800" dirty="0" err="1"/>
              <a:t>NormalizeData</a:t>
            </a:r>
            <a:r>
              <a:rPr lang="en-US" sz="1800" dirty="0"/>
              <a:t>() or </a:t>
            </a:r>
            <a:r>
              <a:rPr lang="en-US" sz="1800" dirty="0" err="1"/>
              <a:t>SCTransform</a:t>
            </a:r>
            <a:r>
              <a:rPr lang="en-US" sz="1800" dirty="0"/>
              <a:t>()</a:t>
            </a:r>
            <a:endParaRPr lang="en-US" sz="1400" dirty="0"/>
          </a:p>
          <a:p>
            <a:r>
              <a:rPr lang="en-US" dirty="0"/>
              <a:t>Variable features – </a:t>
            </a:r>
            <a:r>
              <a:rPr lang="en-US" sz="1800" dirty="0" err="1"/>
              <a:t>FindVariableFeatures</a:t>
            </a:r>
            <a:r>
              <a:rPr lang="en-US" sz="1800" dirty="0"/>
              <a:t>()</a:t>
            </a:r>
          </a:p>
          <a:p>
            <a:r>
              <a:rPr lang="en-US" dirty="0"/>
              <a:t>Scale data – </a:t>
            </a:r>
            <a:r>
              <a:rPr lang="en-US" sz="1800" dirty="0" err="1"/>
              <a:t>ScaleData</a:t>
            </a:r>
            <a:r>
              <a:rPr lang="en-US" sz="1800" dirty="0"/>
              <a:t>() PCA – </a:t>
            </a:r>
            <a:r>
              <a:rPr lang="en-US" sz="1800" dirty="0" err="1"/>
              <a:t>RunPCA</a:t>
            </a:r>
            <a:r>
              <a:rPr lang="en-US" sz="1800" dirty="0"/>
              <a:t>(), inspect PCs (</a:t>
            </a:r>
            <a:r>
              <a:rPr lang="en-US" sz="1800" dirty="0" err="1"/>
              <a:t>ElbowPlot</a:t>
            </a:r>
            <a:r>
              <a:rPr lang="en-US" sz="1800" dirty="0"/>
              <a:t>) </a:t>
            </a:r>
          </a:p>
          <a:p>
            <a:r>
              <a:rPr lang="en-US" dirty="0"/>
              <a:t>Clustering – </a:t>
            </a:r>
            <a:r>
              <a:rPr lang="en-US" sz="1800" dirty="0" err="1"/>
              <a:t>FindNeighbors</a:t>
            </a:r>
            <a:r>
              <a:rPr lang="en-US" sz="1800" dirty="0"/>
              <a:t>(), </a:t>
            </a:r>
            <a:r>
              <a:rPr lang="en-US" sz="1800" dirty="0" err="1"/>
              <a:t>FindClusters</a:t>
            </a:r>
            <a:r>
              <a:rPr lang="en-US" sz="1800" dirty="0"/>
              <a:t>() UMAP/</a:t>
            </a:r>
            <a:r>
              <a:rPr lang="en-US" sz="1800" dirty="0" err="1"/>
              <a:t>tSNE</a:t>
            </a:r>
            <a:r>
              <a:rPr lang="en-US" sz="1800" dirty="0"/>
              <a:t> – </a:t>
            </a:r>
            <a:r>
              <a:rPr lang="en-US" sz="1800" dirty="0" err="1"/>
              <a:t>RunUMAP</a:t>
            </a:r>
            <a:r>
              <a:rPr lang="en-US" sz="1800" dirty="0"/>
              <a:t>() / </a:t>
            </a:r>
            <a:r>
              <a:rPr lang="en-US" sz="1800" dirty="0" err="1"/>
              <a:t>RunTSNE</a:t>
            </a:r>
            <a:r>
              <a:rPr lang="en-US" sz="1800" dirty="0"/>
              <a:t>() </a:t>
            </a:r>
          </a:p>
          <a:p>
            <a:r>
              <a:rPr lang="en-US" dirty="0"/>
              <a:t>Find markers – </a:t>
            </a:r>
            <a:r>
              <a:rPr lang="en-US" sz="1800" dirty="0" err="1"/>
              <a:t>FindMarkers</a:t>
            </a:r>
            <a:r>
              <a:rPr lang="en-US" sz="1800" dirty="0"/>
              <a:t>(), </a:t>
            </a:r>
            <a:r>
              <a:rPr lang="en-US" sz="1800" dirty="0" err="1"/>
              <a:t>FindAllMarkers</a:t>
            </a:r>
            <a:r>
              <a:rPr lang="en-US" sz="1800" dirty="0"/>
              <a:t>() </a:t>
            </a:r>
          </a:p>
          <a:p>
            <a:r>
              <a:rPr lang="en-US" dirty="0"/>
              <a:t>Annotate – </a:t>
            </a:r>
            <a:r>
              <a:rPr lang="en-US" sz="1800" dirty="0"/>
              <a:t>label clusters with known markers</a:t>
            </a:r>
          </a:p>
          <a:p>
            <a:r>
              <a:rPr lang="en-US" dirty="0"/>
              <a:t>Save object – </a:t>
            </a:r>
            <a:r>
              <a:rPr lang="en-US" sz="1800" dirty="0" err="1"/>
              <a:t>saveRDS</a:t>
            </a:r>
            <a:r>
              <a:rPr lang="en-US" sz="1800" dirty="0"/>
              <a:t>()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0ADC92-C38E-8A5D-AB5F-94C081CD3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73" y="2345603"/>
            <a:ext cx="5043054" cy="283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88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AC475-2756-D392-E5D4-183D754F4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Creating the Seurat Object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FCB9DFA-5383-8F96-FE51-99371E48DA44}"/>
              </a:ext>
            </a:extLst>
          </p:cNvPr>
          <p:cNvSpPr txBox="1">
            <a:spLocks/>
          </p:cNvSpPr>
          <p:nvPr/>
        </p:nvSpPr>
        <p:spPr>
          <a:xfrm>
            <a:off x="6692900" y="1218333"/>
            <a:ext cx="5499100" cy="514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</a:t>
            </a:r>
            <a:r>
              <a:rPr lang="en-US" dirty="0">
                <a:solidFill>
                  <a:schemeClr val="accent1"/>
                </a:solidFill>
              </a:rPr>
              <a:t>Seurat Object </a:t>
            </a:r>
            <a:r>
              <a:rPr lang="en-US" dirty="0"/>
              <a:t>is the central container that stores</a:t>
            </a:r>
          </a:p>
          <a:p>
            <a:pPr lvl="1"/>
            <a:r>
              <a:rPr lang="en-US" dirty="0"/>
              <a:t>single-cell expression data</a:t>
            </a:r>
          </a:p>
          <a:p>
            <a:pPr lvl="1"/>
            <a:r>
              <a:rPr lang="en-US" dirty="0"/>
              <a:t>all downstream analysis results (QC metrics, clustering, embeddings, markers).</a:t>
            </a:r>
          </a:p>
          <a:p>
            <a:r>
              <a:rPr lang="en-US" dirty="0"/>
              <a:t>Here, we read in the counts and create the object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CreateSeuratObject</a:t>
            </a:r>
            <a:r>
              <a:rPr lang="en-US" dirty="0"/>
              <a:t> is the </a:t>
            </a:r>
            <a:r>
              <a:rPr lang="en-US" dirty="0">
                <a:solidFill>
                  <a:schemeClr val="accent1"/>
                </a:solidFill>
              </a:rPr>
              <a:t>function </a:t>
            </a:r>
            <a:r>
              <a:rPr lang="en-US" dirty="0"/>
              <a:t>used.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26C0CE-45D9-B29A-4BD7-ECFB8EA9C0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978"/>
          <a:stretch>
            <a:fillRect/>
          </a:stretch>
        </p:blipFill>
        <p:spPr>
          <a:xfrm>
            <a:off x="260351" y="1545017"/>
            <a:ext cx="5651499" cy="413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487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D66E2-2B5B-2F5E-5DD0-E85643599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Quality Control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2478FB-897C-D10D-D524-5E93ED28CC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2816566"/>
            <a:ext cx="6804327" cy="866710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BD43067-466F-E9F8-8EDA-ABB475386DA0}"/>
              </a:ext>
            </a:extLst>
          </p:cNvPr>
          <p:cNvSpPr txBox="1">
            <a:spLocks/>
          </p:cNvSpPr>
          <p:nvPr/>
        </p:nvSpPr>
        <p:spPr>
          <a:xfrm>
            <a:off x="6692900" y="1218333"/>
            <a:ext cx="5499100" cy="514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Here, we add mitochondrial percentage as meta data</a:t>
            </a:r>
          </a:p>
          <a:p>
            <a:pPr lvl="1"/>
            <a:r>
              <a:rPr lang="en-US" dirty="0"/>
              <a:t>Note: Can use </a:t>
            </a:r>
            <a:r>
              <a:rPr lang="en-US" dirty="0">
                <a:solidFill>
                  <a:schemeClr val="accent1"/>
                </a:solidFill>
              </a:rPr>
              <a:t>double brackets </a:t>
            </a:r>
            <a:r>
              <a:rPr lang="en-US" dirty="0"/>
              <a:t>or </a:t>
            </a:r>
            <a:r>
              <a:rPr lang="en-US" dirty="0">
                <a:solidFill>
                  <a:schemeClr val="accent1"/>
                </a:solidFill>
              </a:rPr>
              <a:t>$</a:t>
            </a:r>
            <a:r>
              <a:rPr lang="en-US" dirty="0"/>
              <a:t> to add to metadata</a:t>
            </a:r>
          </a:p>
          <a:p>
            <a:r>
              <a:rPr lang="en-US" dirty="0"/>
              <a:t>The head() function gives the first few rows(cells)</a:t>
            </a:r>
          </a:p>
          <a:p>
            <a:r>
              <a:rPr lang="en-US" dirty="0"/>
              <a:t>Seurat auto generates </a:t>
            </a:r>
            <a:r>
              <a:rPr lang="en-US" dirty="0" err="1">
                <a:solidFill>
                  <a:schemeClr val="accent1"/>
                </a:solidFill>
              </a:rPr>
              <a:t>nFeature_RNA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and </a:t>
            </a:r>
            <a:r>
              <a:rPr lang="en-US" dirty="0" err="1">
                <a:solidFill>
                  <a:schemeClr val="accent1"/>
                </a:solidFill>
              </a:rPr>
              <a:t>nCount_RNA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when creating the object </a:t>
            </a:r>
          </a:p>
          <a:p>
            <a:r>
              <a:rPr lang="en-US" dirty="0"/>
              <a:t>High mitochondrial content could mean dying or low quality cells</a:t>
            </a:r>
          </a:p>
        </p:txBody>
      </p:sp>
    </p:spTree>
    <p:extLst>
      <p:ext uri="{BB962C8B-B14F-4D97-AF65-F5344CB8AC3E}">
        <p14:creationId xmlns:p14="http://schemas.microsoft.com/office/powerpoint/2010/main" val="2650246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08B0F-8E12-0808-7A39-0EDF5B1A7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Practice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ED44F-AC4D-37D3-99C8-0454FD0147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315315"/>
            <a:ext cx="5499100" cy="5146675"/>
          </a:xfrm>
        </p:spPr>
        <p:txBody>
          <a:bodyPr/>
          <a:lstStyle/>
          <a:p>
            <a:r>
              <a:rPr lang="en-US" dirty="0"/>
              <a:t>Use ?</a:t>
            </a:r>
            <a:r>
              <a:rPr lang="en-US" dirty="0" err="1"/>
              <a:t>VlnPlot</a:t>
            </a:r>
            <a:r>
              <a:rPr lang="en-US" dirty="0"/>
              <a:t> to get more information about the function </a:t>
            </a:r>
          </a:p>
          <a:p>
            <a:r>
              <a:rPr lang="en-US" dirty="0"/>
              <a:t>Plot MALAT1 expression as a violin plot (no points shown).</a:t>
            </a:r>
          </a:p>
          <a:p>
            <a:pPr lvl="1"/>
            <a:r>
              <a:rPr lang="en-US" dirty="0"/>
              <a:t>Hint: Use the point size argument </a:t>
            </a:r>
          </a:p>
        </p:txBody>
      </p:sp>
    </p:spTree>
    <p:extLst>
      <p:ext uri="{BB962C8B-B14F-4D97-AF65-F5344CB8AC3E}">
        <p14:creationId xmlns:p14="http://schemas.microsoft.com/office/powerpoint/2010/main" val="20852052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1791D-1782-EB48-309B-6A8B1C611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Quality Control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5CEA71-C01B-C178-5EB1-71051A856FF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53290" y="1782271"/>
            <a:ext cx="6392996" cy="3828820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60138A7-5CA0-E4AD-75B3-EE470CC21043}"/>
              </a:ext>
            </a:extLst>
          </p:cNvPr>
          <p:cNvSpPr txBox="1">
            <a:spLocks/>
          </p:cNvSpPr>
          <p:nvPr/>
        </p:nvSpPr>
        <p:spPr>
          <a:xfrm>
            <a:off x="6692900" y="1218333"/>
            <a:ext cx="5499100" cy="514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Checking relationships between quality metrics can help detect</a:t>
            </a:r>
          </a:p>
          <a:p>
            <a:pPr lvl="1"/>
            <a:r>
              <a:rPr lang="en-US" dirty="0"/>
              <a:t>Low quality cells</a:t>
            </a:r>
          </a:p>
          <a:p>
            <a:pPr lvl="1"/>
            <a:r>
              <a:rPr lang="en-US" dirty="0"/>
              <a:t>Doublets</a:t>
            </a:r>
          </a:p>
          <a:p>
            <a:pPr lvl="1"/>
            <a:r>
              <a:rPr lang="en-US" dirty="0"/>
              <a:t>Outliers</a:t>
            </a:r>
          </a:p>
          <a:p>
            <a:r>
              <a:rPr lang="en-US" dirty="0"/>
              <a:t>This helps us decide cutoffs for filtering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E993C7-BE14-1BB6-2EDF-FAE481D94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09" y="2475698"/>
            <a:ext cx="5611091" cy="351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851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BC1A5-DE96-4D96-4304-2B2782031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Filtering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61F53F-6DEF-5284-9EB8-6FCAAB3FEB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7408" y="2713696"/>
            <a:ext cx="6525492" cy="777649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254603F-280C-ACDE-95DB-7D7FDD826C49}"/>
              </a:ext>
            </a:extLst>
          </p:cNvPr>
          <p:cNvSpPr txBox="1">
            <a:spLocks/>
          </p:cNvSpPr>
          <p:nvPr/>
        </p:nvSpPr>
        <p:spPr>
          <a:xfrm>
            <a:off x="6692900" y="1218333"/>
            <a:ext cx="5499100" cy="514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</a:t>
            </a:r>
            <a:r>
              <a:rPr lang="en-US" dirty="0">
                <a:solidFill>
                  <a:schemeClr val="accent1"/>
                </a:solidFill>
              </a:rPr>
              <a:t>subset </a:t>
            </a:r>
            <a:r>
              <a:rPr lang="en-US" dirty="0"/>
              <a:t>function is used to filter the cells</a:t>
            </a:r>
          </a:p>
          <a:p>
            <a:pPr lvl="1"/>
            <a:r>
              <a:rPr lang="en-US" dirty="0"/>
              <a:t>Number of genes expressed above 200</a:t>
            </a:r>
          </a:p>
          <a:p>
            <a:pPr lvl="1"/>
            <a:r>
              <a:rPr lang="en-US" dirty="0"/>
              <a:t>Number of genes expressed below 2500</a:t>
            </a:r>
          </a:p>
          <a:p>
            <a:pPr lvl="1"/>
            <a:r>
              <a:rPr lang="en-US" dirty="0"/>
              <a:t>Mitochondrial percentage &lt; 5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ncol</a:t>
            </a:r>
            <a:r>
              <a:rPr lang="en-US" dirty="0">
                <a:solidFill>
                  <a:schemeClr val="accent1"/>
                </a:solidFill>
              </a:rPr>
              <a:t>() </a:t>
            </a:r>
            <a:r>
              <a:rPr lang="en-US" dirty="0"/>
              <a:t>function will tell us how many cells are in the object</a:t>
            </a:r>
          </a:p>
          <a:p>
            <a:r>
              <a:rPr lang="en-US" dirty="0"/>
              <a:t>Filtering is performed to remove </a:t>
            </a:r>
            <a:r>
              <a:rPr lang="en-US" dirty="0">
                <a:solidFill>
                  <a:schemeClr val="accent1"/>
                </a:solidFill>
              </a:rPr>
              <a:t>low quality cells </a:t>
            </a:r>
            <a:r>
              <a:rPr lang="en-US" dirty="0"/>
              <a:t>and </a:t>
            </a:r>
            <a:r>
              <a:rPr lang="en-US" dirty="0">
                <a:solidFill>
                  <a:schemeClr val="accent1"/>
                </a:solidFill>
              </a:rPr>
              <a:t>artifacts</a:t>
            </a:r>
          </a:p>
        </p:txBody>
      </p:sp>
    </p:spTree>
    <p:extLst>
      <p:ext uri="{BB962C8B-B14F-4D97-AF65-F5344CB8AC3E}">
        <p14:creationId xmlns:p14="http://schemas.microsoft.com/office/powerpoint/2010/main" val="2951955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1083C-65B8-D717-6817-C93ABE8AB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Practice Question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E8B50-B59F-4740-A30E-367650FE2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6900" y="1079788"/>
            <a:ext cx="5499100" cy="5146675"/>
          </a:xfrm>
        </p:spPr>
        <p:txBody>
          <a:bodyPr/>
          <a:lstStyle/>
          <a:p>
            <a:r>
              <a:rPr lang="en-US" dirty="0"/>
              <a:t>Create variable </a:t>
            </a:r>
            <a:r>
              <a:rPr lang="en-US" dirty="0">
                <a:solidFill>
                  <a:schemeClr val="accent1"/>
                </a:solidFill>
              </a:rPr>
              <a:t>pbmc2</a:t>
            </a:r>
            <a:r>
              <a:rPr lang="en-US" dirty="0"/>
              <a:t>, where we filter </a:t>
            </a:r>
            <a:r>
              <a:rPr lang="en-US" dirty="0" err="1">
                <a:solidFill>
                  <a:schemeClr val="accent1"/>
                </a:solidFill>
              </a:rPr>
              <a:t>pbmc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using these parameters</a:t>
            </a:r>
          </a:p>
          <a:p>
            <a:pPr lvl="1"/>
            <a:r>
              <a:rPr lang="en-US" dirty="0"/>
              <a:t>Number of genes expressed above 500</a:t>
            </a:r>
          </a:p>
          <a:p>
            <a:pPr lvl="1"/>
            <a:r>
              <a:rPr lang="en-US" dirty="0"/>
              <a:t>Number of genes expressed below 2000</a:t>
            </a:r>
          </a:p>
          <a:p>
            <a:pPr lvl="1"/>
            <a:r>
              <a:rPr lang="en-US" dirty="0"/>
              <a:t>Percent mitochondria &lt; 4</a:t>
            </a:r>
          </a:p>
          <a:p>
            <a:r>
              <a:rPr lang="en-US" dirty="0"/>
              <a:t>How many more cells are in </a:t>
            </a:r>
            <a:r>
              <a:rPr lang="en-US" dirty="0" err="1">
                <a:solidFill>
                  <a:schemeClr val="accent1"/>
                </a:solidFill>
              </a:rPr>
              <a:t>pbmc</a:t>
            </a:r>
            <a:r>
              <a:rPr lang="en-US" dirty="0"/>
              <a:t> than </a:t>
            </a:r>
            <a:r>
              <a:rPr lang="en-US" dirty="0">
                <a:solidFill>
                  <a:schemeClr val="accent1"/>
                </a:solidFill>
              </a:rPr>
              <a:t>pbmc2</a:t>
            </a:r>
            <a:r>
              <a:rPr lang="en-US" dirty="0"/>
              <a:t>?</a:t>
            </a:r>
          </a:p>
          <a:p>
            <a:r>
              <a:rPr lang="en-US" dirty="0"/>
              <a:t>What percentage of the cells were filtered out?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673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6B601-F62F-A002-1364-D421D7150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989DB1-8F00-0C30-F5C4-5F7029AEF0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791690" y="1312191"/>
            <a:ext cx="6601691" cy="5082473"/>
          </a:xfrm>
        </p:spPr>
      </p:pic>
    </p:spTree>
    <p:extLst>
      <p:ext uri="{BB962C8B-B14F-4D97-AF65-F5344CB8AC3E}">
        <p14:creationId xmlns:p14="http://schemas.microsoft.com/office/powerpoint/2010/main" val="2712693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337D1-F98F-36BA-05CA-9739695D7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1"/>
                </a:solidFill>
              </a:rPr>
              <a:t>Normalizing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91140-C1F4-28F1-C31B-BA15E54144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Counts need to be </a:t>
            </a:r>
            <a:r>
              <a:rPr lang="en-US" dirty="0">
                <a:solidFill>
                  <a:schemeClr val="accent1"/>
                </a:solidFill>
              </a:rPr>
              <a:t>normalized</a:t>
            </a:r>
            <a:r>
              <a:rPr lang="en-US" dirty="0"/>
              <a:t> so that </a:t>
            </a:r>
            <a:r>
              <a:rPr lang="en-US" dirty="0">
                <a:solidFill>
                  <a:schemeClr val="accent1"/>
                </a:solidFill>
              </a:rPr>
              <a:t>expression</a:t>
            </a:r>
            <a:r>
              <a:rPr lang="en-US" dirty="0"/>
              <a:t> can be compared </a:t>
            </a:r>
            <a:r>
              <a:rPr lang="en-US" dirty="0">
                <a:solidFill>
                  <a:schemeClr val="accent1"/>
                </a:solidFill>
              </a:rPr>
              <a:t>across cells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Sequencing depth </a:t>
            </a:r>
            <a:r>
              <a:rPr lang="en-US" dirty="0"/>
              <a:t>can differ between cells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Highly expressed genes </a:t>
            </a:r>
            <a:r>
              <a:rPr lang="en-US" dirty="0"/>
              <a:t>can drown out biological signal</a:t>
            </a:r>
          </a:p>
          <a:p>
            <a:r>
              <a:rPr lang="en-US" dirty="0"/>
              <a:t>Normalizing for sequencing depth:</a:t>
            </a:r>
          </a:p>
          <a:p>
            <a:pPr lvl="1"/>
            <a:r>
              <a:rPr lang="en-US" dirty="0"/>
              <a:t>Divide expression for all cells by their total counts and multiply by scale factor</a:t>
            </a:r>
          </a:p>
          <a:p>
            <a:r>
              <a:rPr lang="en-US" dirty="0"/>
              <a:t>Reducing impact of highly expressed genes</a:t>
            </a:r>
          </a:p>
          <a:p>
            <a:pPr lvl="1"/>
            <a:r>
              <a:rPr lang="en-US" dirty="0"/>
              <a:t>Takes natural log of scale factored expression. </a:t>
            </a:r>
          </a:p>
          <a:p>
            <a:r>
              <a:rPr lang="en-US" dirty="0"/>
              <a:t>This is all done with the </a:t>
            </a:r>
            <a:r>
              <a:rPr lang="en-US" dirty="0" err="1">
                <a:solidFill>
                  <a:schemeClr val="accent1"/>
                </a:solidFill>
              </a:rPr>
              <a:t>NormalizeData</a:t>
            </a:r>
            <a:r>
              <a:rPr lang="en-US" dirty="0">
                <a:solidFill>
                  <a:schemeClr val="accent1"/>
                </a:solidFill>
              </a:rPr>
              <a:t>() </a:t>
            </a:r>
            <a:r>
              <a:rPr lang="en-US" dirty="0"/>
              <a:t>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8B735B-FF07-800B-04A4-B31CEEACC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9" y="2895038"/>
            <a:ext cx="6150841" cy="53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190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CCCDE-7CEB-20EA-5817-215416081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1"/>
                </a:solidFill>
              </a:rPr>
              <a:t>Finding Variable Genes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494A4B-124B-A16A-1A91-D19A14445E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80108" y="2237544"/>
            <a:ext cx="6100689" cy="1975460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6BAB42-54F8-8C0D-00F5-130E95E4DD6A}"/>
              </a:ext>
            </a:extLst>
          </p:cNvPr>
          <p:cNvSpPr txBox="1">
            <a:spLocks/>
          </p:cNvSpPr>
          <p:nvPr/>
        </p:nvSpPr>
        <p:spPr>
          <a:xfrm>
            <a:off x="6864927" y="1079788"/>
            <a:ext cx="5499100" cy="514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Highly variable genes capture biological differences strongly</a:t>
            </a:r>
          </a:p>
          <a:p>
            <a:r>
              <a:rPr lang="en-US" dirty="0"/>
              <a:t>Analyzing only variable genes reduces noise and helps with dimensionality reduction.</a:t>
            </a:r>
          </a:p>
        </p:txBody>
      </p:sp>
    </p:spTree>
    <p:extLst>
      <p:ext uri="{BB962C8B-B14F-4D97-AF65-F5344CB8AC3E}">
        <p14:creationId xmlns:p14="http://schemas.microsoft.com/office/powerpoint/2010/main" val="3629798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76102-875D-6DFD-4586-4BE9FB186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1"/>
                </a:solidFill>
              </a:rPr>
              <a:t>Scaling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A66B0-9E9E-42DE-9D46-13C2E9162D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ScaleData</a:t>
            </a:r>
            <a:r>
              <a:rPr lang="en-US" dirty="0"/>
              <a:t>() function scales the data so that each gene’s expression is on the same scale.</a:t>
            </a:r>
          </a:p>
          <a:p>
            <a:pPr lvl="1"/>
            <a:r>
              <a:rPr lang="en-US" dirty="0"/>
              <a:t>Centers expression for each gene at 0</a:t>
            </a:r>
          </a:p>
          <a:p>
            <a:pPr lvl="1"/>
            <a:r>
              <a:rPr lang="en-US" dirty="0"/>
              <a:t>Divides by standard deviation of that gene’s expression</a:t>
            </a:r>
          </a:p>
          <a:p>
            <a:r>
              <a:rPr lang="en-US" dirty="0"/>
              <a:t>This is important for dimensionality reduction so that each gene has equal importance.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EAFDDA-9744-E1FD-E193-429EB2F29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2457450"/>
            <a:ext cx="518160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723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C0876-78F1-3B58-7F06-003B7D8B4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1"/>
                </a:solidFill>
              </a:rPr>
              <a:t>Dimensionality Reduction - PCA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C2C68-68E6-D529-2B96-CEE8C167D0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PCA</a:t>
            </a:r>
            <a:r>
              <a:rPr lang="en-US" dirty="0"/>
              <a:t> reduces thousands of gene features into a few key components, making the data less noisy and easier to interpret. </a:t>
            </a:r>
          </a:p>
          <a:p>
            <a:pPr lvl="1"/>
            <a:r>
              <a:rPr lang="en-US" dirty="0"/>
              <a:t>Principal component: weighted combination of gene expression</a:t>
            </a:r>
          </a:p>
          <a:p>
            <a:pPr lvl="1"/>
            <a:r>
              <a:rPr lang="en-US" dirty="0"/>
              <a:t>PC1 explains the most variance in the data, PC2 explains the second most, etc.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52FA7F-2793-0D28-F6BD-8FD8AF4E9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68" y="2514600"/>
            <a:ext cx="5765369" cy="630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058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63247-5A7B-E460-55DF-92C13E712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1"/>
                </a:solidFill>
              </a:rPr>
              <a:t>Visualizations with PCA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C6630A-27CC-124A-CA1B-F61B27E2F0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2805" y="1504517"/>
            <a:ext cx="4368800" cy="5842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5EE971-A9F4-9E86-56F6-7F041B21A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805" y="2705728"/>
            <a:ext cx="3949700" cy="622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8175AC-0920-3297-673A-BA2690025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05" y="3910403"/>
            <a:ext cx="4787900" cy="647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6972C4C-AEBE-0648-7ECA-92046EDE0A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805" y="5170496"/>
            <a:ext cx="2324100" cy="62230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68FE13-1CD2-33B8-28BD-F88B4FF35D16}"/>
              </a:ext>
            </a:extLst>
          </p:cNvPr>
          <p:cNvSpPr txBox="1">
            <a:spLocks/>
          </p:cNvSpPr>
          <p:nvPr/>
        </p:nvSpPr>
        <p:spPr>
          <a:xfrm>
            <a:off x="6172200" y="1038224"/>
            <a:ext cx="5499100" cy="514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accent1"/>
                </a:solidFill>
              </a:rPr>
              <a:t>VizDimLoadings</a:t>
            </a:r>
            <a:r>
              <a:rPr lang="en-US" dirty="0">
                <a:solidFill>
                  <a:schemeClr val="accent1"/>
                </a:solidFill>
              </a:rPr>
              <a:t>() </a:t>
            </a:r>
            <a:r>
              <a:rPr lang="en-US" dirty="0"/>
              <a:t>– Plots the loadings/weights for the top genes for each principal component you specify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DimPlot</a:t>
            </a:r>
            <a:r>
              <a:rPr lang="en-US" dirty="0">
                <a:solidFill>
                  <a:schemeClr val="accent1"/>
                </a:solidFill>
              </a:rPr>
              <a:t>()</a:t>
            </a:r>
            <a:r>
              <a:rPr lang="en-US" dirty="0"/>
              <a:t> will plot the cells on an axis using two principal components 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DimHeatmap</a:t>
            </a:r>
            <a:r>
              <a:rPr lang="en-US" dirty="0">
                <a:solidFill>
                  <a:schemeClr val="accent1"/>
                </a:solidFill>
              </a:rPr>
              <a:t>() </a:t>
            </a:r>
            <a:r>
              <a:rPr lang="en-US" dirty="0"/>
              <a:t>creates a heatmap using top genes from a principal component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ElbowPlot</a:t>
            </a:r>
            <a:r>
              <a:rPr lang="en-US" dirty="0">
                <a:solidFill>
                  <a:schemeClr val="accent1"/>
                </a:solidFill>
              </a:rPr>
              <a:t>() </a:t>
            </a:r>
            <a:r>
              <a:rPr lang="en-US" dirty="0"/>
              <a:t>Plots the variance explained by each PC</a:t>
            </a:r>
          </a:p>
        </p:txBody>
      </p:sp>
    </p:spTree>
    <p:extLst>
      <p:ext uri="{BB962C8B-B14F-4D97-AF65-F5344CB8AC3E}">
        <p14:creationId xmlns:p14="http://schemas.microsoft.com/office/powerpoint/2010/main" val="4294089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62EE0-2DDA-C9A1-0456-03BB61913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09" y="677057"/>
            <a:ext cx="10515600" cy="750981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solidFill>
                  <a:schemeClr val="accent1"/>
                </a:solidFill>
              </a:rPr>
              <a:t>Choosing how many PCs to use in downstream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B42BD7-F9A6-543D-9669-8AB4C994364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56309" y="1848581"/>
            <a:ext cx="5499100" cy="3581381"/>
          </a:xfr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9EF8A4F-0755-3568-BDD2-EE9E724734F8}"/>
              </a:ext>
            </a:extLst>
          </p:cNvPr>
          <p:cNvSpPr txBox="1">
            <a:spLocks/>
          </p:cNvSpPr>
          <p:nvPr/>
        </p:nvSpPr>
        <p:spPr>
          <a:xfrm>
            <a:off x="6241472" y="1428038"/>
            <a:ext cx="5499100" cy="514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elbow plot can help you decide how many PCs to use. </a:t>
            </a:r>
          </a:p>
          <a:p>
            <a:r>
              <a:rPr lang="en-US" dirty="0"/>
              <a:t>There looks to be an elbow at around 10 PCs.</a:t>
            </a:r>
          </a:p>
          <a:p>
            <a:r>
              <a:rPr lang="en-US" dirty="0"/>
              <a:t>Majority of the true signal is likely captured in these first 10 PCs</a:t>
            </a:r>
          </a:p>
        </p:txBody>
      </p:sp>
    </p:spTree>
    <p:extLst>
      <p:ext uri="{BB962C8B-B14F-4D97-AF65-F5344CB8AC3E}">
        <p14:creationId xmlns:p14="http://schemas.microsoft.com/office/powerpoint/2010/main" val="16852847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255EF-AC20-3E6A-A884-8BE337C7F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1"/>
                </a:solidFill>
              </a:rPr>
              <a:t>Clustering the Cells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4F680-DFA3-EF69-D7E0-0B3EAE3BA68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/>
                </a:solidFill>
              </a:rPr>
              <a:t>FindNeighbors</a:t>
            </a:r>
            <a:r>
              <a:rPr lang="en-US" dirty="0">
                <a:solidFill>
                  <a:schemeClr val="accent1"/>
                </a:solidFill>
              </a:rPr>
              <a:t>() </a:t>
            </a:r>
            <a:r>
              <a:rPr lang="en-US" dirty="0"/>
              <a:t>builds a graph of cells based on how close they are in PCA space (who is nearest to who). 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FindClusters</a:t>
            </a:r>
            <a:r>
              <a:rPr lang="en-US" dirty="0">
                <a:solidFill>
                  <a:schemeClr val="accent1"/>
                </a:solidFill>
              </a:rPr>
              <a:t>() </a:t>
            </a:r>
            <a:r>
              <a:rPr lang="en-US" dirty="0"/>
              <a:t>then groups those cells into clusters the nearest neighbors graph.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077B3D-E659-90AB-366C-5395D7D6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66" y="2851439"/>
            <a:ext cx="5537251" cy="115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33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96A9F-5467-C41B-724B-3839A6B2D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087FE-E0D5-5780-5438-30B50EDE3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1"/>
                </a:solidFill>
              </a:rPr>
              <a:t>Clustering the Cells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7179B-593C-CEA6-66BD-684CA3922D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Note that with </a:t>
            </a:r>
            <a:r>
              <a:rPr lang="en-US" dirty="0" err="1">
                <a:solidFill>
                  <a:schemeClr val="accent1"/>
                </a:solidFill>
              </a:rPr>
              <a:t>FindNeighbors</a:t>
            </a:r>
            <a:r>
              <a:rPr lang="en-US" dirty="0">
                <a:solidFill>
                  <a:schemeClr val="accent1"/>
                </a:solidFill>
              </a:rPr>
              <a:t>()</a:t>
            </a:r>
            <a:r>
              <a:rPr lang="en-US" dirty="0"/>
              <a:t>, you need to specify which PCs to use. </a:t>
            </a:r>
          </a:p>
          <a:p>
            <a:pPr lvl="1"/>
            <a:r>
              <a:rPr lang="en-US" dirty="0"/>
              <a:t>Based on the elbow plot, we will use PCs 1-10</a:t>
            </a:r>
          </a:p>
          <a:p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With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FindClusters</a:t>
            </a:r>
            <a:r>
              <a:rPr lang="en-US" dirty="0">
                <a:solidFill>
                  <a:schemeClr val="accent1"/>
                </a:solidFill>
              </a:rPr>
              <a:t>, </a:t>
            </a:r>
            <a:r>
              <a:rPr lang="en-US" dirty="0"/>
              <a:t>you need to specify resolution. </a:t>
            </a:r>
          </a:p>
          <a:p>
            <a:pPr lvl="1"/>
            <a:r>
              <a:rPr lang="en-US" dirty="0"/>
              <a:t>Higher resolution gives more clusters</a:t>
            </a:r>
          </a:p>
          <a:p>
            <a:pPr lvl="1"/>
            <a:r>
              <a:rPr lang="en-US" dirty="0"/>
              <a:t>Lower resolution gives less clusters</a:t>
            </a:r>
          </a:p>
          <a:p>
            <a:r>
              <a:rPr lang="en-US" dirty="0"/>
              <a:t>Number of clusters depends on study goals/shape of UMAP/known markers that should cluster separately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79354B-6787-0B7C-1C54-A941DE27E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66" y="2851439"/>
            <a:ext cx="5537251" cy="115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4488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69930-A548-E3B7-808F-F63E16DF3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1"/>
                </a:solidFill>
              </a:rPr>
              <a:t>Clustering the cells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3B827-6F0B-4C5D-B626-B588C747BE7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Clustering the cells will </a:t>
            </a:r>
            <a:r>
              <a:rPr lang="en-US" dirty="0">
                <a:solidFill>
                  <a:schemeClr val="accent1"/>
                </a:solidFill>
              </a:rPr>
              <a:t>change the </a:t>
            </a:r>
            <a:r>
              <a:rPr lang="en-US" dirty="0" err="1">
                <a:solidFill>
                  <a:schemeClr val="accent1"/>
                </a:solidFill>
              </a:rPr>
              <a:t>active.ident</a:t>
            </a:r>
            <a:r>
              <a:rPr lang="en-US" dirty="0"/>
              <a:t> (identity) of the cells</a:t>
            </a:r>
          </a:p>
          <a:p>
            <a:r>
              <a:rPr lang="en-US" dirty="0"/>
              <a:t>The violin plot we made before is now split between cluster identities</a:t>
            </a:r>
          </a:p>
          <a:p>
            <a:r>
              <a:rPr lang="en-US" dirty="0"/>
              <a:t>head(</a:t>
            </a:r>
            <a:r>
              <a:rPr lang="en-US" dirty="0">
                <a:hlinkClick r:id="rId2"/>
              </a:rPr>
              <a:t>pbmc@active.ident</a:t>
            </a:r>
            <a:r>
              <a:rPr lang="en-US" dirty="0"/>
              <a:t>) can tell us what the active identity 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AA8797-1617-5211-38BA-A7E590BF1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41" y="1796286"/>
            <a:ext cx="5787159" cy="326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676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02453-98F9-5771-5A08-BBC709E7F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1"/>
                </a:solidFill>
              </a:rPr>
              <a:t>UMAP – Non-linear dimensionality reduction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35C057-3116-8859-0EDE-1F80EAC08C8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1502887"/>
            <a:ext cx="6725373" cy="1101767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DF80D3C-74CF-0413-A8BF-97624B41EF09}"/>
              </a:ext>
            </a:extLst>
          </p:cNvPr>
          <p:cNvSpPr txBox="1">
            <a:spLocks/>
          </p:cNvSpPr>
          <p:nvPr/>
        </p:nvSpPr>
        <p:spPr>
          <a:xfrm>
            <a:off x="6823363" y="1056552"/>
            <a:ext cx="5499100" cy="514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accent1"/>
                </a:solidFill>
              </a:rPr>
              <a:t>UMAP</a:t>
            </a:r>
            <a:r>
              <a:rPr lang="en-US" dirty="0"/>
              <a:t> learns the structure of the data and projects it into 2D for visualization. </a:t>
            </a:r>
          </a:p>
          <a:p>
            <a:r>
              <a:rPr lang="en-US" dirty="0"/>
              <a:t>It combines PCA-reduced information with neighbor relationships to preserve similarity between cells.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6F3C90-B031-DD5F-0641-C0D0F01F6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81" y="2877372"/>
            <a:ext cx="5942445" cy="367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736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6BC47-5402-B6BA-6613-9F4B0662F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u="sng" dirty="0" err="1">
                <a:solidFill>
                  <a:schemeClr val="accent1"/>
                </a:solidFill>
              </a:rPr>
              <a:t>RunUMAP</a:t>
            </a:r>
            <a:r>
              <a:rPr lang="en-US" u="sng" dirty="0">
                <a:solidFill>
                  <a:schemeClr val="accent1"/>
                </a:solidFill>
              </a:rPr>
              <a:t> – </a:t>
            </a:r>
            <a:r>
              <a:rPr lang="en-US" u="sng" dirty="0" err="1">
                <a:solidFill>
                  <a:schemeClr val="accent1"/>
                </a:solidFill>
              </a:rPr>
              <a:t>min.dist</a:t>
            </a:r>
            <a:r>
              <a:rPr lang="en-US" u="sng" dirty="0">
                <a:solidFill>
                  <a:schemeClr val="accent1"/>
                </a:solidFill>
              </a:rPr>
              <a:t> and </a:t>
            </a:r>
            <a:r>
              <a:rPr lang="en-US" u="sng" dirty="0" err="1">
                <a:solidFill>
                  <a:schemeClr val="accent1"/>
                </a:solidFill>
              </a:rPr>
              <a:t>n.neighbors</a:t>
            </a:r>
            <a:r>
              <a:rPr lang="en-US" u="sng" dirty="0">
                <a:solidFill>
                  <a:schemeClr val="accent1"/>
                </a:solidFill>
              </a:rPr>
              <a:t> parameters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1BEEE-1108-D2BB-DC7E-4C5B3954089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/>
                </a:solidFill>
              </a:rPr>
              <a:t>n.neighbors</a:t>
            </a:r>
            <a:r>
              <a:rPr lang="en-US" dirty="0">
                <a:solidFill>
                  <a:schemeClr val="accent1"/>
                </a:solidFill>
              </a:rPr>
              <a:t>: </a:t>
            </a:r>
            <a:r>
              <a:rPr lang="en-US" dirty="0"/>
              <a:t>neighbors used for graph. </a:t>
            </a:r>
          </a:p>
          <a:p>
            <a:pPr lvl="1"/>
            <a:r>
              <a:rPr lang="en-US" dirty="0"/>
              <a:t>Small = local detail</a:t>
            </a:r>
          </a:p>
          <a:p>
            <a:pPr lvl="1"/>
            <a:r>
              <a:rPr lang="en-US" dirty="0"/>
              <a:t>Large = global structure. 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min.dist</a:t>
            </a:r>
            <a:r>
              <a:rPr lang="en-US" dirty="0"/>
              <a:t>: spacing of points. </a:t>
            </a:r>
          </a:p>
          <a:p>
            <a:pPr lvl="1"/>
            <a:r>
              <a:rPr lang="en-US" dirty="0"/>
              <a:t>Small = tight clusters</a:t>
            </a:r>
          </a:p>
          <a:p>
            <a:pPr lvl="1"/>
            <a:r>
              <a:rPr lang="en-US" dirty="0"/>
              <a:t>Large = spread out clusters.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2CE449-2E8C-DBA9-E343-455DAC0F0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837" y="1268917"/>
            <a:ext cx="3537338" cy="521125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15EA3F1-7BF9-496A-E779-F56315277A61}"/>
              </a:ext>
            </a:extLst>
          </p:cNvPr>
          <p:cNvSpPr/>
          <p:nvPr/>
        </p:nvSpPr>
        <p:spPr>
          <a:xfrm>
            <a:off x="1828800" y="4812030"/>
            <a:ext cx="2205990" cy="2171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15A9F8-BA3C-AC83-7EB3-F4DB227B00B7}"/>
              </a:ext>
            </a:extLst>
          </p:cNvPr>
          <p:cNvSpPr/>
          <p:nvPr/>
        </p:nvSpPr>
        <p:spPr>
          <a:xfrm>
            <a:off x="1706880" y="6234429"/>
            <a:ext cx="2205990" cy="2171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1154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6C327-247D-4EFF-675B-5739A9E4C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0981"/>
          </a:xfrm>
        </p:spPr>
        <p:txBody>
          <a:bodyPr/>
          <a:lstStyle/>
          <a:p>
            <a:r>
              <a:rPr lang="en-US" u="sng" dirty="0">
                <a:solidFill>
                  <a:schemeClr val="accent1"/>
                </a:solidFill>
              </a:rPr>
              <a:t>Find Markers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E33169-70C8-57E9-D287-DF5F885CFF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5217" y="887506"/>
            <a:ext cx="6139803" cy="2886872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BD5C7AE-B3E2-C9C0-25AF-1DD56C995F0E}"/>
              </a:ext>
            </a:extLst>
          </p:cNvPr>
          <p:cNvSpPr txBox="1">
            <a:spLocks/>
          </p:cNvSpPr>
          <p:nvPr/>
        </p:nvSpPr>
        <p:spPr>
          <a:xfrm>
            <a:off x="6692900" y="1132753"/>
            <a:ext cx="5499100" cy="514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accent1"/>
                </a:solidFill>
              </a:rPr>
              <a:t>FindMarkers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tells you which genes are differentially expressed in a certain cluster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FindAllMarkers</a:t>
            </a:r>
            <a:r>
              <a:rPr lang="en-US" dirty="0"/>
              <a:t> tells you which genes are differentially expressed in all clusters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105FE0-9D84-6D18-11E4-29B7613ED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7" y="3706091"/>
            <a:ext cx="6225021" cy="315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2945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637C2-4CFC-E4C4-EAC1-1F648675D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1"/>
                </a:solidFill>
              </a:rPr>
              <a:t>Feature Plotting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49D5F4-45E4-A9F8-E045-337B1DD246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00313" y="1147546"/>
            <a:ext cx="5499100" cy="74622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E53483-BA4F-5B52-1040-B2F5219B3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13" y="2328718"/>
            <a:ext cx="6492587" cy="622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D00C81-6EFF-5F28-5A0D-9C8ABB1F0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313" y="3881582"/>
            <a:ext cx="4889500" cy="172720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9CB5E03-A3BE-7F09-360F-87D57F9299E2}"/>
              </a:ext>
            </a:extLst>
          </p:cNvPr>
          <p:cNvSpPr txBox="1">
            <a:spLocks/>
          </p:cNvSpPr>
          <p:nvPr/>
        </p:nvSpPr>
        <p:spPr>
          <a:xfrm>
            <a:off x="6692900" y="1132753"/>
            <a:ext cx="5499100" cy="514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 can plot certain features on violin plots, UMAP, and heatmap.</a:t>
            </a:r>
          </a:p>
          <a:p>
            <a:pPr lvl="1"/>
            <a:r>
              <a:rPr lang="en-US" dirty="0"/>
              <a:t>Specify features = c(“Gene1”, “Gene2”,…)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3820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9D96A-C9B9-8F7B-9C7E-EC5FEFCD1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1"/>
                </a:solidFill>
              </a:rPr>
              <a:t>Assigning Cell Types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C7F7CD-65AF-0480-40FD-805897C82BA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9467" y="887506"/>
            <a:ext cx="4139379" cy="2632221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B577017-D5D5-A89C-653D-BC2F441ED817}"/>
              </a:ext>
            </a:extLst>
          </p:cNvPr>
          <p:cNvSpPr txBox="1">
            <a:spLocks/>
          </p:cNvSpPr>
          <p:nvPr/>
        </p:nvSpPr>
        <p:spPr>
          <a:xfrm>
            <a:off x="6235700" y="1160462"/>
            <a:ext cx="5499100" cy="514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Dot plots are a good way to visualize expression of pre-defined cell-type markers</a:t>
            </a:r>
          </a:p>
          <a:p>
            <a:pPr lvl="1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DCC285-4462-FE65-4D41-86DF1AEAA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67" y="3526931"/>
            <a:ext cx="5043301" cy="333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4426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2C6C8-F9CC-F2FF-CB5F-F9E13277B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1"/>
                </a:solidFill>
              </a:rPr>
              <a:t>Assigning Cell Types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8F5944D-F3C0-BEED-C9B8-0BF1A4E3088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42455" y="1316916"/>
            <a:ext cx="6331922" cy="1232320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00A0BC-5207-3C11-792B-61A1FF134E9B}"/>
              </a:ext>
            </a:extLst>
          </p:cNvPr>
          <p:cNvSpPr txBox="1">
            <a:spLocks/>
          </p:cNvSpPr>
          <p:nvPr/>
        </p:nvSpPr>
        <p:spPr>
          <a:xfrm>
            <a:off x="6692900" y="1132753"/>
            <a:ext cx="5499100" cy="514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The new cluster ids are stored as a list corresponding to cluster number.</a:t>
            </a:r>
          </a:p>
          <a:p>
            <a:r>
              <a:rPr lang="en-US" dirty="0"/>
              <a:t>The names of the identity of the cells is then changed to reflect the cell type rather than the cluster number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F9AFF8-9B9E-70D0-387D-5C2D54A82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260" y="2798537"/>
            <a:ext cx="6022686" cy="379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2781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D6CBD-152D-7B55-4213-16F4259C8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chemeClr val="accent1"/>
                </a:solidFill>
              </a:rPr>
              <a:t>Saving/reading object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9B3874-8230-A66A-47BE-956D95D5CE0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25582" y="2439950"/>
            <a:ext cx="5958136" cy="989050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00609E5-C8FA-A42E-692D-013D8281A95C}"/>
              </a:ext>
            </a:extLst>
          </p:cNvPr>
          <p:cNvSpPr txBox="1">
            <a:spLocks/>
          </p:cNvSpPr>
          <p:nvPr/>
        </p:nvSpPr>
        <p:spPr>
          <a:xfrm>
            <a:off x="6692900" y="1132753"/>
            <a:ext cx="5499100" cy="5146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 objects can be saved as “.</a:t>
            </a:r>
            <a:r>
              <a:rPr lang="en-US" dirty="0" err="1"/>
              <a:t>rds</a:t>
            </a:r>
            <a:r>
              <a:rPr lang="en-US" dirty="0"/>
              <a:t>” files.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saveRDS</a:t>
            </a:r>
            <a:r>
              <a:rPr lang="en-US" dirty="0">
                <a:solidFill>
                  <a:schemeClr val="accent1"/>
                </a:solidFill>
              </a:rPr>
              <a:t>() </a:t>
            </a:r>
            <a:r>
              <a:rPr lang="en-US" dirty="0"/>
              <a:t>takes in an object and a path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readRDS</a:t>
            </a:r>
            <a:r>
              <a:rPr lang="en-US" dirty="0">
                <a:solidFill>
                  <a:schemeClr val="accent1"/>
                </a:solidFill>
              </a:rPr>
              <a:t>() </a:t>
            </a:r>
            <a:r>
              <a:rPr lang="en-US" dirty="0"/>
              <a:t>will read in an object from a path</a:t>
            </a:r>
          </a:p>
        </p:txBody>
      </p:sp>
    </p:spTree>
    <p:extLst>
      <p:ext uri="{BB962C8B-B14F-4D97-AF65-F5344CB8AC3E}">
        <p14:creationId xmlns:p14="http://schemas.microsoft.com/office/powerpoint/2010/main" val="27203124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C4FDBE2-32F7-4AC4-A40C-C51C65B1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E2B33195-5BCA-4BB7-A82D-67395226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604789">
            <a:off x="675639" y="775849"/>
            <a:ext cx="2987899" cy="2987899"/>
          </a:xfrm>
          <a:prstGeom prst="arc">
            <a:avLst>
              <a:gd name="adj1" fmla="val 14455503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7FFEF3-5230-94AF-4504-3A9C7DD75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3567" y="3916629"/>
            <a:ext cx="3828239" cy="1723629"/>
          </a:xfrm>
        </p:spPr>
        <p:txBody>
          <a:bodyPr>
            <a:noAutofit/>
          </a:bodyPr>
          <a:lstStyle/>
          <a:p>
            <a:pPr algn="l"/>
            <a:r>
              <a:rPr lang="en-US" sz="2800" b="1" i="0" dirty="0">
                <a:solidFill>
                  <a:schemeClr val="accent4"/>
                </a:solidFill>
                <a:effectLst/>
              </a:rPr>
              <a:t>Your feedback ensures we provide you with the best </a:t>
            </a:r>
            <a:r>
              <a:rPr lang="en-US" sz="2800" b="1" dirty="0">
                <a:solidFill>
                  <a:schemeClr val="accent4"/>
                </a:solidFill>
              </a:rPr>
              <a:t>content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F8AD9F3-9AF6-494F-83A3-2F6775639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5976" y="2130090"/>
            <a:ext cx="457824" cy="44540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1156773-3FB3-46D9-9F87-821287404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3872" y="3116072"/>
            <a:ext cx="4378128" cy="3741928"/>
          </a:xfrm>
          <a:custGeom>
            <a:avLst/>
            <a:gdLst>
              <a:gd name="connsiteX0" fmla="*/ 2605183 w 4378128"/>
              <a:gd name="connsiteY0" fmla="*/ 0 h 3741928"/>
              <a:gd name="connsiteX1" fmla="*/ 4262321 w 4378128"/>
              <a:gd name="connsiteY1" fmla="*/ 594897 h 3741928"/>
              <a:gd name="connsiteX2" fmla="*/ 4378128 w 4378128"/>
              <a:gd name="connsiteY2" fmla="*/ 700149 h 3741928"/>
              <a:gd name="connsiteX3" fmla="*/ 4378128 w 4378128"/>
              <a:gd name="connsiteY3" fmla="*/ 3741928 h 3741928"/>
              <a:gd name="connsiteX4" fmla="*/ 263831 w 4378128"/>
              <a:gd name="connsiteY4" fmla="*/ 3741928 h 3741928"/>
              <a:gd name="connsiteX5" fmla="*/ 204729 w 4378128"/>
              <a:gd name="connsiteY5" fmla="*/ 3619238 h 3741928"/>
              <a:gd name="connsiteX6" fmla="*/ 0 w 4378128"/>
              <a:gd name="connsiteY6" fmla="*/ 2605183 h 3741928"/>
              <a:gd name="connsiteX7" fmla="*/ 2605183 w 4378128"/>
              <a:gd name="connsiteY7" fmla="*/ 0 h 3741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8128" h="3741928">
                <a:moveTo>
                  <a:pt x="2605183" y="0"/>
                </a:moveTo>
                <a:cubicBezTo>
                  <a:pt x="3234659" y="0"/>
                  <a:pt x="3811992" y="223253"/>
                  <a:pt x="4262321" y="594897"/>
                </a:cubicBezTo>
                <a:lnTo>
                  <a:pt x="4378128" y="700149"/>
                </a:lnTo>
                <a:lnTo>
                  <a:pt x="4378128" y="3741928"/>
                </a:lnTo>
                <a:lnTo>
                  <a:pt x="263831" y="3741928"/>
                </a:lnTo>
                <a:lnTo>
                  <a:pt x="204729" y="3619238"/>
                </a:lnTo>
                <a:cubicBezTo>
                  <a:pt x="72899" y="3307558"/>
                  <a:pt x="0" y="2964884"/>
                  <a:pt x="0" y="2605183"/>
                </a:cubicBezTo>
                <a:cubicBezTo>
                  <a:pt x="0" y="1166380"/>
                  <a:pt x="1166380" y="0"/>
                  <a:pt x="260518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8EA24D0-C854-4AA8-B8FD-D252660D8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99731" y="1"/>
            <a:ext cx="4208478" cy="3678281"/>
          </a:xfrm>
          <a:custGeom>
            <a:avLst/>
            <a:gdLst>
              <a:gd name="connsiteX0" fmla="*/ 711074 w 4208478"/>
              <a:gd name="connsiteY0" fmla="*/ 0 h 3678281"/>
              <a:gd name="connsiteX1" fmla="*/ 3497404 w 4208478"/>
              <a:gd name="connsiteY1" fmla="*/ 0 h 3678281"/>
              <a:gd name="connsiteX2" fmla="*/ 3592161 w 4208478"/>
              <a:gd name="connsiteY2" fmla="*/ 86120 h 3678281"/>
              <a:gd name="connsiteX3" fmla="*/ 4208478 w 4208478"/>
              <a:gd name="connsiteY3" fmla="*/ 1574042 h 3678281"/>
              <a:gd name="connsiteX4" fmla="*/ 2104239 w 4208478"/>
              <a:gd name="connsiteY4" fmla="*/ 3678281 h 3678281"/>
              <a:gd name="connsiteX5" fmla="*/ 0 w 4208478"/>
              <a:gd name="connsiteY5" fmla="*/ 1574042 h 3678281"/>
              <a:gd name="connsiteX6" fmla="*/ 616318 w 4208478"/>
              <a:gd name="connsiteY6" fmla="*/ 86120 h 3678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08478" h="3678281">
                <a:moveTo>
                  <a:pt x="711074" y="0"/>
                </a:moveTo>
                <a:lnTo>
                  <a:pt x="3497404" y="0"/>
                </a:lnTo>
                <a:lnTo>
                  <a:pt x="3592161" y="86120"/>
                </a:lnTo>
                <a:cubicBezTo>
                  <a:pt x="3972953" y="466913"/>
                  <a:pt x="4208478" y="992973"/>
                  <a:pt x="4208478" y="1574042"/>
                </a:cubicBezTo>
                <a:cubicBezTo>
                  <a:pt x="4208478" y="2736181"/>
                  <a:pt x="3266378" y="3678281"/>
                  <a:pt x="2104239" y="3678281"/>
                </a:cubicBezTo>
                <a:cubicBezTo>
                  <a:pt x="942100" y="3678281"/>
                  <a:pt x="0" y="2736181"/>
                  <a:pt x="0" y="1574042"/>
                </a:cubicBezTo>
                <a:cubicBezTo>
                  <a:pt x="0" y="992973"/>
                  <a:pt x="235525" y="466913"/>
                  <a:pt x="616318" y="861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5230F5-F8A1-0ABF-BB95-A654A12059C2}"/>
              </a:ext>
            </a:extLst>
          </p:cNvPr>
          <p:cNvSpPr txBox="1"/>
          <p:nvPr/>
        </p:nvSpPr>
        <p:spPr>
          <a:xfrm>
            <a:off x="1423568" y="2238908"/>
            <a:ext cx="38282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Please scan the QR code to take our 1-minute survey!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48689053-6B73-F031-20E0-B634F8EAABC2}"/>
              </a:ext>
            </a:extLst>
          </p:cNvPr>
          <p:cNvSpPr/>
          <p:nvPr/>
        </p:nvSpPr>
        <p:spPr>
          <a:xfrm rot="5400000">
            <a:off x="2659222" y="370080"/>
            <a:ext cx="1060704" cy="91440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Graphic 20" descr="Idea outline">
            <a:extLst>
              <a:ext uri="{FF2B5EF4-FFF2-40B4-BE49-F238E27FC236}">
                <a16:creationId xmlns:a16="http://schemas.microsoft.com/office/drawing/2014/main" id="{CCC82D9D-4D7D-96C8-2CBC-9104B966C2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3431495" y="5186853"/>
            <a:ext cx="475441" cy="475441"/>
          </a:xfrm>
          <a:prstGeom prst="rect">
            <a:avLst/>
          </a:prstGeom>
        </p:spPr>
      </p:pic>
      <p:pic>
        <p:nvPicPr>
          <p:cNvPr id="11" name="Picture 10" descr="A blue circular pattern on a black background&#10;&#10;AI-generated content may be incorrect.">
            <a:extLst>
              <a:ext uri="{FF2B5EF4-FFF2-40B4-BE49-F238E27FC236}">
                <a16:creationId xmlns:a16="http://schemas.microsoft.com/office/drawing/2014/main" id="{EA5D7BAB-06E7-9A2D-26F7-BDC8A21294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7608" y="3916629"/>
            <a:ext cx="2743200" cy="266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2A8716-123F-6C2E-5A6C-EA023AE1C2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9148" y="394037"/>
            <a:ext cx="2407402" cy="2366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474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Custom 22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4982"/>
      </a:accent2>
      <a:accent3>
        <a:srgbClr val="FFFFFF"/>
      </a:accent3>
      <a:accent4>
        <a:srgbClr val="FFFFFF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1496</Words>
  <Application>Microsoft Macintosh PowerPoint</Application>
  <PresentationFormat>Widescreen</PresentationFormat>
  <Paragraphs>190</Paragraphs>
  <Slides>36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Office Theme</vt:lpstr>
      <vt:lpstr>1_Office Theme</vt:lpstr>
      <vt:lpstr>Core Knowledge Series: Hands-On with Seurat  </vt:lpstr>
      <vt:lpstr>R Studio and R</vt:lpstr>
      <vt:lpstr>R Studio</vt:lpstr>
      <vt:lpstr>Libraries in R</vt:lpstr>
      <vt:lpstr>Basic syntax – Variables and Functions</vt:lpstr>
      <vt:lpstr>Basic syntax – Variables and Functions</vt:lpstr>
      <vt:lpstr>Using the help operator</vt:lpstr>
      <vt:lpstr>Seurat</vt:lpstr>
      <vt:lpstr>Seurat Object</vt:lpstr>
      <vt:lpstr>Our PBMC Seurat Object</vt:lpstr>
      <vt:lpstr>R syntax with Seurat Object</vt:lpstr>
      <vt:lpstr>Seurat workflow</vt:lpstr>
      <vt:lpstr>Creating the Seurat Object</vt:lpstr>
      <vt:lpstr>Quality Control</vt:lpstr>
      <vt:lpstr>Practice Question</vt:lpstr>
      <vt:lpstr>Quality Control</vt:lpstr>
      <vt:lpstr>Filtering</vt:lpstr>
      <vt:lpstr>Practice Question </vt:lpstr>
      <vt:lpstr>Solution</vt:lpstr>
      <vt:lpstr>Normalizing Data</vt:lpstr>
      <vt:lpstr>Finding Variable Genes</vt:lpstr>
      <vt:lpstr>Scaling Data</vt:lpstr>
      <vt:lpstr>Dimensionality Reduction - PCA</vt:lpstr>
      <vt:lpstr>Visualizations with PCA</vt:lpstr>
      <vt:lpstr>Choosing how many PCs to use in downstream analysis</vt:lpstr>
      <vt:lpstr>Clustering the Cells</vt:lpstr>
      <vt:lpstr>Clustering the Cells</vt:lpstr>
      <vt:lpstr>Clustering the cells</vt:lpstr>
      <vt:lpstr>UMAP – Non-linear dimensionality reduction</vt:lpstr>
      <vt:lpstr>RunUMAP – min.dist and n.neighbors parameters</vt:lpstr>
      <vt:lpstr>Find Markers</vt:lpstr>
      <vt:lpstr>Feature Plotting</vt:lpstr>
      <vt:lpstr>Assigning Cell Types</vt:lpstr>
      <vt:lpstr>Assigning Cell Types</vt:lpstr>
      <vt:lpstr>Saving/reading object</vt:lpstr>
      <vt:lpstr>Your feedback ensures we provide you with the best 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Rouse</dc:creator>
  <cp:lastModifiedBy>James Rouse</cp:lastModifiedBy>
  <cp:revision>9</cp:revision>
  <dcterms:created xsi:type="dcterms:W3CDTF">2025-10-07T18:19:35Z</dcterms:created>
  <dcterms:modified xsi:type="dcterms:W3CDTF">2025-10-14T16:52:17Z</dcterms:modified>
</cp:coreProperties>
</file>