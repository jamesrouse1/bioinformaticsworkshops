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56" r:id="rId2"/>
    <p:sldId id="257" r:id="rId3"/>
    <p:sldId id="258" r:id="rId4"/>
    <p:sldId id="266" r:id="rId5"/>
    <p:sldId id="259" r:id="rId6"/>
    <p:sldId id="267" r:id="rId7"/>
    <p:sldId id="260" r:id="rId8"/>
    <p:sldId id="261" r:id="rId9"/>
    <p:sldId id="270" r:id="rId10"/>
    <p:sldId id="268" r:id="rId11"/>
    <p:sldId id="269" r:id="rId12"/>
    <p:sldId id="262" r:id="rId13"/>
    <p:sldId id="263" r:id="rId14"/>
    <p:sldId id="264" r:id="rId15"/>
    <p:sldId id="26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49"/>
    <p:restoredTop sz="94744"/>
  </p:normalViewPr>
  <p:slideViewPr>
    <p:cSldViewPr snapToGrid="0">
      <p:cViewPr varScale="1">
        <p:scale>
          <a:sx n="116" d="100"/>
          <a:sy n="116" d="100"/>
        </p:scale>
        <p:origin x="40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ECDCF0-6690-BE46-A783-BCE04B085DEA}" type="datetimeFigureOut">
              <a:rPr lang="en-US" smtClean="0"/>
              <a:t>1/29/25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035BCC-609E-4644-96A4-D53E11970F87}" type="slidenum">
              <a:rPr lang="en-US" smtClean="0"/>
              <a:t>‹#›</a:t>
            </a:fld>
            <a:endParaRPr lang="en-US"/>
          </a:p>
        </p:txBody>
      </p:sp>
    </p:spTree>
    <p:extLst>
      <p:ext uri="{BB962C8B-B14F-4D97-AF65-F5344CB8AC3E}">
        <p14:creationId xmlns:p14="http://schemas.microsoft.com/office/powerpoint/2010/main" val="3234981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Scrublet</a:t>
            </a:r>
            <a:r>
              <a:rPr lang="en-US" dirty="0"/>
              <a:t> used in Seurat and </a:t>
            </a:r>
            <a:r>
              <a:rPr lang="en-US" dirty="0" err="1"/>
              <a:t>scanpy</a:t>
            </a:r>
            <a:endParaRPr lang="en-US" dirty="0"/>
          </a:p>
        </p:txBody>
      </p:sp>
      <p:sp>
        <p:nvSpPr>
          <p:cNvPr id="4" name="Slide Number Placeholder 3"/>
          <p:cNvSpPr>
            <a:spLocks noGrp="1"/>
          </p:cNvSpPr>
          <p:nvPr>
            <p:ph type="sldNum" sz="quarter" idx="5"/>
          </p:nvPr>
        </p:nvSpPr>
        <p:spPr/>
        <p:txBody>
          <a:bodyPr/>
          <a:lstStyle/>
          <a:p>
            <a:fld id="{92035BCC-609E-4644-96A4-D53E11970F87}" type="slidenum">
              <a:rPr lang="en-US" smtClean="0"/>
              <a:t>3</a:t>
            </a:fld>
            <a:endParaRPr lang="en-US"/>
          </a:p>
        </p:txBody>
      </p:sp>
    </p:spTree>
    <p:extLst>
      <p:ext uri="{BB962C8B-B14F-4D97-AF65-F5344CB8AC3E}">
        <p14:creationId xmlns:p14="http://schemas.microsoft.com/office/powerpoint/2010/main" val="126946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1/29/25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1/29/25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1/29/25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1/29/25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1/29/25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1/29/25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1/29/25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1/29/25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1/29/25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nature.com/articles/s41576-023-00586-w"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enomebiology.biomedcentral.com/articles/10.1186/s13059-022-02622-0"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B477F-95EA-0FA8-3064-557EA5C6FDD1}"/>
              </a:ext>
            </a:extLst>
          </p:cNvPr>
          <p:cNvSpPr>
            <a:spLocks noGrp="1"/>
          </p:cNvSpPr>
          <p:nvPr>
            <p:ph type="ctrTitle"/>
          </p:nvPr>
        </p:nvSpPr>
        <p:spPr/>
        <p:txBody>
          <a:bodyPr/>
          <a:lstStyle/>
          <a:p>
            <a:r>
              <a:rPr lang="en-US" dirty="0"/>
              <a:t>Single-Cell RNA-seq best practices</a:t>
            </a:r>
          </a:p>
        </p:txBody>
      </p:sp>
      <p:sp>
        <p:nvSpPr>
          <p:cNvPr id="3" name="Subtitle 2">
            <a:extLst>
              <a:ext uri="{FF2B5EF4-FFF2-40B4-BE49-F238E27FC236}">
                <a16:creationId xmlns:a16="http://schemas.microsoft.com/office/drawing/2014/main" id="{34DDAC12-10A3-E513-C0E0-2D0D08CA9A64}"/>
              </a:ext>
            </a:extLst>
          </p:cNvPr>
          <p:cNvSpPr>
            <a:spLocks noGrp="1"/>
          </p:cNvSpPr>
          <p:nvPr>
            <p:ph type="subTitle" idx="1"/>
          </p:nvPr>
        </p:nvSpPr>
        <p:spPr/>
        <p:txBody>
          <a:bodyPr/>
          <a:lstStyle/>
          <a:p>
            <a:r>
              <a:rPr lang="en-US" dirty="0"/>
              <a:t>James Rouse</a:t>
            </a:r>
          </a:p>
        </p:txBody>
      </p:sp>
    </p:spTree>
    <p:extLst>
      <p:ext uri="{BB962C8B-B14F-4D97-AF65-F5344CB8AC3E}">
        <p14:creationId xmlns:p14="http://schemas.microsoft.com/office/powerpoint/2010/main" val="2462461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3A951-00C1-5852-74C7-8C8507B218C1}"/>
              </a:ext>
            </a:extLst>
          </p:cNvPr>
          <p:cNvSpPr>
            <a:spLocks noGrp="1"/>
          </p:cNvSpPr>
          <p:nvPr>
            <p:ph type="title"/>
          </p:nvPr>
        </p:nvSpPr>
        <p:spPr/>
        <p:txBody>
          <a:bodyPr/>
          <a:lstStyle/>
          <a:p>
            <a:r>
              <a:rPr lang="en-US" dirty="0"/>
              <a:t>Introduction to </a:t>
            </a:r>
            <a:r>
              <a:rPr lang="en-US" dirty="0" err="1"/>
              <a:t>scRNA</a:t>
            </a:r>
            <a:r>
              <a:rPr lang="en-US" dirty="0"/>
              <a:t>-seq best practices</a:t>
            </a:r>
          </a:p>
        </p:txBody>
      </p:sp>
      <p:sp>
        <p:nvSpPr>
          <p:cNvPr id="3" name="Content Placeholder 2">
            <a:extLst>
              <a:ext uri="{FF2B5EF4-FFF2-40B4-BE49-F238E27FC236}">
                <a16:creationId xmlns:a16="http://schemas.microsoft.com/office/drawing/2014/main" id="{D5421E5F-2C00-6128-7BDF-B15C79E576E5}"/>
              </a:ext>
            </a:extLst>
          </p:cNvPr>
          <p:cNvSpPr>
            <a:spLocks noGrp="1"/>
          </p:cNvSpPr>
          <p:nvPr>
            <p:ph idx="1"/>
          </p:nvPr>
        </p:nvSpPr>
        <p:spPr/>
        <p:txBody>
          <a:bodyPr/>
          <a:lstStyle/>
          <a:p>
            <a:r>
              <a:rPr lang="en-US" dirty="0"/>
              <a:t>Filtering out low quality cells</a:t>
            </a:r>
          </a:p>
          <a:p>
            <a:r>
              <a:rPr lang="en-US" dirty="0"/>
              <a:t>Filter out doublets/triplets (droplets containing multiple cells)</a:t>
            </a:r>
          </a:p>
          <a:p>
            <a:r>
              <a:rPr lang="en-US" dirty="0"/>
              <a:t>Normalize/scale counts to same number of reads per cell. </a:t>
            </a:r>
          </a:p>
          <a:p>
            <a:r>
              <a:rPr lang="en-US" dirty="0"/>
              <a:t>Feature selection/dimensionality reduction </a:t>
            </a:r>
          </a:p>
          <a:p>
            <a:r>
              <a:rPr lang="en-US" dirty="0"/>
              <a:t>Visualization - UMAP</a:t>
            </a:r>
          </a:p>
          <a:p>
            <a:r>
              <a:rPr lang="en-US" dirty="0"/>
              <a:t>Clustering/Cell-type annotation</a:t>
            </a:r>
          </a:p>
          <a:p>
            <a:r>
              <a:rPr lang="en-US" dirty="0"/>
              <a:t>Differential expression</a:t>
            </a:r>
          </a:p>
          <a:p>
            <a:r>
              <a:rPr lang="en-US" dirty="0"/>
              <a:t>Optional: Cell trajectory</a:t>
            </a:r>
          </a:p>
        </p:txBody>
      </p:sp>
    </p:spTree>
    <p:extLst>
      <p:ext uri="{BB962C8B-B14F-4D97-AF65-F5344CB8AC3E}">
        <p14:creationId xmlns:p14="http://schemas.microsoft.com/office/powerpoint/2010/main" val="3635893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684EC-BC5A-3AAA-1000-8E847651EA8A}"/>
              </a:ext>
            </a:extLst>
          </p:cNvPr>
          <p:cNvSpPr>
            <a:spLocks noGrp="1"/>
          </p:cNvSpPr>
          <p:nvPr>
            <p:ph type="title"/>
          </p:nvPr>
        </p:nvSpPr>
        <p:spPr/>
        <p:txBody>
          <a:bodyPr/>
          <a:lstStyle/>
          <a:p>
            <a:r>
              <a:rPr lang="en-US" dirty="0"/>
              <a:t>Filtering out low quality cells </a:t>
            </a:r>
          </a:p>
        </p:txBody>
      </p:sp>
      <p:sp>
        <p:nvSpPr>
          <p:cNvPr id="3" name="Content Placeholder 2">
            <a:extLst>
              <a:ext uri="{FF2B5EF4-FFF2-40B4-BE49-F238E27FC236}">
                <a16:creationId xmlns:a16="http://schemas.microsoft.com/office/drawing/2014/main" id="{AB1864E2-B633-DC7E-18B7-CD8D872D8E3D}"/>
              </a:ext>
            </a:extLst>
          </p:cNvPr>
          <p:cNvSpPr>
            <a:spLocks noGrp="1"/>
          </p:cNvSpPr>
          <p:nvPr>
            <p:ph idx="1"/>
          </p:nvPr>
        </p:nvSpPr>
        <p:spPr/>
        <p:txBody>
          <a:bodyPr/>
          <a:lstStyle/>
          <a:p>
            <a:r>
              <a:rPr lang="en-US" dirty="0"/>
              <a:t>Cells that are filtered out may have: low count depth, low number of detected genes, a high fraction of mitochondrial counts. </a:t>
            </a:r>
          </a:p>
          <a:p>
            <a:r>
              <a:rPr lang="en-US" dirty="0"/>
              <a:t>Remove </a:t>
            </a:r>
            <a:r>
              <a:rPr lang="en-US" dirty="0" err="1"/>
              <a:t>multiplets</a:t>
            </a:r>
            <a:r>
              <a:rPr lang="en-US" dirty="0"/>
              <a:t> (droplets containing multiple cells)</a:t>
            </a:r>
          </a:p>
          <a:p>
            <a:r>
              <a:rPr lang="en-US" dirty="0"/>
              <a:t>Seurat (R tool) and </a:t>
            </a:r>
            <a:r>
              <a:rPr lang="en-US" dirty="0" err="1"/>
              <a:t>scanpy</a:t>
            </a:r>
            <a:r>
              <a:rPr lang="en-US" dirty="0"/>
              <a:t> (python) tool have custom functions to filter out poor quality cells</a:t>
            </a:r>
          </a:p>
          <a:p>
            <a:r>
              <a:rPr lang="en-US" dirty="0"/>
              <a:t>Seurat doesn’t have a doublet tool, but there are tools developed in R to detect doublets in Seurat data. </a:t>
            </a:r>
          </a:p>
        </p:txBody>
      </p:sp>
    </p:spTree>
    <p:extLst>
      <p:ext uri="{BB962C8B-B14F-4D97-AF65-F5344CB8AC3E}">
        <p14:creationId xmlns:p14="http://schemas.microsoft.com/office/powerpoint/2010/main" val="4053424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B49A0-B5C2-F3F6-395C-6676E216A20C}"/>
              </a:ext>
            </a:extLst>
          </p:cNvPr>
          <p:cNvSpPr>
            <a:spLocks noGrp="1"/>
          </p:cNvSpPr>
          <p:nvPr>
            <p:ph type="title"/>
          </p:nvPr>
        </p:nvSpPr>
        <p:spPr/>
        <p:txBody>
          <a:bodyPr/>
          <a:lstStyle/>
          <a:p>
            <a:r>
              <a:rPr lang="en-US" dirty="0"/>
              <a:t>Filtering out low quality cells (continued)</a:t>
            </a:r>
          </a:p>
        </p:txBody>
      </p:sp>
      <p:sp>
        <p:nvSpPr>
          <p:cNvPr id="3" name="Content Placeholder 2">
            <a:extLst>
              <a:ext uri="{FF2B5EF4-FFF2-40B4-BE49-F238E27FC236}">
                <a16:creationId xmlns:a16="http://schemas.microsoft.com/office/drawing/2014/main" id="{AB67DA38-1210-24AF-CBED-B04B8087CE29}"/>
              </a:ext>
            </a:extLst>
          </p:cNvPr>
          <p:cNvSpPr>
            <a:spLocks noGrp="1"/>
          </p:cNvSpPr>
          <p:nvPr>
            <p:ph idx="1"/>
          </p:nvPr>
        </p:nvSpPr>
        <p:spPr/>
        <p:txBody>
          <a:bodyPr/>
          <a:lstStyle/>
          <a:p>
            <a:r>
              <a:rPr lang="en-US" dirty="0"/>
              <a:t>In </a:t>
            </a:r>
            <a:r>
              <a:rPr lang="en-US" dirty="0" err="1"/>
              <a:t>scanpy</a:t>
            </a:r>
            <a:r>
              <a:rPr lang="en-US" dirty="0"/>
              <a:t> tutorial, cells that are expressing less than 100 genes are filtered out and genes that are only expressed in less than three cells are also filtered out. Reasoning they gave is that poor QC metrics could represent real biology. </a:t>
            </a:r>
          </a:p>
          <a:p>
            <a:r>
              <a:rPr lang="en-US" dirty="0"/>
              <a:t>Seurat removes cells that are expressing less than 200 genes and cells that are expressing over 2500 genes. More conservative and removes cells overexpressing genes, as they may be doublets. </a:t>
            </a:r>
          </a:p>
          <a:p>
            <a:r>
              <a:rPr lang="en-US" dirty="0" err="1"/>
              <a:t>Scanpy</a:t>
            </a:r>
            <a:r>
              <a:rPr lang="en-US" dirty="0"/>
              <a:t> recommends determining mitochondrial percentage based on a threshold while Seurat typically removes cells with over 5% mitochondrial content.</a:t>
            </a:r>
          </a:p>
        </p:txBody>
      </p:sp>
    </p:spTree>
    <p:extLst>
      <p:ext uri="{BB962C8B-B14F-4D97-AF65-F5344CB8AC3E}">
        <p14:creationId xmlns:p14="http://schemas.microsoft.com/office/powerpoint/2010/main" val="482211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D199B-AEE4-666B-790C-7B505C771B6D}"/>
              </a:ext>
            </a:extLst>
          </p:cNvPr>
          <p:cNvSpPr>
            <a:spLocks noGrp="1"/>
          </p:cNvSpPr>
          <p:nvPr>
            <p:ph type="title"/>
          </p:nvPr>
        </p:nvSpPr>
        <p:spPr/>
        <p:txBody>
          <a:bodyPr/>
          <a:lstStyle/>
          <a:p>
            <a:r>
              <a:rPr lang="en-US" dirty="0"/>
              <a:t>Normalization</a:t>
            </a:r>
          </a:p>
        </p:txBody>
      </p:sp>
      <p:sp>
        <p:nvSpPr>
          <p:cNvPr id="3" name="Content Placeholder 2">
            <a:extLst>
              <a:ext uri="{FF2B5EF4-FFF2-40B4-BE49-F238E27FC236}">
                <a16:creationId xmlns:a16="http://schemas.microsoft.com/office/drawing/2014/main" id="{1CA632B9-3C86-25B6-D645-6A56DC8D95D6}"/>
              </a:ext>
            </a:extLst>
          </p:cNvPr>
          <p:cNvSpPr>
            <a:spLocks noGrp="1"/>
          </p:cNvSpPr>
          <p:nvPr>
            <p:ph idx="1"/>
          </p:nvPr>
        </p:nvSpPr>
        <p:spPr/>
        <p:txBody>
          <a:bodyPr/>
          <a:lstStyle/>
          <a:p>
            <a:r>
              <a:rPr lang="en-US" dirty="0"/>
              <a:t>Standard method of normalization is to scale counts to a fixed number per cell and then to log normalize. </a:t>
            </a:r>
          </a:p>
          <a:p>
            <a:r>
              <a:rPr lang="en-US" dirty="0"/>
              <a:t>Seurat has a function called </a:t>
            </a:r>
            <a:r>
              <a:rPr lang="en-US" dirty="0" err="1"/>
              <a:t>SCTransform</a:t>
            </a:r>
            <a:r>
              <a:rPr lang="en-US" dirty="0"/>
              <a:t> that models and removes technical variability. </a:t>
            </a:r>
          </a:p>
          <a:p>
            <a:r>
              <a:rPr lang="en-US" dirty="0"/>
              <a:t>Scaling all genes by a common factor assumes that differences in count depth due to cell size are negligible. – </a:t>
            </a:r>
            <a:r>
              <a:rPr lang="en-US" dirty="0" err="1">
                <a:hlinkClick r:id="rId2"/>
              </a:rPr>
              <a:t>Heumos</a:t>
            </a:r>
            <a:r>
              <a:rPr lang="en-US" dirty="0">
                <a:hlinkClick r:id="rId2"/>
              </a:rPr>
              <a:t> et al.</a:t>
            </a:r>
            <a:endParaRPr lang="en-US" dirty="0"/>
          </a:p>
          <a:p>
            <a:pPr lvl="1"/>
            <a:r>
              <a:rPr lang="en-US" dirty="0"/>
              <a:t>Scran package in R will pre-cluster/pool cells and calculate size factors for these individual pools</a:t>
            </a:r>
          </a:p>
        </p:txBody>
      </p:sp>
    </p:spTree>
    <p:extLst>
      <p:ext uri="{BB962C8B-B14F-4D97-AF65-F5344CB8AC3E}">
        <p14:creationId xmlns:p14="http://schemas.microsoft.com/office/powerpoint/2010/main" val="4079310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EEE6E-9CF8-7F48-CFB6-6CA88549078F}"/>
              </a:ext>
            </a:extLst>
          </p:cNvPr>
          <p:cNvSpPr>
            <a:spLocks noGrp="1"/>
          </p:cNvSpPr>
          <p:nvPr>
            <p:ph type="title"/>
          </p:nvPr>
        </p:nvSpPr>
        <p:spPr/>
        <p:txBody>
          <a:bodyPr/>
          <a:lstStyle/>
          <a:p>
            <a:r>
              <a:rPr lang="en-US" dirty="0"/>
              <a:t>Normalization (continued)</a:t>
            </a:r>
          </a:p>
        </p:txBody>
      </p:sp>
      <p:sp>
        <p:nvSpPr>
          <p:cNvPr id="3" name="Content Placeholder 2">
            <a:extLst>
              <a:ext uri="{FF2B5EF4-FFF2-40B4-BE49-F238E27FC236}">
                <a16:creationId xmlns:a16="http://schemas.microsoft.com/office/drawing/2014/main" id="{CADE1376-FC5A-F7D8-4A8E-19FF27029F45}"/>
              </a:ext>
            </a:extLst>
          </p:cNvPr>
          <p:cNvSpPr>
            <a:spLocks noGrp="1"/>
          </p:cNvSpPr>
          <p:nvPr>
            <p:ph idx="1"/>
          </p:nvPr>
        </p:nvSpPr>
        <p:spPr/>
        <p:txBody>
          <a:bodyPr/>
          <a:lstStyle/>
          <a:p>
            <a:r>
              <a:rPr lang="en-US" dirty="0"/>
              <a:t>Seurat uses 10,000 as the default scale factor, but </a:t>
            </a:r>
            <a:r>
              <a:rPr lang="en-US" dirty="0" err="1"/>
              <a:t>scanpy</a:t>
            </a:r>
            <a:r>
              <a:rPr lang="en-US" dirty="0"/>
              <a:t> uses median of total counts this can be manually set in both. </a:t>
            </a:r>
          </a:p>
          <a:p>
            <a:r>
              <a:rPr lang="en-US" dirty="0"/>
              <a:t>Both have custom functions to log normalize the data. </a:t>
            </a:r>
          </a:p>
        </p:txBody>
      </p:sp>
    </p:spTree>
    <p:extLst>
      <p:ext uri="{BB962C8B-B14F-4D97-AF65-F5344CB8AC3E}">
        <p14:creationId xmlns:p14="http://schemas.microsoft.com/office/powerpoint/2010/main" val="3298766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34B0-F95E-10FF-C8B7-74B64F5F80F6}"/>
              </a:ext>
            </a:extLst>
          </p:cNvPr>
          <p:cNvSpPr>
            <a:spLocks noGrp="1"/>
          </p:cNvSpPr>
          <p:nvPr>
            <p:ph type="title"/>
          </p:nvPr>
        </p:nvSpPr>
        <p:spPr/>
        <p:txBody>
          <a:bodyPr/>
          <a:lstStyle/>
          <a:p>
            <a:r>
              <a:rPr lang="en-US" dirty="0"/>
              <a:t>Feature Selection / Dimensionality Reduction</a:t>
            </a:r>
          </a:p>
        </p:txBody>
      </p:sp>
      <p:sp>
        <p:nvSpPr>
          <p:cNvPr id="3" name="Content Placeholder 2">
            <a:extLst>
              <a:ext uri="{FF2B5EF4-FFF2-40B4-BE49-F238E27FC236}">
                <a16:creationId xmlns:a16="http://schemas.microsoft.com/office/drawing/2014/main" id="{1D0523BA-3F1F-8ACF-C9CB-FA42AF798FF8}"/>
              </a:ext>
            </a:extLst>
          </p:cNvPr>
          <p:cNvSpPr>
            <a:spLocks noGrp="1"/>
          </p:cNvSpPr>
          <p:nvPr>
            <p:ph idx="1"/>
          </p:nvPr>
        </p:nvSpPr>
        <p:spPr>
          <a:xfrm>
            <a:off x="1103312" y="2052918"/>
            <a:ext cx="5863545" cy="4195481"/>
          </a:xfrm>
        </p:spPr>
        <p:txBody>
          <a:bodyPr/>
          <a:lstStyle/>
          <a:p>
            <a:r>
              <a:rPr lang="en-US" dirty="0"/>
              <a:t>Feature selection: Seurat and </a:t>
            </a:r>
            <a:r>
              <a:rPr lang="en-US" dirty="0" err="1"/>
              <a:t>scanpy</a:t>
            </a:r>
            <a:r>
              <a:rPr lang="en-US" dirty="0"/>
              <a:t> both have functions to select top variable genes to reduce noise. Both recommend using top 2000 variable genes.</a:t>
            </a:r>
          </a:p>
          <a:p>
            <a:r>
              <a:rPr lang="en-US" dirty="0"/>
              <a:t>Dimensionality reduction: Transforms data into fewer dimensions.</a:t>
            </a:r>
          </a:p>
          <a:p>
            <a:pPr lvl="1"/>
            <a:r>
              <a:rPr lang="en-US" dirty="0"/>
              <a:t>UMAP most commonly used tool: Builds graph based on nearest neighbors and projects onto 2D surface</a:t>
            </a:r>
          </a:p>
          <a:p>
            <a:pPr lvl="1"/>
            <a:r>
              <a:rPr lang="en-US" dirty="0"/>
              <a:t>t-SNE: calculates probability that two cells are neighbors – better for detecting small, fine clusters</a:t>
            </a:r>
          </a:p>
          <a:p>
            <a:endParaRPr lang="en-US" dirty="0"/>
          </a:p>
        </p:txBody>
      </p:sp>
      <p:pic>
        <p:nvPicPr>
          <p:cNvPr id="7" name="Picture 6">
            <a:extLst>
              <a:ext uri="{FF2B5EF4-FFF2-40B4-BE49-F238E27FC236}">
                <a16:creationId xmlns:a16="http://schemas.microsoft.com/office/drawing/2014/main" id="{767B1653-79CB-D9A3-0BF3-B8A3156CF57B}"/>
              </a:ext>
            </a:extLst>
          </p:cNvPr>
          <p:cNvPicPr>
            <a:picLocks noChangeAspect="1"/>
          </p:cNvPicPr>
          <p:nvPr/>
        </p:nvPicPr>
        <p:blipFill>
          <a:blip r:embed="rId2"/>
          <a:stretch>
            <a:fillRect/>
          </a:stretch>
        </p:blipFill>
        <p:spPr>
          <a:xfrm>
            <a:off x="6966857" y="2479077"/>
            <a:ext cx="5094514" cy="2681323"/>
          </a:xfrm>
          <a:prstGeom prst="rect">
            <a:avLst/>
          </a:prstGeom>
        </p:spPr>
      </p:pic>
    </p:spTree>
    <p:extLst>
      <p:ext uri="{BB962C8B-B14F-4D97-AF65-F5344CB8AC3E}">
        <p14:creationId xmlns:p14="http://schemas.microsoft.com/office/powerpoint/2010/main" val="1114099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76828-464C-E130-A5BC-584CB0FB7480}"/>
              </a:ext>
            </a:extLst>
          </p:cNvPr>
          <p:cNvSpPr>
            <a:spLocks noGrp="1"/>
          </p:cNvSpPr>
          <p:nvPr>
            <p:ph type="title"/>
          </p:nvPr>
        </p:nvSpPr>
        <p:spPr/>
        <p:txBody>
          <a:bodyPr/>
          <a:lstStyle/>
          <a:p>
            <a:r>
              <a:rPr lang="en-US" dirty="0"/>
              <a:t>Clustering</a:t>
            </a:r>
          </a:p>
        </p:txBody>
      </p:sp>
      <p:sp>
        <p:nvSpPr>
          <p:cNvPr id="3" name="Content Placeholder 2">
            <a:extLst>
              <a:ext uri="{FF2B5EF4-FFF2-40B4-BE49-F238E27FC236}">
                <a16:creationId xmlns:a16="http://schemas.microsoft.com/office/drawing/2014/main" id="{EEF4C5C5-50B2-9552-2C3E-179DABE5B005}"/>
              </a:ext>
            </a:extLst>
          </p:cNvPr>
          <p:cNvSpPr>
            <a:spLocks noGrp="1"/>
          </p:cNvSpPr>
          <p:nvPr>
            <p:ph idx="1"/>
          </p:nvPr>
        </p:nvSpPr>
        <p:spPr/>
        <p:txBody>
          <a:bodyPr/>
          <a:lstStyle/>
          <a:p>
            <a:r>
              <a:rPr lang="en-US" dirty="0"/>
              <a:t>Number of neighbors must be set for clustering. Low number of neighbors better for local clustering, high number better for global clustering.</a:t>
            </a:r>
          </a:p>
          <a:p>
            <a:r>
              <a:rPr lang="en-US" dirty="0"/>
              <a:t>Number of principal components must also be set: Too many – too much noise. Too few– missing important variations in the data.</a:t>
            </a:r>
          </a:p>
          <a:p>
            <a:r>
              <a:rPr lang="en-US" dirty="0"/>
              <a:t>Leiden and Louvain are clustering methods that detect groups in graph data; Leiden improves on Louvain by ensuring better-connected and more robust clusters.</a:t>
            </a:r>
          </a:p>
          <a:p>
            <a:r>
              <a:rPr lang="en-US" dirty="0"/>
              <a:t>Resolution parameter is used to set how many clusters will be made. </a:t>
            </a:r>
          </a:p>
        </p:txBody>
      </p:sp>
    </p:spTree>
    <p:extLst>
      <p:ext uri="{BB962C8B-B14F-4D97-AF65-F5344CB8AC3E}">
        <p14:creationId xmlns:p14="http://schemas.microsoft.com/office/powerpoint/2010/main" val="2322372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6E665-2932-4AB1-1953-8D0098449121}"/>
              </a:ext>
            </a:extLst>
          </p:cNvPr>
          <p:cNvSpPr>
            <a:spLocks noGrp="1"/>
          </p:cNvSpPr>
          <p:nvPr>
            <p:ph type="title"/>
          </p:nvPr>
        </p:nvSpPr>
        <p:spPr/>
        <p:txBody>
          <a:bodyPr/>
          <a:lstStyle/>
          <a:p>
            <a:r>
              <a:rPr lang="en-US" dirty="0"/>
              <a:t>Integration/Batch effects</a:t>
            </a:r>
          </a:p>
        </p:txBody>
      </p:sp>
      <p:sp>
        <p:nvSpPr>
          <p:cNvPr id="3" name="Content Placeholder 2">
            <a:extLst>
              <a:ext uri="{FF2B5EF4-FFF2-40B4-BE49-F238E27FC236}">
                <a16:creationId xmlns:a16="http://schemas.microsoft.com/office/drawing/2014/main" id="{405F591F-F95F-6B36-892E-C12E4DAC35FC}"/>
              </a:ext>
            </a:extLst>
          </p:cNvPr>
          <p:cNvSpPr>
            <a:spLocks noGrp="1"/>
          </p:cNvSpPr>
          <p:nvPr>
            <p:ph idx="1"/>
          </p:nvPr>
        </p:nvSpPr>
        <p:spPr/>
        <p:txBody>
          <a:bodyPr>
            <a:normAutofit/>
          </a:bodyPr>
          <a:lstStyle/>
          <a:p>
            <a:r>
              <a:rPr lang="en-US" dirty="0"/>
              <a:t>Identify Batch Effects - Use **PCA/UMAP/t-SNE to visualize batch effects.  Check for batch-associated variation in gene expression.  </a:t>
            </a:r>
          </a:p>
          <a:p>
            <a:r>
              <a:rPr lang="en-US" dirty="0"/>
              <a:t>Batch Correction with Harmony - Harmony aligns datasets while preserving biological variation. Harmony works well for large and complex batch effects.  </a:t>
            </a:r>
          </a:p>
          <a:p>
            <a:r>
              <a:rPr lang="en-US" dirty="0"/>
              <a:t>Post-Integration QC - Visualize corrected data using UMAP/</a:t>
            </a:r>
            <a:r>
              <a:rPr lang="en-US"/>
              <a:t>t-SNE. Check </a:t>
            </a:r>
            <a:r>
              <a:rPr lang="en-US" dirty="0"/>
              <a:t>batch effect removal using **PCA variance plots**. </a:t>
            </a:r>
          </a:p>
        </p:txBody>
      </p:sp>
    </p:spTree>
    <p:extLst>
      <p:ext uri="{BB962C8B-B14F-4D97-AF65-F5344CB8AC3E}">
        <p14:creationId xmlns:p14="http://schemas.microsoft.com/office/powerpoint/2010/main" val="3894672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6ED32-AB56-A96D-1E60-4610BE8E1160}"/>
              </a:ext>
            </a:extLst>
          </p:cNvPr>
          <p:cNvSpPr>
            <a:spLocks noGrp="1"/>
          </p:cNvSpPr>
          <p:nvPr>
            <p:ph type="title"/>
          </p:nvPr>
        </p:nvSpPr>
        <p:spPr/>
        <p:txBody>
          <a:bodyPr/>
          <a:lstStyle/>
          <a:p>
            <a:r>
              <a:rPr lang="en-US" dirty="0"/>
              <a:t>Clustering example with Seurat</a:t>
            </a:r>
          </a:p>
        </p:txBody>
      </p:sp>
      <p:pic>
        <p:nvPicPr>
          <p:cNvPr id="4" name="Content Placeholder 3">
            <a:extLst>
              <a:ext uri="{FF2B5EF4-FFF2-40B4-BE49-F238E27FC236}">
                <a16:creationId xmlns:a16="http://schemas.microsoft.com/office/drawing/2014/main" id="{ECB82988-1978-B40C-9718-223F6213296B}"/>
              </a:ext>
            </a:extLst>
          </p:cNvPr>
          <p:cNvPicPr>
            <a:picLocks noGrp="1" noChangeAspect="1"/>
          </p:cNvPicPr>
          <p:nvPr>
            <p:ph idx="1"/>
          </p:nvPr>
        </p:nvPicPr>
        <p:blipFill>
          <a:blip r:embed="rId2"/>
          <a:stretch>
            <a:fillRect/>
          </a:stretch>
        </p:blipFill>
        <p:spPr>
          <a:xfrm>
            <a:off x="646111" y="1722233"/>
            <a:ext cx="5244702" cy="4195762"/>
          </a:xfrm>
        </p:spPr>
      </p:pic>
      <p:pic>
        <p:nvPicPr>
          <p:cNvPr id="5" name="Picture 4">
            <a:extLst>
              <a:ext uri="{FF2B5EF4-FFF2-40B4-BE49-F238E27FC236}">
                <a16:creationId xmlns:a16="http://schemas.microsoft.com/office/drawing/2014/main" id="{A313CB7C-C6F8-C443-CD29-D79ABDCC46E7}"/>
              </a:ext>
            </a:extLst>
          </p:cNvPr>
          <p:cNvPicPr>
            <a:picLocks noChangeAspect="1"/>
          </p:cNvPicPr>
          <p:nvPr/>
        </p:nvPicPr>
        <p:blipFill>
          <a:blip r:embed="rId3"/>
          <a:stretch>
            <a:fillRect/>
          </a:stretch>
        </p:blipFill>
        <p:spPr>
          <a:xfrm>
            <a:off x="6314188" y="2283414"/>
            <a:ext cx="5532120" cy="3073400"/>
          </a:xfrm>
          <a:prstGeom prst="rect">
            <a:avLst/>
          </a:prstGeom>
        </p:spPr>
      </p:pic>
    </p:spTree>
    <p:extLst>
      <p:ext uri="{BB962C8B-B14F-4D97-AF65-F5344CB8AC3E}">
        <p14:creationId xmlns:p14="http://schemas.microsoft.com/office/powerpoint/2010/main" val="1248174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09B50-DE96-DBD2-3DDD-586E7FD4CA15}"/>
              </a:ext>
            </a:extLst>
          </p:cNvPr>
          <p:cNvSpPr>
            <a:spLocks noGrp="1"/>
          </p:cNvSpPr>
          <p:nvPr>
            <p:ph type="title"/>
          </p:nvPr>
        </p:nvSpPr>
        <p:spPr/>
        <p:txBody>
          <a:bodyPr/>
          <a:lstStyle/>
          <a:p>
            <a:r>
              <a:rPr lang="en-US" dirty="0"/>
              <a:t>Clustering </a:t>
            </a:r>
            <a:r>
              <a:rPr lang="en-US" dirty="0" err="1"/>
              <a:t>benchark</a:t>
            </a:r>
            <a:r>
              <a:rPr lang="en-US" dirty="0"/>
              <a:t> study – </a:t>
            </a:r>
            <a:r>
              <a:rPr lang="en-US" dirty="0">
                <a:hlinkClick r:id="rId2"/>
              </a:rPr>
              <a:t>Yu et al</a:t>
            </a:r>
            <a:endParaRPr lang="en-US" dirty="0"/>
          </a:p>
        </p:txBody>
      </p:sp>
      <p:sp>
        <p:nvSpPr>
          <p:cNvPr id="3" name="Content Placeholder 2">
            <a:extLst>
              <a:ext uri="{FF2B5EF4-FFF2-40B4-BE49-F238E27FC236}">
                <a16:creationId xmlns:a16="http://schemas.microsoft.com/office/drawing/2014/main" id="{A4A39D6F-9C02-0A9F-F253-123DDD65C7C2}"/>
              </a:ext>
            </a:extLst>
          </p:cNvPr>
          <p:cNvSpPr>
            <a:spLocks noGrp="1"/>
          </p:cNvSpPr>
          <p:nvPr>
            <p:ph idx="1"/>
          </p:nvPr>
        </p:nvSpPr>
        <p:spPr/>
        <p:txBody>
          <a:bodyPr>
            <a:normAutofit fontScale="92500" lnSpcReduction="20000"/>
          </a:bodyPr>
          <a:lstStyle/>
          <a:p>
            <a:r>
              <a:rPr lang="en-US" dirty="0"/>
              <a:t>Top-performing methods: Stability-based approaches like </a:t>
            </a:r>
            <a:r>
              <a:rPr lang="en-US" dirty="0" err="1"/>
              <a:t>scCCESS</a:t>
            </a:r>
            <a:r>
              <a:rPr lang="en-US" dirty="0"/>
              <a:t>-SIMLR and Monocle3 excel at accurately estimating the number of cell types, even in datasets with varying complexity, while SC3, </a:t>
            </a:r>
            <a:r>
              <a:rPr lang="en-US" dirty="0" err="1"/>
              <a:t>ACTIONet</a:t>
            </a:r>
            <a:r>
              <a:rPr lang="en-US" dirty="0"/>
              <a:t>, and Seurat tend to overestimate, especially with large datasets or many cell types. </a:t>
            </a:r>
          </a:p>
          <a:p>
            <a:endParaRPr lang="en-US" dirty="0"/>
          </a:p>
          <a:p>
            <a:r>
              <a:rPr lang="en-US" dirty="0"/>
              <a:t>Data characteristics impact performance: Increasing cell types or cells per type often introduces overestimation (SC3, Seurat) or underestimation (SHARP, </a:t>
            </a:r>
            <a:r>
              <a:rPr lang="en-US" dirty="0" err="1"/>
              <a:t>densityCut</a:t>
            </a:r>
            <a:r>
              <a:rPr lang="en-US" dirty="0"/>
              <a:t>). </a:t>
            </a:r>
          </a:p>
          <a:p>
            <a:endParaRPr lang="en-US" dirty="0"/>
          </a:p>
          <a:p>
            <a:r>
              <a:rPr lang="en-US" dirty="0"/>
              <a:t>Clustering vs. cell type estimation: High clustering accuracy (e.g., SC3, Seurat) doesn’t always translate to accurate cell type number estimation, underscoring the need to evaluate these metrics independently.</a:t>
            </a:r>
          </a:p>
        </p:txBody>
      </p:sp>
    </p:spTree>
    <p:extLst>
      <p:ext uri="{BB962C8B-B14F-4D97-AF65-F5344CB8AC3E}">
        <p14:creationId xmlns:p14="http://schemas.microsoft.com/office/powerpoint/2010/main" val="4003700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AEA6D-3ACD-4D7D-A9FA-648D6B31B4F4}"/>
              </a:ext>
            </a:extLst>
          </p:cNvPr>
          <p:cNvSpPr>
            <a:spLocks noGrp="1"/>
          </p:cNvSpPr>
          <p:nvPr>
            <p:ph type="title"/>
          </p:nvPr>
        </p:nvSpPr>
        <p:spPr/>
        <p:txBody>
          <a:bodyPr/>
          <a:lstStyle/>
          <a:p>
            <a:r>
              <a:rPr lang="en-US" dirty="0"/>
              <a:t>Cell-type annotation</a:t>
            </a:r>
          </a:p>
        </p:txBody>
      </p:sp>
      <p:sp>
        <p:nvSpPr>
          <p:cNvPr id="3" name="Content Placeholder 2">
            <a:extLst>
              <a:ext uri="{FF2B5EF4-FFF2-40B4-BE49-F238E27FC236}">
                <a16:creationId xmlns:a16="http://schemas.microsoft.com/office/drawing/2014/main" id="{C4395E74-1E92-D420-BD70-573BFF5D1238}"/>
              </a:ext>
            </a:extLst>
          </p:cNvPr>
          <p:cNvSpPr>
            <a:spLocks noGrp="1"/>
          </p:cNvSpPr>
          <p:nvPr>
            <p:ph idx="1"/>
          </p:nvPr>
        </p:nvSpPr>
        <p:spPr/>
        <p:txBody>
          <a:bodyPr/>
          <a:lstStyle/>
          <a:p>
            <a:r>
              <a:rPr lang="en-US" dirty="0"/>
              <a:t>Determine differentially expressed genes in each cluster. </a:t>
            </a:r>
            <a:r>
              <a:rPr lang="en-US" dirty="0" err="1"/>
              <a:t>FindAllMarkers</a:t>
            </a:r>
            <a:r>
              <a:rPr lang="en-US" dirty="0"/>
              <a:t> in Seurat and </a:t>
            </a:r>
            <a:r>
              <a:rPr lang="en-US" dirty="0" err="1"/>
              <a:t>rank_genes_groups</a:t>
            </a:r>
            <a:r>
              <a:rPr lang="en-US" dirty="0"/>
              <a:t> in </a:t>
            </a:r>
            <a:r>
              <a:rPr lang="en-US" dirty="0" err="1"/>
              <a:t>scanpy</a:t>
            </a:r>
            <a:r>
              <a:rPr lang="en-US" dirty="0"/>
              <a:t>. </a:t>
            </a:r>
          </a:p>
          <a:p>
            <a:r>
              <a:rPr lang="en-US" dirty="0"/>
              <a:t>Assign cluster identities based on marker genes. </a:t>
            </a:r>
          </a:p>
          <a:p>
            <a:r>
              <a:rPr lang="en-US" dirty="0"/>
              <a:t>For example, if epithelial markers are highly expressed in one cluster, the cluster could be a group of epithelial cells</a:t>
            </a:r>
          </a:p>
          <a:p>
            <a:endParaRPr lang="en-US" dirty="0"/>
          </a:p>
        </p:txBody>
      </p:sp>
    </p:spTree>
    <p:extLst>
      <p:ext uri="{BB962C8B-B14F-4D97-AF65-F5344CB8AC3E}">
        <p14:creationId xmlns:p14="http://schemas.microsoft.com/office/powerpoint/2010/main" val="1383295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396B4-5FA0-F6FD-A690-77A682FB9E26}"/>
              </a:ext>
            </a:extLst>
          </p:cNvPr>
          <p:cNvSpPr>
            <a:spLocks noGrp="1"/>
          </p:cNvSpPr>
          <p:nvPr>
            <p:ph type="title"/>
          </p:nvPr>
        </p:nvSpPr>
        <p:spPr/>
        <p:txBody>
          <a:bodyPr/>
          <a:lstStyle/>
          <a:p>
            <a:r>
              <a:rPr lang="en-US" dirty="0"/>
              <a:t>Differential Expression Analysis </a:t>
            </a:r>
          </a:p>
        </p:txBody>
      </p:sp>
      <p:sp>
        <p:nvSpPr>
          <p:cNvPr id="3" name="Content Placeholder 2">
            <a:extLst>
              <a:ext uri="{FF2B5EF4-FFF2-40B4-BE49-F238E27FC236}">
                <a16:creationId xmlns:a16="http://schemas.microsoft.com/office/drawing/2014/main" id="{182141B7-84A0-E952-EA27-E9F14BA9963F}"/>
              </a:ext>
            </a:extLst>
          </p:cNvPr>
          <p:cNvSpPr>
            <a:spLocks noGrp="1"/>
          </p:cNvSpPr>
          <p:nvPr>
            <p:ph idx="1"/>
          </p:nvPr>
        </p:nvSpPr>
        <p:spPr/>
        <p:txBody>
          <a:bodyPr/>
          <a:lstStyle/>
          <a:p>
            <a:r>
              <a:rPr lang="en-US" dirty="0"/>
              <a:t>Differential expression analysis can be done between certain cell types of interest. </a:t>
            </a:r>
          </a:p>
          <a:p>
            <a:r>
              <a:rPr lang="en-US" dirty="0"/>
              <a:t>Genes of interest plotted on UMAP to see which cell type the gene is expressed in.</a:t>
            </a:r>
          </a:p>
          <a:p>
            <a:r>
              <a:rPr lang="en-US" dirty="0"/>
              <a:t>Use differential expression results for pathway enrichment analysis</a:t>
            </a:r>
          </a:p>
        </p:txBody>
      </p:sp>
    </p:spTree>
    <p:extLst>
      <p:ext uri="{BB962C8B-B14F-4D97-AF65-F5344CB8AC3E}">
        <p14:creationId xmlns:p14="http://schemas.microsoft.com/office/powerpoint/2010/main" val="2351035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B52FB-5C0A-7F4D-3C19-2F2200CEAC46}"/>
              </a:ext>
            </a:extLst>
          </p:cNvPr>
          <p:cNvSpPr>
            <a:spLocks noGrp="1"/>
          </p:cNvSpPr>
          <p:nvPr>
            <p:ph type="title"/>
          </p:nvPr>
        </p:nvSpPr>
        <p:spPr/>
        <p:txBody>
          <a:bodyPr/>
          <a:lstStyle/>
          <a:p>
            <a:r>
              <a:rPr lang="en-US" dirty="0" err="1"/>
              <a:t>Pseudotime</a:t>
            </a:r>
            <a:r>
              <a:rPr lang="en-US" dirty="0"/>
              <a:t>/Trajectory Analysis</a:t>
            </a:r>
          </a:p>
        </p:txBody>
      </p:sp>
      <p:sp>
        <p:nvSpPr>
          <p:cNvPr id="3" name="Content Placeholder 2">
            <a:extLst>
              <a:ext uri="{FF2B5EF4-FFF2-40B4-BE49-F238E27FC236}">
                <a16:creationId xmlns:a16="http://schemas.microsoft.com/office/drawing/2014/main" id="{768188D1-7C8D-7A82-F5D4-173CED619DAE}"/>
              </a:ext>
            </a:extLst>
          </p:cNvPr>
          <p:cNvSpPr>
            <a:spLocks noGrp="1"/>
          </p:cNvSpPr>
          <p:nvPr>
            <p:ph idx="1"/>
          </p:nvPr>
        </p:nvSpPr>
        <p:spPr>
          <a:xfrm>
            <a:off x="1103313" y="1331259"/>
            <a:ext cx="8946541" cy="4195481"/>
          </a:xfrm>
        </p:spPr>
        <p:txBody>
          <a:bodyPr/>
          <a:lstStyle/>
          <a:p>
            <a:r>
              <a:rPr lang="en-US" dirty="0" err="1"/>
              <a:t>Pseudotime</a:t>
            </a:r>
            <a:r>
              <a:rPr lang="en-US" dirty="0"/>
              <a:t> analysis infers the progression of cells along a trajectory. </a:t>
            </a:r>
          </a:p>
          <a:p>
            <a:r>
              <a:rPr lang="en-US" dirty="0"/>
              <a:t>Monocle3 – Monocle calculates </a:t>
            </a:r>
            <a:r>
              <a:rPr lang="en-US" dirty="0" err="1"/>
              <a:t>pseudotime</a:t>
            </a:r>
            <a:r>
              <a:rPr lang="en-US" dirty="0"/>
              <a:t> by constructing a trajectory graph of cells based on their transcriptional similarity. Supports branching differentiation </a:t>
            </a:r>
          </a:p>
          <a:p>
            <a:r>
              <a:rPr lang="en-US" dirty="0"/>
              <a:t>Palantir – More robust to noise, but doesn’t support branching differentiation. </a:t>
            </a:r>
          </a:p>
        </p:txBody>
      </p:sp>
      <p:pic>
        <p:nvPicPr>
          <p:cNvPr id="4" name="Picture 3">
            <a:extLst>
              <a:ext uri="{FF2B5EF4-FFF2-40B4-BE49-F238E27FC236}">
                <a16:creationId xmlns:a16="http://schemas.microsoft.com/office/drawing/2014/main" id="{A02B10B0-02E0-E524-8658-C342CF38D518}"/>
              </a:ext>
            </a:extLst>
          </p:cNvPr>
          <p:cNvPicPr>
            <a:picLocks noChangeAspect="1"/>
          </p:cNvPicPr>
          <p:nvPr/>
        </p:nvPicPr>
        <p:blipFill>
          <a:blip r:embed="rId2"/>
          <a:stretch>
            <a:fillRect/>
          </a:stretch>
        </p:blipFill>
        <p:spPr>
          <a:xfrm>
            <a:off x="1739375" y="3543627"/>
            <a:ext cx="3714367" cy="3183743"/>
          </a:xfrm>
          <a:prstGeom prst="rect">
            <a:avLst/>
          </a:prstGeom>
        </p:spPr>
      </p:pic>
      <p:pic>
        <p:nvPicPr>
          <p:cNvPr id="5" name="Picture 4">
            <a:extLst>
              <a:ext uri="{FF2B5EF4-FFF2-40B4-BE49-F238E27FC236}">
                <a16:creationId xmlns:a16="http://schemas.microsoft.com/office/drawing/2014/main" id="{AB2FC1C5-30AC-B1B6-6350-FDE412582F58}"/>
              </a:ext>
            </a:extLst>
          </p:cNvPr>
          <p:cNvPicPr>
            <a:picLocks noChangeAspect="1"/>
          </p:cNvPicPr>
          <p:nvPr/>
        </p:nvPicPr>
        <p:blipFill>
          <a:blip r:embed="rId3"/>
          <a:stretch>
            <a:fillRect/>
          </a:stretch>
        </p:blipFill>
        <p:spPr>
          <a:xfrm>
            <a:off x="6418298" y="3505199"/>
            <a:ext cx="3248216" cy="3279151"/>
          </a:xfrm>
          <a:prstGeom prst="rect">
            <a:avLst/>
          </a:prstGeom>
        </p:spPr>
      </p:pic>
    </p:spTree>
    <p:extLst>
      <p:ext uri="{BB962C8B-B14F-4D97-AF65-F5344CB8AC3E}">
        <p14:creationId xmlns:p14="http://schemas.microsoft.com/office/powerpoint/2010/main" val="464785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6579-6D50-FBDF-7CA6-1663EDF855C5}"/>
              </a:ext>
            </a:extLst>
          </p:cNvPr>
          <p:cNvSpPr>
            <a:spLocks noGrp="1"/>
          </p:cNvSpPr>
          <p:nvPr>
            <p:ph type="title"/>
          </p:nvPr>
        </p:nvSpPr>
        <p:spPr/>
        <p:txBody>
          <a:bodyPr/>
          <a:lstStyle/>
          <a:p>
            <a:r>
              <a:rPr lang="en-US" dirty="0"/>
              <a:t>Cell ranger/Loupe browser</a:t>
            </a:r>
          </a:p>
        </p:txBody>
      </p:sp>
      <p:sp>
        <p:nvSpPr>
          <p:cNvPr id="3" name="Content Placeholder 2">
            <a:extLst>
              <a:ext uri="{FF2B5EF4-FFF2-40B4-BE49-F238E27FC236}">
                <a16:creationId xmlns:a16="http://schemas.microsoft.com/office/drawing/2014/main" id="{6FE7C1CB-4270-F370-CDAD-7D7101979D0E}"/>
              </a:ext>
            </a:extLst>
          </p:cNvPr>
          <p:cNvSpPr>
            <a:spLocks noGrp="1"/>
          </p:cNvSpPr>
          <p:nvPr>
            <p:ph idx="1"/>
          </p:nvPr>
        </p:nvSpPr>
        <p:spPr/>
        <p:txBody>
          <a:bodyPr/>
          <a:lstStyle/>
          <a:p>
            <a:r>
              <a:rPr lang="en-US" dirty="0"/>
              <a:t>Cell Ranger is a software developed by 10X genomics for processing </a:t>
            </a:r>
            <a:r>
              <a:rPr lang="en-US" dirty="0" err="1"/>
              <a:t>scRNA</a:t>
            </a:r>
            <a:r>
              <a:rPr lang="en-US" dirty="0"/>
              <a:t> data from their platform. </a:t>
            </a:r>
          </a:p>
          <a:p>
            <a:r>
              <a:rPr lang="en-US" dirty="0"/>
              <a:t>Can output barcode matrix and h5 file, compatible with Seurat and </a:t>
            </a:r>
            <a:r>
              <a:rPr lang="en-US" dirty="0" err="1"/>
              <a:t>scanpy</a:t>
            </a:r>
            <a:r>
              <a:rPr lang="en-US" dirty="0"/>
              <a:t>. Also performs clustering and dimensionality reduction.</a:t>
            </a:r>
          </a:p>
          <a:p>
            <a:r>
              <a:rPr lang="en-US" dirty="0"/>
              <a:t>Cell Ranger also produces a loupe file, which can be visualized using their interactive visualization tool. User-friendly way to view </a:t>
            </a:r>
            <a:r>
              <a:rPr lang="en-US" dirty="0" err="1"/>
              <a:t>scRNA</a:t>
            </a:r>
            <a:r>
              <a:rPr lang="en-US" dirty="0"/>
              <a:t> results.</a:t>
            </a:r>
          </a:p>
          <a:p>
            <a:r>
              <a:rPr lang="en-US" dirty="0"/>
              <a:t>Cons to Cell Ranger: Highly customized to 10X Genomics data, but lacks flexibility for other platforms. Limited downstream analysis (need to use Seurat or </a:t>
            </a:r>
            <a:r>
              <a:rPr lang="en-US" dirty="0" err="1"/>
              <a:t>scanpy</a:t>
            </a:r>
            <a:r>
              <a:rPr lang="en-US" dirty="0"/>
              <a:t>). Not easy to modify processing steps (use a different tool)</a:t>
            </a:r>
          </a:p>
        </p:txBody>
      </p:sp>
    </p:spTree>
    <p:extLst>
      <p:ext uri="{BB962C8B-B14F-4D97-AF65-F5344CB8AC3E}">
        <p14:creationId xmlns:p14="http://schemas.microsoft.com/office/powerpoint/2010/main" val="28076007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1032</TotalTime>
  <Words>973</Words>
  <Application>Microsoft Macintosh PowerPoint</Application>
  <PresentationFormat>Widescreen</PresentationFormat>
  <Paragraphs>68</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Calibri</vt:lpstr>
      <vt:lpstr>Century Gothic</vt:lpstr>
      <vt:lpstr>Wingdings 3</vt:lpstr>
      <vt:lpstr>Ion</vt:lpstr>
      <vt:lpstr>Single-Cell RNA-seq best practices</vt:lpstr>
      <vt:lpstr>Introduction to scRNA-seq best practices</vt:lpstr>
      <vt:lpstr>Filtering out low quality cells </vt:lpstr>
      <vt:lpstr>Filtering out low quality cells (continued)</vt:lpstr>
      <vt:lpstr>Normalization</vt:lpstr>
      <vt:lpstr>Normalization (continued)</vt:lpstr>
      <vt:lpstr>Feature Selection / Dimensionality Reduction</vt:lpstr>
      <vt:lpstr>Clustering</vt:lpstr>
      <vt:lpstr>Integration/Batch effects</vt:lpstr>
      <vt:lpstr>Clustering example with Seurat</vt:lpstr>
      <vt:lpstr>Clustering benchark study – Yu et al</vt:lpstr>
      <vt:lpstr>Cell-type annotation</vt:lpstr>
      <vt:lpstr>Differential Expression Analysis </vt:lpstr>
      <vt:lpstr>Pseudotime/Trajectory Analysis</vt:lpstr>
      <vt:lpstr>Cell ranger/Loupe browser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Rouse</dc:creator>
  <cp:lastModifiedBy>James Rouse</cp:lastModifiedBy>
  <cp:revision>6</cp:revision>
  <dcterms:created xsi:type="dcterms:W3CDTF">2025-01-06T20:17:04Z</dcterms:created>
  <dcterms:modified xsi:type="dcterms:W3CDTF">2025-01-29T15:35:44Z</dcterms:modified>
</cp:coreProperties>
</file>